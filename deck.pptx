
<file path=[Content_Types].xml><?xml version="1.0" encoding="utf-8"?>
<Types xmlns="http://schemas.openxmlformats.org/package/2006/content-types">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1056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webp"/><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2E6DA4"/>
          </a:solidFill>
          <a:ln w="12700">
            <a:solidFill>
              <a:srgbClr val="2E6DA4"/>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658368" y="411480"/>
            <a:ext cx="2560320" cy="603504"/>
          </a:xfrm>
          <a:prstGeom prst="rect">
            <a:avLst/>
          </a:prstGeom>
        </p:spPr>
      </p:pic>
      <p:sp>
        <p:nvSpPr>
          <p:cNvPr id="4" name="Shape 1"/>
          <p:cNvSpPr/>
          <p:nvPr/>
        </p:nvSpPr>
        <p:spPr>
          <a:xfrm>
            <a:off x="658368" y="1207008"/>
            <a:ext cx="9601200" cy="36576"/>
          </a:xfrm>
          <a:prstGeom prst="rect">
            <a:avLst/>
          </a:prstGeom>
          <a:solidFill>
            <a:srgbClr val="2E6DA4"/>
          </a:solidFill>
          <a:ln w="12700">
            <a:solidFill>
              <a:srgbClr val="2E6DA4"/>
            </a:solidFill>
            <a:prstDash val="solid"/>
          </a:ln>
        </p:spPr>
        <p:txBody>
          <a:bodyPr/>
          <a:lstStyle/>
          <a:p>
            <a:endParaRPr lang="en-US"/>
          </a:p>
        </p:txBody>
      </p:sp>
      <p:sp>
        <p:nvSpPr>
          <p:cNvPr id="5" name="Text 2"/>
          <p:cNvSpPr/>
          <p:nvPr/>
        </p:nvSpPr>
        <p:spPr>
          <a:xfrm>
            <a:off x="658368" y="1389888"/>
            <a:ext cx="10515600" cy="10058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AI Infrastructure Imperative</a:t>
            </a:r>
            <a:endParaRPr lang="en-US" sz="4400" dirty="0"/>
          </a:p>
        </p:txBody>
      </p:sp>
      <p:sp>
        <p:nvSpPr>
          <p:cNvPr id="6" name="Text 3"/>
          <p:cNvSpPr/>
          <p:nvPr/>
        </p:nvSpPr>
        <p:spPr>
          <a:xfrm>
            <a:off x="658368" y="2423160"/>
            <a:ext cx="10515600" cy="566928"/>
          </a:xfrm>
          <a:prstGeom prst="rect">
            <a:avLst/>
          </a:prstGeom>
          <a:noFill/>
          <a:ln/>
        </p:spPr>
        <p:txBody>
          <a:bodyPr wrap="square" rtlCol="0" anchor="ctr"/>
          <a:lstStyle/>
          <a:p>
            <a:pPr marL="0" indent="0">
              <a:buNone/>
            </a:pPr>
            <a:r>
              <a:rPr lang="en-US" sz="2100" i="1" dirty="0">
                <a:solidFill>
                  <a:srgbClr val="5096CC"/>
                </a:solidFill>
                <a:latin typeface="Calibri" pitchFamily="34" charset="0"/>
                <a:ea typeface="Calibri" pitchFamily="34" charset="-122"/>
                <a:cs typeface="Calibri" pitchFamily="34" charset="-120"/>
              </a:rPr>
              <a:t>A Strategic Advisory for Data Center Capital Deployment</a:t>
            </a:r>
            <a:endParaRPr lang="en-US" sz="2100" dirty="0"/>
          </a:p>
        </p:txBody>
      </p:sp>
      <p:sp>
        <p:nvSpPr>
          <p:cNvPr id="7" name="Text 4"/>
          <p:cNvSpPr/>
          <p:nvPr/>
        </p:nvSpPr>
        <p:spPr>
          <a:xfrm>
            <a:off x="658368" y="3218688"/>
            <a:ext cx="10515600" cy="347472"/>
          </a:xfrm>
          <a:prstGeom prst="rect">
            <a:avLst/>
          </a:prstGeom>
          <a:noFill/>
          <a:ln/>
        </p:spPr>
        <p:txBody>
          <a:bodyPr wrap="square" rtlCol="0" anchor="ctr"/>
          <a:lstStyle/>
          <a:p>
            <a:pPr marL="0" indent="0">
              <a:buNone/>
            </a:pPr>
            <a:r>
              <a:rPr lang="en-US" sz="1300" dirty="0">
                <a:solidFill>
                  <a:srgbClr val="D0DAE4"/>
                </a:solidFill>
                <a:latin typeface="Calibri" pitchFamily="34" charset="0"/>
                <a:ea typeface="Calibri" pitchFamily="34" charset="-122"/>
                <a:cs typeface="Calibri" pitchFamily="34" charset="-120"/>
              </a:rPr>
              <a:t>A data center CEO came to us with one question:</a:t>
            </a:r>
            <a:endParaRPr lang="en-US" sz="1300" dirty="0"/>
          </a:p>
        </p:txBody>
      </p:sp>
      <p:sp>
        <p:nvSpPr>
          <p:cNvPr id="8" name="Text 5"/>
          <p:cNvSpPr/>
          <p:nvPr/>
        </p:nvSpPr>
        <p:spPr>
          <a:xfrm>
            <a:off x="658368" y="3547872"/>
            <a:ext cx="10515600" cy="475488"/>
          </a:xfrm>
          <a:prstGeom prst="rect">
            <a:avLst/>
          </a:prstGeom>
          <a:noFill/>
          <a:ln/>
        </p:spPr>
        <p:txBody>
          <a:bodyPr wrap="square" rtlCol="0" anchor="ctr"/>
          <a:lstStyle/>
          <a:p>
            <a:pPr marL="0" indent="0">
              <a:buNone/>
            </a:pPr>
            <a:r>
              <a:rPr lang="en-US" sz="1800" b="1" i="1" dirty="0">
                <a:solidFill>
                  <a:srgbClr val="C8922A"/>
                </a:solidFill>
                <a:latin typeface="Calibri" pitchFamily="34" charset="0"/>
                <a:ea typeface="Calibri" pitchFamily="34" charset="-122"/>
                <a:cs typeface="Calibri" pitchFamily="34" charset="-120"/>
              </a:rPr>
              <a:t>“Where do I spend my money, and when?”</a:t>
            </a:r>
            <a:endParaRPr lang="en-US" sz="1800" dirty="0"/>
          </a:p>
        </p:txBody>
      </p:sp>
      <p:sp>
        <p:nvSpPr>
          <p:cNvPr id="9" name="Text 6"/>
          <p:cNvSpPr/>
          <p:nvPr/>
        </p:nvSpPr>
        <p:spPr>
          <a:xfrm>
            <a:off x="658368" y="4041648"/>
            <a:ext cx="10515600" cy="347472"/>
          </a:xfrm>
          <a:prstGeom prst="rect">
            <a:avLst/>
          </a:prstGeom>
          <a:noFill/>
          <a:ln/>
        </p:spPr>
        <p:txBody>
          <a:bodyPr wrap="square" rtlCol="0" anchor="ctr"/>
          <a:lstStyle/>
          <a:p>
            <a:pPr marL="0" indent="0">
              <a:buNone/>
            </a:pPr>
            <a:r>
              <a:rPr lang="en-US" sz="1300" dirty="0">
                <a:solidFill>
                  <a:srgbClr val="D0DAE4"/>
                </a:solidFill>
                <a:latin typeface="Calibri" pitchFamily="34" charset="0"/>
                <a:ea typeface="Calibri" pitchFamily="34" charset="-122"/>
                <a:cs typeface="Calibri" pitchFamily="34" charset="-120"/>
              </a:rPr>
              <a:t>This presentation is our answer.</a:t>
            </a:r>
            <a:endParaRPr lang="en-US" sz="1300" dirty="0"/>
          </a:p>
        </p:txBody>
      </p:sp>
      <p:sp>
        <p:nvSpPr>
          <p:cNvPr id="10" name="Shape 7"/>
          <p:cNvSpPr/>
          <p:nvPr/>
        </p:nvSpPr>
        <p:spPr>
          <a:xfrm>
            <a:off x="658368" y="4617720"/>
            <a:ext cx="9601200" cy="36576"/>
          </a:xfrm>
          <a:prstGeom prst="rect">
            <a:avLst/>
          </a:prstGeom>
          <a:solidFill>
            <a:srgbClr val="2E6DA4"/>
          </a:solidFill>
          <a:ln w="12700">
            <a:solidFill>
              <a:srgbClr val="2E6DA4"/>
            </a:solidFill>
            <a:prstDash val="solid"/>
          </a:ln>
        </p:spPr>
        <p:txBody>
          <a:bodyPr/>
          <a:lstStyle/>
          <a:p>
            <a:endParaRPr lang="en-US"/>
          </a:p>
        </p:txBody>
      </p:sp>
      <p:sp>
        <p:nvSpPr>
          <p:cNvPr id="11" name="Text 8"/>
          <p:cNvSpPr/>
          <p:nvPr/>
        </p:nvSpPr>
        <p:spPr>
          <a:xfrm>
            <a:off x="658368" y="4736592"/>
            <a:ext cx="9601200" cy="365760"/>
          </a:xfrm>
          <a:prstGeom prst="rect">
            <a:avLst/>
          </a:prstGeom>
          <a:noFill/>
          <a:ln/>
        </p:spPr>
        <p:txBody>
          <a:bodyPr wrap="square" rtlCol="0" anchor="ctr"/>
          <a:lstStyle/>
          <a:p>
            <a:pPr marL="0" indent="0">
              <a:buNone/>
            </a:pPr>
            <a:r>
              <a:rPr lang="en-US" sz="1300" kern="0" spc="100" dirty="0">
                <a:solidFill>
                  <a:srgbClr val="7B90A6"/>
                </a:solidFill>
                <a:latin typeface="Calibri" pitchFamily="34" charset="0"/>
                <a:ea typeface="Calibri" pitchFamily="34" charset="-122"/>
                <a:cs typeface="Calibri" pitchFamily="34" charset="-120"/>
              </a:rPr>
              <a:t>Vince  ·  Johanes  ·  Yabes  ·  Ireen  ·  Blessing</a:t>
            </a:r>
            <a:endParaRPr lang="en-US" sz="1300" dirty="0"/>
          </a:p>
        </p:txBody>
      </p:sp>
      <p:sp>
        <p:nvSpPr>
          <p:cNvPr id="12" name="Text 9"/>
          <p:cNvSpPr/>
          <p:nvPr/>
        </p:nvSpPr>
        <p:spPr>
          <a:xfrm>
            <a:off x="658368" y="5138928"/>
            <a:ext cx="9601200" cy="320040"/>
          </a:xfrm>
          <a:prstGeom prst="rect">
            <a:avLst/>
          </a:prstGeom>
          <a:noFill/>
          <a:ln/>
        </p:spPr>
        <p:txBody>
          <a:bodyPr wrap="square" rtlCol="0" anchor="ctr"/>
          <a:lstStyle/>
          <a:p>
            <a:pPr marL="0" indent="0">
              <a:buNone/>
            </a:pPr>
            <a:r>
              <a:rPr lang="en-US" sz="1100" dirty="0">
                <a:solidFill>
                  <a:srgbClr val="7B90A6"/>
                </a:solidFill>
                <a:latin typeface="Calibri" pitchFamily="34" charset="0"/>
                <a:ea typeface="Calibri" pitchFamily="34" charset="-122"/>
                <a:cs typeface="Calibri" pitchFamily="34" charset="-120"/>
              </a:rPr>
              <a:t>ClearVision Ventures  ·  Final Research Presentation  ·  April 2026</a:t>
            </a:r>
            <a:endParaRPr lang="en-US" sz="1100" dirty="0"/>
          </a:p>
        </p:txBody>
      </p:sp>
      <p:sp>
        <p:nvSpPr>
          <p:cNvPr id="13" name="Text 10"/>
          <p:cNvSpPr/>
          <p:nvPr/>
        </p:nvSpPr>
        <p:spPr>
          <a:xfrm>
            <a:off x="10972800" y="6446520"/>
            <a:ext cx="1005840" cy="274320"/>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01 / 17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75488"/>
          </a:xfrm>
          <a:prstGeom prst="rect">
            <a:avLst/>
          </a:prstGeom>
          <a:solidFill>
            <a:srgbClr val="1B3A5C"/>
          </a:solidFill>
          <a:ln w="12700">
            <a:solidFill>
              <a:srgbClr val="1B3A5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28600" y="45720"/>
            <a:ext cx="1600200" cy="384048"/>
          </a:xfrm>
          <a:prstGeom prst="rect">
            <a:avLst/>
          </a:prstGeom>
        </p:spPr>
      </p:pic>
      <p:sp>
        <p:nvSpPr>
          <p:cNvPr id="4" name="Text 1"/>
          <p:cNvSpPr/>
          <p:nvPr/>
        </p:nvSpPr>
        <p:spPr>
          <a:xfrm>
            <a:off x="2103120" y="91440"/>
            <a:ext cx="8686800" cy="292608"/>
          </a:xfrm>
          <a:prstGeom prst="rect">
            <a:avLst/>
          </a:prstGeom>
          <a:noFill/>
          <a:ln/>
        </p:spPr>
        <p:txBody>
          <a:bodyPr wrap="square" lIns="0" tIns="0" rIns="0" bIns="0" rtlCol="0" anchor="ctr"/>
          <a:lstStyle/>
          <a:p>
            <a:pPr marL="0" indent="0">
              <a:buNone/>
            </a:pPr>
            <a:r>
              <a:rPr lang="en-US" sz="850" kern="0" spc="250" dirty="0">
                <a:solidFill>
                  <a:srgbClr val="D0DAE4"/>
                </a:solidFill>
                <a:latin typeface="Calibri" pitchFamily="34" charset="0"/>
                <a:ea typeface="Calibri" pitchFamily="34" charset="-122"/>
                <a:cs typeface="Calibri" pitchFamily="34" charset="-120"/>
              </a:rPr>
              <a:t>THE BRIEF</a:t>
            </a:r>
            <a:endParaRPr lang="en-US" sz="850" dirty="0"/>
          </a:p>
        </p:txBody>
      </p:sp>
      <p:sp>
        <p:nvSpPr>
          <p:cNvPr id="5" name="Text 2"/>
          <p:cNvSpPr/>
          <p:nvPr/>
        </p:nvSpPr>
        <p:spPr>
          <a:xfrm>
            <a:off x="11064240" y="91440"/>
            <a:ext cx="914400" cy="292608"/>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02 / 17</a:t>
            </a:r>
            <a:endParaRPr lang="en-US" sz="850" dirty="0"/>
          </a:p>
        </p:txBody>
      </p:sp>
      <p:sp>
        <p:nvSpPr>
          <p:cNvPr id="6" name="Shape 3"/>
          <p:cNvSpPr/>
          <p:nvPr/>
        </p:nvSpPr>
        <p:spPr>
          <a:xfrm>
            <a:off x="0" y="6537960"/>
            <a:ext cx="12188952" cy="320040"/>
          </a:xfrm>
          <a:prstGeom prst="rect">
            <a:avLst/>
          </a:prstGeom>
          <a:solidFill>
            <a:srgbClr val="F2F6FA"/>
          </a:solidFill>
          <a:ln w="12700">
            <a:solidFill>
              <a:srgbClr val="D0DAE4"/>
            </a:solidFill>
            <a:prstDash val="solid"/>
          </a:ln>
        </p:spPr>
        <p:txBody>
          <a:bodyPr/>
          <a:lstStyle/>
          <a:p>
            <a:endParaRPr lang="en-US"/>
          </a:p>
        </p:txBody>
      </p:sp>
      <p:sp>
        <p:nvSpPr>
          <p:cNvPr id="7" name="Text 4"/>
          <p:cNvSpPr/>
          <p:nvPr/>
        </p:nvSpPr>
        <p:spPr>
          <a:xfrm>
            <a:off x="274320" y="6565392"/>
            <a:ext cx="6400800" cy="256032"/>
          </a:xfrm>
          <a:prstGeom prst="rect">
            <a:avLst/>
          </a:prstGeom>
          <a:noFill/>
          <a:ln/>
        </p:spPr>
        <p:txBody>
          <a:bodyPr wrap="square" lIns="0" tIns="0" rIns="0" bIns="0" rtlCol="0" anchor="ctr"/>
          <a:lstStyle/>
          <a:p>
            <a:pPr marL="0" indent="0">
              <a:buNone/>
            </a:pPr>
            <a:r>
              <a:rPr lang="en-US" sz="750" dirty="0">
                <a:solidFill>
                  <a:srgbClr val="7B90A6"/>
                </a:solidFill>
                <a:latin typeface="Calibri" pitchFamily="34" charset="0"/>
                <a:ea typeface="Calibri" pitchFamily="34" charset="-122"/>
                <a:cs typeface="Calibri" pitchFamily="34" charset="-120"/>
              </a:rPr>
              <a:t>ClearVision Ventures  ·  Confidential  ·  April 2026</a:t>
            </a:r>
            <a:endParaRPr lang="en-US" sz="750" dirty="0"/>
          </a:p>
        </p:txBody>
      </p:sp>
      <p:sp>
        <p:nvSpPr>
          <p:cNvPr id="8" name="Text 5"/>
          <p:cNvSpPr/>
          <p:nvPr/>
        </p:nvSpPr>
        <p:spPr>
          <a:xfrm>
            <a:off x="411480" y="594360"/>
            <a:ext cx="10972800" cy="228600"/>
          </a:xfrm>
          <a:prstGeom prst="rect">
            <a:avLst/>
          </a:prstGeom>
          <a:noFill/>
          <a:ln/>
        </p:spPr>
        <p:txBody>
          <a:bodyPr wrap="square" lIns="0" tIns="0" rIns="0" bIns="0" rtlCol="0" anchor="ctr"/>
          <a:lstStyle/>
          <a:p>
            <a:pPr marL="0" indent="0">
              <a:buNone/>
            </a:pPr>
            <a:r>
              <a:rPr lang="en-US" sz="850" b="1" kern="0" spc="300" dirty="0">
                <a:solidFill>
                  <a:srgbClr val="2E6DA4"/>
                </a:solidFill>
                <a:latin typeface="Calibri" pitchFamily="34" charset="0"/>
                <a:ea typeface="Calibri" pitchFamily="34" charset="-122"/>
                <a:cs typeface="Calibri" pitchFamily="34" charset="-120"/>
              </a:rPr>
              <a:t>CONTEXT</a:t>
            </a:r>
            <a:endParaRPr lang="en-US" sz="850" dirty="0"/>
          </a:p>
        </p:txBody>
      </p:sp>
      <p:sp>
        <p:nvSpPr>
          <p:cNvPr id="9" name="Text 6"/>
          <p:cNvSpPr/>
          <p:nvPr/>
        </p:nvSpPr>
        <p:spPr>
          <a:xfrm>
            <a:off x="411480" y="822960"/>
            <a:ext cx="11338560" cy="713232"/>
          </a:xfrm>
          <a:prstGeom prst="rect">
            <a:avLst/>
          </a:prstGeom>
          <a:noFill/>
          <a:ln/>
        </p:spPr>
        <p:txBody>
          <a:bodyPr wrap="square" lIns="0" tIns="0" rIns="0" bIns="0" rtlCol="0" anchor="ctr"/>
          <a:lstStyle/>
          <a:p>
            <a:pPr marL="0" indent="0">
              <a:buNone/>
            </a:pPr>
            <a:r>
              <a:rPr lang="en-US" sz="2800" b="1" dirty="0">
                <a:solidFill>
                  <a:srgbClr val="0F1E30"/>
                </a:solidFill>
                <a:latin typeface="Calibri" pitchFamily="34" charset="0"/>
                <a:ea typeface="Calibri" pitchFamily="34" charset="-122"/>
                <a:cs typeface="Calibri" pitchFamily="34" charset="-120"/>
              </a:rPr>
              <a:t>Five Forces. One Decision.</a:t>
            </a:r>
            <a:endParaRPr lang="en-US" sz="2800" dirty="0"/>
          </a:p>
        </p:txBody>
      </p:sp>
      <p:sp>
        <p:nvSpPr>
          <p:cNvPr id="10" name="Shape 7"/>
          <p:cNvSpPr/>
          <p:nvPr/>
        </p:nvSpPr>
        <p:spPr>
          <a:xfrm>
            <a:off x="411480" y="1536192"/>
            <a:ext cx="1005840" cy="41148"/>
          </a:xfrm>
          <a:prstGeom prst="rect">
            <a:avLst/>
          </a:prstGeom>
          <a:solidFill>
            <a:srgbClr val="2E6DA4"/>
          </a:solidFill>
          <a:ln w="12700">
            <a:solidFill>
              <a:srgbClr val="2E6DA4"/>
            </a:solidFill>
            <a:prstDash val="solid"/>
          </a:ln>
        </p:spPr>
        <p:txBody>
          <a:bodyPr/>
          <a:lstStyle/>
          <a:p>
            <a:endParaRPr lang="en-US"/>
          </a:p>
        </p:txBody>
      </p:sp>
      <p:sp>
        <p:nvSpPr>
          <p:cNvPr id="11" name="Text 8"/>
          <p:cNvSpPr/>
          <p:nvPr/>
        </p:nvSpPr>
        <p:spPr>
          <a:xfrm>
            <a:off x="411480" y="1627632"/>
            <a:ext cx="11338560" cy="384048"/>
          </a:xfrm>
          <a:prstGeom prst="rect">
            <a:avLst/>
          </a:prstGeom>
          <a:noFill/>
          <a:ln/>
        </p:spPr>
        <p:txBody>
          <a:bodyPr wrap="square" lIns="0" tIns="0" rIns="0" bIns="0" rtlCol="0" anchor="ctr"/>
          <a:lstStyle/>
          <a:p>
            <a:pPr marL="0" indent="0">
              <a:buNone/>
            </a:pPr>
            <a:r>
              <a:rPr lang="en-US" sz="1200" i="1" dirty="0">
                <a:solidFill>
                  <a:srgbClr val="2C3E50"/>
                </a:solidFill>
                <a:latin typeface="Calibri" pitchFamily="34" charset="0"/>
                <a:ea typeface="Calibri" pitchFamily="34" charset="-122"/>
                <a:cs typeface="Calibri" pitchFamily="34" charset="-120"/>
              </a:rPr>
              <a:t>The data center company’s future is shaped by five forces converging at the same moment. Getting any one of them wrong compounds into years and billions lost.</a:t>
            </a:r>
            <a:endParaRPr lang="en-US" sz="1200" dirty="0"/>
          </a:p>
        </p:txBody>
      </p:sp>
      <p:sp>
        <p:nvSpPr>
          <p:cNvPr id="12" name="Shape 9"/>
          <p:cNvSpPr/>
          <p:nvPr/>
        </p:nvSpPr>
        <p:spPr>
          <a:xfrm>
            <a:off x="411480" y="2148840"/>
            <a:ext cx="2103120" cy="27889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3" name="Shape 10"/>
          <p:cNvSpPr/>
          <p:nvPr/>
        </p:nvSpPr>
        <p:spPr>
          <a:xfrm>
            <a:off x="411480" y="2148840"/>
            <a:ext cx="2103120" cy="54864"/>
          </a:xfrm>
          <a:prstGeom prst="rect">
            <a:avLst/>
          </a:prstGeom>
          <a:solidFill>
            <a:srgbClr val="1B3A5C"/>
          </a:solidFill>
          <a:ln w="12700">
            <a:solidFill>
              <a:srgbClr val="1B3A5C"/>
            </a:solidFill>
            <a:prstDash val="solid"/>
          </a:ln>
        </p:spPr>
        <p:txBody>
          <a:bodyPr/>
          <a:lstStyle/>
          <a:p>
            <a:endParaRPr lang="en-US"/>
          </a:p>
        </p:txBody>
      </p:sp>
      <p:sp>
        <p:nvSpPr>
          <p:cNvPr id="14" name="Text 11"/>
          <p:cNvSpPr/>
          <p:nvPr/>
        </p:nvSpPr>
        <p:spPr>
          <a:xfrm>
            <a:off x="548640" y="2313432"/>
            <a:ext cx="1828800" cy="457200"/>
          </a:xfrm>
          <a:prstGeom prst="rect">
            <a:avLst/>
          </a:prstGeom>
          <a:noFill/>
          <a:ln/>
        </p:spPr>
        <p:txBody>
          <a:bodyPr wrap="square" lIns="0" tIns="0" rIns="0" bIns="0" rtlCol="0" anchor="ctr"/>
          <a:lstStyle/>
          <a:p>
            <a:pPr marL="0" indent="0" algn="l">
              <a:buNone/>
            </a:pPr>
            <a:r>
              <a:rPr lang="en-US" sz="3000" b="1" dirty="0">
                <a:solidFill>
                  <a:srgbClr val="1B3A5C"/>
                </a:solidFill>
                <a:latin typeface="Calibri" pitchFamily="34" charset="0"/>
                <a:ea typeface="Calibri" pitchFamily="34" charset="-122"/>
                <a:cs typeface="Calibri" pitchFamily="34" charset="-120"/>
              </a:rPr>
              <a:t>01</a:t>
            </a:r>
            <a:endParaRPr lang="en-US" sz="3000" dirty="0"/>
          </a:p>
        </p:txBody>
      </p:sp>
      <p:sp>
        <p:nvSpPr>
          <p:cNvPr id="15" name="Text 12"/>
          <p:cNvSpPr/>
          <p:nvPr/>
        </p:nvSpPr>
        <p:spPr>
          <a:xfrm>
            <a:off x="548640" y="2807208"/>
            <a:ext cx="1828800" cy="658368"/>
          </a:xfrm>
          <a:prstGeom prst="rect">
            <a:avLst/>
          </a:prstGeom>
          <a:noFill/>
          <a:ln/>
        </p:spPr>
        <p:txBody>
          <a:bodyPr wrap="square" lIns="0" tIns="0" rIns="0" bIns="0" rtlCol="0" anchor="ctr"/>
          <a:lstStyle/>
          <a:p>
            <a:pPr marL="0" indent="0">
              <a:buNone/>
            </a:pPr>
            <a:r>
              <a:rPr lang="en-US" sz="1300" b="1" dirty="0">
                <a:solidFill>
                  <a:srgbClr val="0F1E30"/>
                </a:solidFill>
                <a:latin typeface="Calibri" pitchFamily="34" charset="0"/>
                <a:ea typeface="Calibri" pitchFamily="34" charset="-122"/>
                <a:cs typeface="Calibri" pitchFamily="34" charset="-120"/>
              </a:rPr>
              <a:t>Power Infrastructure</a:t>
            </a:r>
            <a:endParaRPr lang="en-US" sz="1300" dirty="0"/>
          </a:p>
        </p:txBody>
      </p:sp>
      <p:sp>
        <p:nvSpPr>
          <p:cNvPr id="16" name="Text 13"/>
          <p:cNvSpPr/>
          <p:nvPr/>
        </p:nvSpPr>
        <p:spPr>
          <a:xfrm>
            <a:off x="548640" y="3502152"/>
            <a:ext cx="1828800" cy="365760"/>
          </a:xfrm>
          <a:prstGeom prst="rect">
            <a:avLst/>
          </a:prstGeom>
          <a:noFill/>
          <a:ln/>
        </p:spPr>
        <p:txBody>
          <a:bodyPr wrap="square" lIns="0" tIns="0" rIns="0" bIns="0" rtlCol="0" anchor="ctr"/>
          <a:lstStyle/>
          <a:p>
            <a:pPr marL="0" indent="0">
              <a:buNone/>
            </a:pPr>
            <a:r>
              <a:rPr lang="en-US" sz="950" i="1" dirty="0">
                <a:solidFill>
                  <a:srgbClr val="7B90A6"/>
                </a:solidFill>
                <a:latin typeface="Calibri" pitchFamily="34" charset="0"/>
                <a:ea typeface="Calibri" pitchFamily="34" charset="-122"/>
                <a:cs typeface="Calibri" pitchFamily="34" charset="-120"/>
              </a:rPr>
              <a:t>GaN and HTS</a:t>
            </a:r>
            <a:endParaRPr lang="en-US" sz="950" dirty="0"/>
          </a:p>
        </p:txBody>
      </p:sp>
      <p:sp>
        <p:nvSpPr>
          <p:cNvPr id="17" name="Shape 14"/>
          <p:cNvSpPr/>
          <p:nvPr/>
        </p:nvSpPr>
        <p:spPr>
          <a:xfrm>
            <a:off x="548640" y="3931920"/>
            <a:ext cx="1828800" cy="27432"/>
          </a:xfrm>
          <a:prstGeom prst="rect">
            <a:avLst/>
          </a:prstGeom>
          <a:solidFill>
            <a:srgbClr val="D0DAE4"/>
          </a:solidFill>
          <a:ln w="12700">
            <a:solidFill>
              <a:srgbClr val="D0DAE4"/>
            </a:solidFill>
            <a:prstDash val="solid"/>
          </a:ln>
        </p:spPr>
        <p:txBody>
          <a:bodyPr/>
          <a:lstStyle/>
          <a:p>
            <a:endParaRPr lang="en-US"/>
          </a:p>
        </p:txBody>
      </p:sp>
      <p:sp>
        <p:nvSpPr>
          <p:cNvPr id="18" name="Text 15"/>
          <p:cNvSpPr/>
          <p:nvPr/>
        </p:nvSpPr>
        <p:spPr>
          <a:xfrm>
            <a:off x="548640" y="4050792"/>
            <a:ext cx="1828800" cy="292608"/>
          </a:xfrm>
          <a:prstGeom prst="rect">
            <a:avLst/>
          </a:prstGeom>
          <a:noFill/>
          <a:ln/>
        </p:spPr>
        <p:txBody>
          <a:bodyPr wrap="square" lIns="0" tIns="0" rIns="0" bIns="0" rtlCol="0" anchor="ctr"/>
          <a:lstStyle/>
          <a:p>
            <a:pPr marL="0" indent="0">
              <a:buNone/>
            </a:pPr>
            <a:r>
              <a:rPr lang="en-US" sz="1150" b="1" dirty="0">
                <a:solidFill>
                  <a:srgbClr val="1B3A5C"/>
                </a:solidFill>
                <a:latin typeface="Calibri" pitchFamily="34" charset="0"/>
                <a:ea typeface="Calibri" pitchFamily="34" charset="-122"/>
                <a:cs typeface="Calibri" pitchFamily="34" charset="-120"/>
              </a:rPr>
              <a:t>Vince</a:t>
            </a:r>
            <a:endParaRPr lang="en-US" sz="1150" dirty="0"/>
          </a:p>
        </p:txBody>
      </p:sp>
      <p:sp>
        <p:nvSpPr>
          <p:cNvPr id="19" name="Text 16"/>
          <p:cNvSpPr/>
          <p:nvPr/>
        </p:nvSpPr>
        <p:spPr>
          <a:xfrm>
            <a:off x="548640" y="4343400"/>
            <a:ext cx="1828800" cy="256032"/>
          </a:xfrm>
          <a:prstGeom prst="rect">
            <a:avLst/>
          </a:prstGeom>
          <a:noFill/>
          <a:ln/>
        </p:spPr>
        <p:txBody>
          <a:bodyPr wrap="square" lIns="0" tIns="0" rIns="0" bIns="0" rtlCol="0" anchor="ctr"/>
          <a:lstStyle/>
          <a:p>
            <a:pPr marL="0" indent="0">
              <a:buNone/>
            </a:pPr>
            <a:r>
              <a:rPr lang="en-US" sz="900" dirty="0">
                <a:solidFill>
                  <a:srgbClr val="7B90A6"/>
                </a:solidFill>
                <a:latin typeface="Calibri" pitchFamily="34" charset="0"/>
                <a:ea typeface="Calibri" pitchFamily="34" charset="-122"/>
                <a:cs typeface="Calibri" pitchFamily="34" charset="-120"/>
              </a:rPr>
              <a:t>Lead Analyst</a:t>
            </a:r>
            <a:endParaRPr lang="en-US" sz="900" dirty="0"/>
          </a:p>
        </p:txBody>
      </p:sp>
      <p:sp>
        <p:nvSpPr>
          <p:cNvPr id="20" name="Shape 17"/>
          <p:cNvSpPr/>
          <p:nvPr/>
        </p:nvSpPr>
        <p:spPr>
          <a:xfrm>
            <a:off x="2670048" y="2148840"/>
            <a:ext cx="2103120" cy="27889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1" name="Shape 18"/>
          <p:cNvSpPr/>
          <p:nvPr/>
        </p:nvSpPr>
        <p:spPr>
          <a:xfrm>
            <a:off x="2670048" y="2148840"/>
            <a:ext cx="2103120" cy="54864"/>
          </a:xfrm>
          <a:prstGeom prst="rect">
            <a:avLst/>
          </a:prstGeom>
          <a:solidFill>
            <a:srgbClr val="2E6DA4"/>
          </a:solidFill>
          <a:ln w="12700">
            <a:solidFill>
              <a:srgbClr val="2E6DA4"/>
            </a:solidFill>
            <a:prstDash val="solid"/>
          </a:ln>
        </p:spPr>
        <p:txBody>
          <a:bodyPr/>
          <a:lstStyle/>
          <a:p>
            <a:endParaRPr lang="en-US"/>
          </a:p>
        </p:txBody>
      </p:sp>
      <p:sp>
        <p:nvSpPr>
          <p:cNvPr id="22" name="Text 19"/>
          <p:cNvSpPr/>
          <p:nvPr/>
        </p:nvSpPr>
        <p:spPr>
          <a:xfrm>
            <a:off x="2807208" y="2313432"/>
            <a:ext cx="1828800" cy="457200"/>
          </a:xfrm>
          <a:prstGeom prst="rect">
            <a:avLst/>
          </a:prstGeom>
          <a:noFill/>
          <a:ln/>
        </p:spPr>
        <p:txBody>
          <a:bodyPr wrap="square" lIns="0" tIns="0" rIns="0" bIns="0" rtlCol="0" anchor="ctr"/>
          <a:lstStyle/>
          <a:p>
            <a:pPr marL="0" indent="0" algn="l">
              <a:buNone/>
            </a:pPr>
            <a:r>
              <a:rPr lang="en-US" sz="3000" b="1" dirty="0">
                <a:solidFill>
                  <a:srgbClr val="2E6DA4"/>
                </a:solidFill>
                <a:latin typeface="Calibri" pitchFamily="34" charset="0"/>
                <a:ea typeface="Calibri" pitchFamily="34" charset="-122"/>
                <a:cs typeface="Calibri" pitchFamily="34" charset="-120"/>
              </a:rPr>
              <a:t>02</a:t>
            </a:r>
            <a:endParaRPr lang="en-US" sz="3000" dirty="0"/>
          </a:p>
        </p:txBody>
      </p:sp>
      <p:sp>
        <p:nvSpPr>
          <p:cNvPr id="23" name="Text 20"/>
          <p:cNvSpPr/>
          <p:nvPr/>
        </p:nvSpPr>
        <p:spPr>
          <a:xfrm>
            <a:off x="2807208" y="2807208"/>
            <a:ext cx="1828800" cy="658368"/>
          </a:xfrm>
          <a:prstGeom prst="rect">
            <a:avLst/>
          </a:prstGeom>
          <a:noFill/>
          <a:ln/>
        </p:spPr>
        <p:txBody>
          <a:bodyPr wrap="square" lIns="0" tIns="0" rIns="0" bIns="0" rtlCol="0" anchor="ctr"/>
          <a:lstStyle/>
          <a:p>
            <a:pPr marL="0" indent="0">
              <a:buNone/>
            </a:pPr>
            <a:r>
              <a:rPr lang="en-US" sz="1300" b="1" dirty="0">
                <a:solidFill>
                  <a:srgbClr val="0F1E30"/>
                </a:solidFill>
                <a:latin typeface="Calibri" pitchFamily="34" charset="0"/>
                <a:ea typeface="Calibri" pitchFamily="34" charset="-122"/>
                <a:cs typeface="Calibri" pitchFamily="34" charset="-120"/>
              </a:rPr>
              <a:t>Software and Orchestration</a:t>
            </a:r>
            <a:endParaRPr lang="en-US" sz="1300" dirty="0"/>
          </a:p>
        </p:txBody>
      </p:sp>
      <p:sp>
        <p:nvSpPr>
          <p:cNvPr id="24" name="Text 21"/>
          <p:cNvSpPr/>
          <p:nvPr/>
        </p:nvSpPr>
        <p:spPr>
          <a:xfrm>
            <a:off x="2807208" y="3502152"/>
            <a:ext cx="1828800" cy="365760"/>
          </a:xfrm>
          <a:prstGeom prst="rect">
            <a:avLst/>
          </a:prstGeom>
          <a:noFill/>
          <a:ln/>
        </p:spPr>
        <p:txBody>
          <a:bodyPr wrap="square" lIns="0" tIns="0" rIns="0" bIns="0" rtlCol="0" anchor="ctr"/>
          <a:lstStyle/>
          <a:p>
            <a:pPr marL="0" indent="0">
              <a:buNone/>
            </a:pPr>
            <a:r>
              <a:rPr lang="en-US" sz="950" i="1" dirty="0">
                <a:solidFill>
                  <a:srgbClr val="7B90A6"/>
                </a:solidFill>
                <a:latin typeface="Calibri" pitchFamily="34" charset="0"/>
                <a:ea typeface="Calibri" pitchFamily="34" charset="-122"/>
                <a:cs typeface="Calibri" pitchFamily="34" charset="-120"/>
              </a:rPr>
              <a:t>DCIM, MLOps, Security</a:t>
            </a:r>
            <a:endParaRPr lang="en-US" sz="950" dirty="0"/>
          </a:p>
        </p:txBody>
      </p:sp>
      <p:sp>
        <p:nvSpPr>
          <p:cNvPr id="25" name="Shape 22"/>
          <p:cNvSpPr/>
          <p:nvPr/>
        </p:nvSpPr>
        <p:spPr>
          <a:xfrm>
            <a:off x="2807208" y="3931920"/>
            <a:ext cx="1828800" cy="27432"/>
          </a:xfrm>
          <a:prstGeom prst="rect">
            <a:avLst/>
          </a:prstGeom>
          <a:solidFill>
            <a:srgbClr val="D0DAE4"/>
          </a:solidFill>
          <a:ln w="12700">
            <a:solidFill>
              <a:srgbClr val="D0DAE4"/>
            </a:solidFill>
            <a:prstDash val="solid"/>
          </a:ln>
        </p:spPr>
        <p:txBody>
          <a:bodyPr/>
          <a:lstStyle/>
          <a:p>
            <a:endParaRPr lang="en-US"/>
          </a:p>
        </p:txBody>
      </p:sp>
      <p:sp>
        <p:nvSpPr>
          <p:cNvPr id="26" name="Text 23"/>
          <p:cNvSpPr/>
          <p:nvPr/>
        </p:nvSpPr>
        <p:spPr>
          <a:xfrm>
            <a:off x="2807208" y="4050792"/>
            <a:ext cx="1828800" cy="292608"/>
          </a:xfrm>
          <a:prstGeom prst="rect">
            <a:avLst/>
          </a:prstGeom>
          <a:noFill/>
          <a:ln/>
        </p:spPr>
        <p:txBody>
          <a:bodyPr wrap="square" lIns="0" tIns="0" rIns="0" bIns="0" rtlCol="0" anchor="ctr"/>
          <a:lstStyle/>
          <a:p>
            <a:pPr marL="0" indent="0">
              <a:buNone/>
            </a:pPr>
            <a:r>
              <a:rPr lang="en-US" sz="1150" b="1" dirty="0">
                <a:solidFill>
                  <a:srgbClr val="2E6DA4"/>
                </a:solidFill>
                <a:latin typeface="Calibri" pitchFamily="34" charset="0"/>
                <a:ea typeface="Calibri" pitchFamily="34" charset="-122"/>
                <a:cs typeface="Calibri" pitchFamily="34" charset="-120"/>
              </a:rPr>
              <a:t>Johanes</a:t>
            </a:r>
            <a:endParaRPr lang="en-US" sz="1150" dirty="0"/>
          </a:p>
        </p:txBody>
      </p:sp>
      <p:sp>
        <p:nvSpPr>
          <p:cNvPr id="27" name="Text 24"/>
          <p:cNvSpPr/>
          <p:nvPr/>
        </p:nvSpPr>
        <p:spPr>
          <a:xfrm>
            <a:off x="2807208" y="4343400"/>
            <a:ext cx="1828800" cy="256032"/>
          </a:xfrm>
          <a:prstGeom prst="rect">
            <a:avLst/>
          </a:prstGeom>
          <a:noFill/>
          <a:ln/>
        </p:spPr>
        <p:txBody>
          <a:bodyPr wrap="square" lIns="0" tIns="0" rIns="0" bIns="0" rtlCol="0" anchor="ctr"/>
          <a:lstStyle/>
          <a:p>
            <a:pPr marL="0" indent="0">
              <a:buNone/>
            </a:pPr>
            <a:r>
              <a:rPr lang="en-US" sz="900" dirty="0">
                <a:solidFill>
                  <a:srgbClr val="7B90A6"/>
                </a:solidFill>
                <a:latin typeface="Calibri" pitchFamily="34" charset="0"/>
                <a:ea typeface="Calibri" pitchFamily="34" charset="-122"/>
                <a:cs typeface="Calibri" pitchFamily="34" charset="-120"/>
              </a:rPr>
              <a:t>Lead Analyst</a:t>
            </a:r>
            <a:endParaRPr lang="en-US" sz="900" dirty="0"/>
          </a:p>
        </p:txBody>
      </p:sp>
      <p:sp>
        <p:nvSpPr>
          <p:cNvPr id="28" name="Shape 25"/>
          <p:cNvSpPr/>
          <p:nvPr/>
        </p:nvSpPr>
        <p:spPr>
          <a:xfrm>
            <a:off x="4928616" y="2148840"/>
            <a:ext cx="2103120" cy="27889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9" name="Shape 26"/>
          <p:cNvSpPr/>
          <p:nvPr/>
        </p:nvSpPr>
        <p:spPr>
          <a:xfrm>
            <a:off x="4928616" y="2148840"/>
            <a:ext cx="2103120" cy="54864"/>
          </a:xfrm>
          <a:prstGeom prst="rect">
            <a:avLst/>
          </a:prstGeom>
          <a:solidFill>
            <a:srgbClr val="5096CC"/>
          </a:solidFill>
          <a:ln w="12700">
            <a:solidFill>
              <a:srgbClr val="5096CC"/>
            </a:solidFill>
            <a:prstDash val="solid"/>
          </a:ln>
        </p:spPr>
        <p:txBody>
          <a:bodyPr/>
          <a:lstStyle/>
          <a:p>
            <a:endParaRPr lang="en-US"/>
          </a:p>
        </p:txBody>
      </p:sp>
      <p:sp>
        <p:nvSpPr>
          <p:cNvPr id="30" name="Text 27"/>
          <p:cNvSpPr/>
          <p:nvPr/>
        </p:nvSpPr>
        <p:spPr>
          <a:xfrm>
            <a:off x="5065776" y="2313432"/>
            <a:ext cx="1828800" cy="457200"/>
          </a:xfrm>
          <a:prstGeom prst="rect">
            <a:avLst/>
          </a:prstGeom>
          <a:noFill/>
          <a:ln/>
        </p:spPr>
        <p:txBody>
          <a:bodyPr wrap="square" lIns="0" tIns="0" rIns="0" bIns="0" rtlCol="0" anchor="ctr"/>
          <a:lstStyle/>
          <a:p>
            <a:pPr marL="0" indent="0" algn="l">
              <a:buNone/>
            </a:pPr>
            <a:r>
              <a:rPr lang="en-US" sz="3000" b="1" dirty="0">
                <a:solidFill>
                  <a:srgbClr val="5096CC"/>
                </a:solidFill>
                <a:latin typeface="Calibri" pitchFamily="34" charset="0"/>
                <a:ea typeface="Calibri" pitchFamily="34" charset="-122"/>
                <a:cs typeface="Calibri" pitchFamily="34" charset="-120"/>
              </a:rPr>
              <a:t>03</a:t>
            </a:r>
            <a:endParaRPr lang="en-US" sz="3000" dirty="0"/>
          </a:p>
        </p:txBody>
      </p:sp>
      <p:sp>
        <p:nvSpPr>
          <p:cNvPr id="31" name="Text 28"/>
          <p:cNvSpPr/>
          <p:nvPr/>
        </p:nvSpPr>
        <p:spPr>
          <a:xfrm>
            <a:off x="5065776" y="2807208"/>
            <a:ext cx="1828800" cy="658368"/>
          </a:xfrm>
          <a:prstGeom prst="rect">
            <a:avLst/>
          </a:prstGeom>
          <a:noFill/>
          <a:ln/>
        </p:spPr>
        <p:txBody>
          <a:bodyPr wrap="square" lIns="0" tIns="0" rIns="0" bIns="0" rtlCol="0" anchor="ctr"/>
          <a:lstStyle/>
          <a:p>
            <a:pPr marL="0" indent="0">
              <a:buNone/>
            </a:pPr>
            <a:r>
              <a:rPr lang="en-US" sz="1300" b="1" dirty="0">
                <a:solidFill>
                  <a:srgbClr val="0F1E30"/>
                </a:solidFill>
                <a:latin typeface="Calibri" pitchFamily="34" charset="0"/>
                <a:ea typeface="Calibri" pitchFamily="34" charset="-122"/>
                <a:cs typeface="Calibri" pitchFamily="34" charset="-120"/>
              </a:rPr>
              <a:t>Silicon and Accelerators</a:t>
            </a:r>
            <a:endParaRPr lang="en-US" sz="1300" dirty="0"/>
          </a:p>
        </p:txBody>
      </p:sp>
      <p:sp>
        <p:nvSpPr>
          <p:cNvPr id="32" name="Text 29"/>
          <p:cNvSpPr/>
          <p:nvPr/>
        </p:nvSpPr>
        <p:spPr>
          <a:xfrm>
            <a:off x="5065776" y="3502152"/>
            <a:ext cx="1828800" cy="365760"/>
          </a:xfrm>
          <a:prstGeom prst="rect">
            <a:avLst/>
          </a:prstGeom>
          <a:noFill/>
          <a:ln/>
        </p:spPr>
        <p:txBody>
          <a:bodyPr wrap="square" lIns="0" tIns="0" rIns="0" bIns="0" rtlCol="0" anchor="ctr"/>
          <a:lstStyle/>
          <a:p>
            <a:pPr marL="0" indent="0">
              <a:buNone/>
            </a:pPr>
            <a:r>
              <a:rPr lang="en-US" sz="950" i="1" dirty="0">
                <a:solidFill>
                  <a:srgbClr val="7B90A6"/>
                </a:solidFill>
                <a:latin typeface="Calibri" pitchFamily="34" charset="0"/>
                <a:ea typeface="Calibri" pitchFamily="34" charset="-122"/>
                <a:cs typeface="Calibri" pitchFamily="34" charset="-120"/>
              </a:rPr>
              <a:t>GPU, ASIC, Photonics</a:t>
            </a:r>
            <a:endParaRPr lang="en-US" sz="950" dirty="0"/>
          </a:p>
        </p:txBody>
      </p:sp>
      <p:sp>
        <p:nvSpPr>
          <p:cNvPr id="33" name="Shape 30"/>
          <p:cNvSpPr/>
          <p:nvPr/>
        </p:nvSpPr>
        <p:spPr>
          <a:xfrm>
            <a:off x="5065776" y="3931920"/>
            <a:ext cx="1828800" cy="27432"/>
          </a:xfrm>
          <a:prstGeom prst="rect">
            <a:avLst/>
          </a:prstGeom>
          <a:solidFill>
            <a:srgbClr val="D0DAE4"/>
          </a:solidFill>
          <a:ln w="12700">
            <a:solidFill>
              <a:srgbClr val="D0DAE4"/>
            </a:solidFill>
            <a:prstDash val="solid"/>
          </a:ln>
        </p:spPr>
        <p:txBody>
          <a:bodyPr/>
          <a:lstStyle/>
          <a:p>
            <a:endParaRPr lang="en-US"/>
          </a:p>
        </p:txBody>
      </p:sp>
      <p:sp>
        <p:nvSpPr>
          <p:cNvPr id="34" name="Text 31"/>
          <p:cNvSpPr/>
          <p:nvPr/>
        </p:nvSpPr>
        <p:spPr>
          <a:xfrm>
            <a:off x="5065776" y="4050792"/>
            <a:ext cx="1828800" cy="292608"/>
          </a:xfrm>
          <a:prstGeom prst="rect">
            <a:avLst/>
          </a:prstGeom>
          <a:noFill/>
          <a:ln/>
        </p:spPr>
        <p:txBody>
          <a:bodyPr wrap="square" lIns="0" tIns="0" rIns="0" bIns="0" rtlCol="0" anchor="ctr"/>
          <a:lstStyle/>
          <a:p>
            <a:pPr marL="0" indent="0">
              <a:buNone/>
            </a:pPr>
            <a:r>
              <a:rPr lang="en-US" sz="1150" b="1" dirty="0">
                <a:solidFill>
                  <a:srgbClr val="5096CC"/>
                </a:solidFill>
                <a:latin typeface="Calibri" pitchFamily="34" charset="0"/>
                <a:ea typeface="Calibri" pitchFamily="34" charset="-122"/>
                <a:cs typeface="Calibri" pitchFamily="34" charset="-120"/>
              </a:rPr>
              <a:t>Yabes</a:t>
            </a:r>
            <a:endParaRPr lang="en-US" sz="1150" dirty="0"/>
          </a:p>
        </p:txBody>
      </p:sp>
      <p:sp>
        <p:nvSpPr>
          <p:cNvPr id="35" name="Text 32"/>
          <p:cNvSpPr/>
          <p:nvPr/>
        </p:nvSpPr>
        <p:spPr>
          <a:xfrm>
            <a:off x="5065776" y="4343400"/>
            <a:ext cx="1828800" cy="256032"/>
          </a:xfrm>
          <a:prstGeom prst="rect">
            <a:avLst/>
          </a:prstGeom>
          <a:noFill/>
          <a:ln/>
        </p:spPr>
        <p:txBody>
          <a:bodyPr wrap="square" lIns="0" tIns="0" rIns="0" bIns="0" rtlCol="0" anchor="ctr"/>
          <a:lstStyle/>
          <a:p>
            <a:pPr marL="0" indent="0">
              <a:buNone/>
            </a:pPr>
            <a:r>
              <a:rPr lang="en-US" sz="900" dirty="0">
                <a:solidFill>
                  <a:srgbClr val="7B90A6"/>
                </a:solidFill>
                <a:latin typeface="Calibri" pitchFamily="34" charset="0"/>
                <a:ea typeface="Calibri" pitchFamily="34" charset="-122"/>
                <a:cs typeface="Calibri" pitchFamily="34" charset="-120"/>
              </a:rPr>
              <a:t>Lead Analyst</a:t>
            </a:r>
            <a:endParaRPr lang="en-US" sz="900" dirty="0"/>
          </a:p>
        </p:txBody>
      </p:sp>
      <p:sp>
        <p:nvSpPr>
          <p:cNvPr id="36" name="Shape 33"/>
          <p:cNvSpPr/>
          <p:nvPr/>
        </p:nvSpPr>
        <p:spPr>
          <a:xfrm>
            <a:off x="7187184" y="2148840"/>
            <a:ext cx="2103120" cy="27889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37" name="Shape 34"/>
          <p:cNvSpPr/>
          <p:nvPr/>
        </p:nvSpPr>
        <p:spPr>
          <a:xfrm>
            <a:off x="7187184" y="2148840"/>
            <a:ext cx="2103120" cy="54864"/>
          </a:xfrm>
          <a:prstGeom prst="rect">
            <a:avLst/>
          </a:prstGeom>
          <a:solidFill>
            <a:srgbClr val="1F7A5C"/>
          </a:solidFill>
          <a:ln w="12700">
            <a:solidFill>
              <a:srgbClr val="1F7A5C"/>
            </a:solidFill>
            <a:prstDash val="solid"/>
          </a:ln>
        </p:spPr>
        <p:txBody>
          <a:bodyPr/>
          <a:lstStyle/>
          <a:p>
            <a:endParaRPr lang="en-US"/>
          </a:p>
        </p:txBody>
      </p:sp>
      <p:sp>
        <p:nvSpPr>
          <p:cNvPr id="38" name="Text 35"/>
          <p:cNvSpPr/>
          <p:nvPr/>
        </p:nvSpPr>
        <p:spPr>
          <a:xfrm>
            <a:off x="7324344" y="2313432"/>
            <a:ext cx="1828800" cy="457200"/>
          </a:xfrm>
          <a:prstGeom prst="rect">
            <a:avLst/>
          </a:prstGeom>
          <a:noFill/>
          <a:ln/>
        </p:spPr>
        <p:txBody>
          <a:bodyPr wrap="square" lIns="0" tIns="0" rIns="0" bIns="0" rtlCol="0" anchor="ctr"/>
          <a:lstStyle/>
          <a:p>
            <a:pPr marL="0" indent="0" algn="l">
              <a:buNone/>
            </a:pPr>
            <a:r>
              <a:rPr lang="en-US" sz="3000" b="1" dirty="0">
                <a:solidFill>
                  <a:srgbClr val="1F7A5C"/>
                </a:solidFill>
                <a:latin typeface="Calibri" pitchFamily="34" charset="0"/>
                <a:ea typeface="Calibri" pitchFamily="34" charset="-122"/>
                <a:cs typeface="Calibri" pitchFamily="34" charset="-120"/>
              </a:rPr>
              <a:t>04</a:t>
            </a:r>
            <a:endParaRPr lang="en-US" sz="3000" dirty="0"/>
          </a:p>
        </p:txBody>
      </p:sp>
      <p:sp>
        <p:nvSpPr>
          <p:cNvPr id="39" name="Text 36"/>
          <p:cNvSpPr/>
          <p:nvPr/>
        </p:nvSpPr>
        <p:spPr>
          <a:xfrm>
            <a:off x="7324344" y="2807208"/>
            <a:ext cx="1828800" cy="658368"/>
          </a:xfrm>
          <a:prstGeom prst="rect">
            <a:avLst/>
          </a:prstGeom>
          <a:noFill/>
          <a:ln/>
        </p:spPr>
        <p:txBody>
          <a:bodyPr wrap="square" lIns="0" tIns="0" rIns="0" bIns="0" rtlCol="0" anchor="ctr"/>
          <a:lstStyle/>
          <a:p>
            <a:pPr marL="0" indent="0">
              <a:buNone/>
            </a:pPr>
            <a:r>
              <a:rPr lang="en-US" sz="1300" b="1" dirty="0">
                <a:solidFill>
                  <a:srgbClr val="0F1E30"/>
                </a:solidFill>
                <a:latin typeface="Calibri" pitchFamily="34" charset="0"/>
                <a:ea typeface="Calibri" pitchFamily="34" charset="-122"/>
                <a:cs typeface="Calibri" pitchFamily="34" charset="-120"/>
              </a:rPr>
              <a:t>Photonic Interconnects</a:t>
            </a:r>
            <a:endParaRPr lang="en-US" sz="1300" dirty="0"/>
          </a:p>
        </p:txBody>
      </p:sp>
      <p:sp>
        <p:nvSpPr>
          <p:cNvPr id="40" name="Text 37"/>
          <p:cNvSpPr/>
          <p:nvPr/>
        </p:nvSpPr>
        <p:spPr>
          <a:xfrm>
            <a:off x="7324344" y="3502152"/>
            <a:ext cx="1828800" cy="365760"/>
          </a:xfrm>
          <a:prstGeom prst="rect">
            <a:avLst/>
          </a:prstGeom>
          <a:noFill/>
          <a:ln/>
        </p:spPr>
        <p:txBody>
          <a:bodyPr wrap="square" lIns="0" tIns="0" rIns="0" bIns="0" rtlCol="0" anchor="ctr"/>
          <a:lstStyle/>
          <a:p>
            <a:pPr marL="0" indent="0">
              <a:buNone/>
            </a:pPr>
            <a:r>
              <a:rPr lang="en-US" sz="950" i="1" dirty="0">
                <a:solidFill>
                  <a:srgbClr val="7B90A6"/>
                </a:solidFill>
                <a:latin typeface="Calibri" pitchFamily="34" charset="0"/>
                <a:ea typeface="Calibri" pitchFamily="34" charset="-122"/>
                <a:cs typeface="Calibri" pitchFamily="34" charset="-120"/>
              </a:rPr>
              <a:t>The copper to light transition</a:t>
            </a:r>
            <a:endParaRPr lang="en-US" sz="950" dirty="0"/>
          </a:p>
        </p:txBody>
      </p:sp>
      <p:sp>
        <p:nvSpPr>
          <p:cNvPr id="41" name="Shape 38"/>
          <p:cNvSpPr/>
          <p:nvPr/>
        </p:nvSpPr>
        <p:spPr>
          <a:xfrm>
            <a:off x="7324344" y="3931920"/>
            <a:ext cx="1828800" cy="27432"/>
          </a:xfrm>
          <a:prstGeom prst="rect">
            <a:avLst/>
          </a:prstGeom>
          <a:solidFill>
            <a:srgbClr val="D0DAE4"/>
          </a:solidFill>
          <a:ln w="12700">
            <a:solidFill>
              <a:srgbClr val="D0DAE4"/>
            </a:solidFill>
            <a:prstDash val="solid"/>
          </a:ln>
        </p:spPr>
        <p:txBody>
          <a:bodyPr/>
          <a:lstStyle/>
          <a:p>
            <a:endParaRPr lang="en-US"/>
          </a:p>
        </p:txBody>
      </p:sp>
      <p:sp>
        <p:nvSpPr>
          <p:cNvPr id="42" name="Text 39"/>
          <p:cNvSpPr/>
          <p:nvPr/>
        </p:nvSpPr>
        <p:spPr>
          <a:xfrm>
            <a:off x="7324344" y="4050792"/>
            <a:ext cx="1828800" cy="292608"/>
          </a:xfrm>
          <a:prstGeom prst="rect">
            <a:avLst/>
          </a:prstGeom>
          <a:noFill/>
          <a:ln/>
        </p:spPr>
        <p:txBody>
          <a:bodyPr wrap="square" lIns="0" tIns="0" rIns="0" bIns="0" rtlCol="0" anchor="ctr"/>
          <a:lstStyle/>
          <a:p>
            <a:pPr marL="0" indent="0">
              <a:buNone/>
            </a:pPr>
            <a:r>
              <a:rPr lang="en-US" sz="1150" b="1" dirty="0">
                <a:solidFill>
                  <a:srgbClr val="1F7A5C"/>
                </a:solidFill>
                <a:latin typeface="Calibri" pitchFamily="34" charset="0"/>
                <a:ea typeface="Calibri" pitchFamily="34" charset="-122"/>
                <a:cs typeface="Calibri" pitchFamily="34" charset="-120"/>
              </a:rPr>
              <a:t>Blessing</a:t>
            </a:r>
            <a:endParaRPr lang="en-US" sz="1150" dirty="0"/>
          </a:p>
        </p:txBody>
      </p:sp>
      <p:sp>
        <p:nvSpPr>
          <p:cNvPr id="43" name="Text 40"/>
          <p:cNvSpPr/>
          <p:nvPr/>
        </p:nvSpPr>
        <p:spPr>
          <a:xfrm>
            <a:off x="7324344" y="4343400"/>
            <a:ext cx="1828800" cy="256032"/>
          </a:xfrm>
          <a:prstGeom prst="rect">
            <a:avLst/>
          </a:prstGeom>
          <a:noFill/>
          <a:ln/>
        </p:spPr>
        <p:txBody>
          <a:bodyPr wrap="square" lIns="0" tIns="0" rIns="0" bIns="0" rtlCol="0" anchor="ctr"/>
          <a:lstStyle/>
          <a:p>
            <a:pPr marL="0" indent="0">
              <a:buNone/>
            </a:pPr>
            <a:r>
              <a:rPr lang="en-US" sz="900" dirty="0">
                <a:solidFill>
                  <a:srgbClr val="7B90A6"/>
                </a:solidFill>
                <a:latin typeface="Calibri" pitchFamily="34" charset="0"/>
                <a:ea typeface="Calibri" pitchFamily="34" charset="-122"/>
                <a:cs typeface="Calibri" pitchFamily="34" charset="-120"/>
              </a:rPr>
              <a:t>Lead Analyst</a:t>
            </a:r>
            <a:endParaRPr lang="en-US" sz="900" dirty="0"/>
          </a:p>
        </p:txBody>
      </p:sp>
      <p:sp>
        <p:nvSpPr>
          <p:cNvPr id="44" name="Shape 41"/>
          <p:cNvSpPr/>
          <p:nvPr/>
        </p:nvSpPr>
        <p:spPr>
          <a:xfrm>
            <a:off x="9445752" y="2148840"/>
            <a:ext cx="2103120" cy="27889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45" name="Shape 42"/>
          <p:cNvSpPr/>
          <p:nvPr/>
        </p:nvSpPr>
        <p:spPr>
          <a:xfrm>
            <a:off x="9445752" y="2148840"/>
            <a:ext cx="2103120" cy="54864"/>
          </a:xfrm>
          <a:prstGeom prst="rect">
            <a:avLst/>
          </a:prstGeom>
          <a:solidFill>
            <a:srgbClr val="C8922A"/>
          </a:solidFill>
          <a:ln w="12700">
            <a:solidFill>
              <a:srgbClr val="C8922A"/>
            </a:solidFill>
            <a:prstDash val="solid"/>
          </a:ln>
        </p:spPr>
        <p:txBody>
          <a:bodyPr/>
          <a:lstStyle/>
          <a:p>
            <a:endParaRPr lang="en-US"/>
          </a:p>
        </p:txBody>
      </p:sp>
      <p:sp>
        <p:nvSpPr>
          <p:cNvPr id="46" name="Text 43"/>
          <p:cNvSpPr/>
          <p:nvPr/>
        </p:nvSpPr>
        <p:spPr>
          <a:xfrm>
            <a:off x="9582912" y="2313432"/>
            <a:ext cx="1828800" cy="457200"/>
          </a:xfrm>
          <a:prstGeom prst="rect">
            <a:avLst/>
          </a:prstGeom>
          <a:noFill/>
          <a:ln/>
        </p:spPr>
        <p:txBody>
          <a:bodyPr wrap="square" lIns="0" tIns="0" rIns="0" bIns="0" rtlCol="0" anchor="ctr"/>
          <a:lstStyle/>
          <a:p>
            <a:pPr marL="0" indent="0" algn="l">
              <a:buNone/>
            </a:pPr>
            <a:r>
              <a:rPr lang="en-US" sz="3000" b="1" dirty="0">
                <a:solidFill>
                  <a:srgbClr val="C8922A"/>
                </a:solidFill>
                <a:latin typeface="Calibri" pitchFamily="34" charset="0"/>
                <a:ea typeface="Calibri" pitchFamily="34" charset="-122"/>
                <a:cs typeface="Calibri" pitchFamily="34" charset="-120"/>
              </a:rPr>
              <a:t>05</a:t>
            </a:r>
            <a:endParaRPr lang="en-US" sz="3000" dirty="0"/>
          </a:p>
        </p:txBody>
      </p:sp>
      <p:sp>
        <p:nvSpPr>
          <p:cNvPr id="47" name="Text 44"/>
          <p:cNvSpPr/>
          <p:nvPr/>
        </p:nvSpPr>
        <p:spPr>
          <a:xfrm>
            <a:off x="9582912" y="2807208"/>
            <a:ext cx="1828800" cy="658368"/>
          </a:xfrm>
          <a:prstGeom prst="rect">
            <a:avLst/>
          </a:prstGeom>
          <a:noFill/>
          <a:ln/>
        </p:spPr>
        <p:txBody>
          <a:bodyPr wrap="square" lIns="0" tIns="0" rIns="0" bIns="0" rtlCol="0" anchor="ctr"/>
          <a:lstStyle/>
          <a:p>
            <a:pPr marL="0" indent="0">
              <a:buNone/>
            </a:pPr>
            <a:r>
              <a:rPr lang="en-US" sz="1300" b="1" dirty="0">
                <a:solidFill>
                  <a:srgbClr val="0F1E30"/>
                </a:solidFill>
                <a:latin typeface="Calibri" pitchFamily="34" charset="0"/>
                <a:ea typeface="Calibri" pitchFamily="34" charset="-122"/>
                <a:cs typeface="Calibri" pitchFamily="34" charset="-120"/>
              </a:rPr>
              <a:t>Cooling and Thermal Systems</a:t>
            </a:r>
            <a:endParaRPr lang="en-US" sz="1300" dirty="0"/>
          </a:p>
        </p:txBody>
      </p:sp>
      <p:sp>
        <p:nvSpPr>
          <p:cNvPr id="48" name="Text 45"/>
          <p:cNvSpPr/>
          <p:nvPr/>
        </p:nvSpPr>
        <p:spPr>
          <a:xfrm>
            <a:off x="9582912" y="3502152"/>
            <a:ext cx="1828800" cy="365760"/>
          </a:xfrm>
          <a:prstGeom prst="rect">
            <a:avLst/>
          </a:prstGeom>
          <a:noFill/>
          <a:ln/>
        </p:spPr>
        <p:txBody>
          <a:bodyPr wrap="square" lIns="0" tIns="0" rIns="0" bIns="0" rtlCol="0" anchor="ctr"/>
          <a:lstStyle/>
          <a:p>
            <a:pPr marL="0" indent="0">
              <a:buNone/>
            </a:pPr>
            <a:r>
              <a:rPr lang="en-US" sz="950" i="1" dirty="0">
                <a:solidFill>
                  <a:srgbClr val="7B90A6"/>
                </a:solidFill>
                <a:latin typeface="Calibri" pitchFamily="34" charset="0"/>
                <a:ea typeface="Calibri" pitchFamily="34" charset="-122"/>
                <a:cs typeface="Calibri" pitchFamily="34" charset="-120"/>
              </a:rPr>
              <a:t>Waste heat and chip cooling</a:t>
            </a:r>
            <a:endParaRPr lang="en-US" sz="950" dirty="0"/>
          </a:p>
        </p:txBody>
      </p:sp>
      <p:sp>
        <p:nvSpPr>
          <p:cNvPr id="49" name="Shape 46"/>
          <p:cNvSpPr/>
          <p:nvPr/>
        </p:nvSpPr>
        <p:spPr>
          <a:xfrm>
            <a:off x="9582912" y="3931920"/>
            <a:ext cx="1828800" cy="27432"/>
          </a:xfrm>
          <a:prstGeom prst="rect">
            <a:avLst/>
          </a:prstGeom>
          <a:solidFill>
            <a:srgbClr val="D0DAE4"/>
          </a:solidFill>
          <a:ln w="12700">
            <a:solidFill>
              <a:srgbClr val="D0DAE4"/>
            </a:solidFill>
            <a:prstDash val="solid"/>
          </a:ln>
        </p:spPr>
        <p:txBody>
          <a:bodyPr/>
          <a:lstStyle/>
          <a:p>
            <a:endParaRPr lang="en-US"/>
          </a:p>
        </p:txBody>
      </p:sp>
      <p:sp>
        <p:nvSpPr>
          <p:cNvPr id="50" name="Text 47"/>
          <p:cNvSpPr/>
          <p:nvPr/>
        </p:nvSpPr>
        <p:spPr>
          <a:xfrm>
            <a:off x="9582912" y="4050792"/>
            <a:ext cx="1828800" cy="292608"/>
          </a:xfrm>
          <a:prstGeom prst="rect">
            <a:avLst/>
          </a:prstGeom>
          <a:noFill/>
          <a:ln/>
        </p:spPr>
        <p:txBody>
          <a:bodyPr wrap="square" lIns="0" tIns="0" rIns="0" bIns="0" rtlCol="0" anchor="ctr"/>
          <a:lstStyle/>
          <a:p>
            <a:pPr marL="0" indent="0">
              <a:buNone/>
            </a:pPr>
            <a:r>
              <a:rPr lang="en-US" sz="1150" b="1" dirty="0">
                <a:solidFill>
                  <a:srgbClr val="C8922A"/>
                </a:solidFill>
                <a:latin typeface="Calibri" pitchFamily="34" charset="0"/>
                <a:ea typeface="Calibri" pitchFamily="34" charset="-122"/>
                <a:cs typeface="Calibri" pitchFamily="34" charset="-120"/>
              </a:rPr>
              <a:t>Ireen</a:t>
            </a:r>
            <a:endParaRPr lang="en-US" sz="1150" dirty="0"/>
          </a:p>
        </p:txBody>
      </p:sp>
      <p:sp>
        <p:nvSpPr>
          <p:cNvPr id="51" name="Text 48"/>
          <p:cNvSpPr/>
          <p:nvPr/>
        </p:nvSpPr>
        <p:spPr>
          <a:xfrm>
            <a:off x="9582912" y="4343400"/>
            <a:ext cx="1828800" cy="256032"/>
          </a:xfrm>
          <a:prstGeom prst="rect">
            <a:avLst/>
          </a:prstGeom>
          <a:noFill/>
          <a:ln/>
        </p:spPr>
        <p:txBody>
          <a:bodyPr wrap="square" lIns="0" tIns="0" rIns="0" bIns="0" rtlCol="0" anchor="ctr"/>
          <a:lstStyle/>
          <a:p>
            <a:pPr marL="0" indent="0">
              <a:buNone/>
            </a:pPr>
            <a:r>
              <a:rPr lang="en-US" sz="900" dirty="0">
                <a:solidFill>
                  <a:srgbClr val="7B90A6"/>
                </a:solidFill>
                <a:latin typeface="Calibri" pitchFamily="34" charset="0"/>
                <a:ea typeface="Calibri" pitchFamily="34" charset="-122"/>
                <a:cs typeface="Calibri" pitchFamily="34" charset="-120"/>
              </a:rPr>
              <a:t>Lead Analyst</a:t>
            </a:r>
            <a:endParaRPr lang="en-US" sz="900" dirty="0"/>
          </a:p>
        </p:txBody>
      </p:sp>
      <p:sp>
        <p:nvSpPr>
          <p:cNvPr id="52" name="Shape 49"/>
          <p:cNvSpPr/>
          <p:nvPr/>
        </p:nvSpPr>
        <p:spPr>
          <a:xfrm>
            <a:off x="411480" y="5138928"/>
            <a:ext cx="11365992" cy="1143000"/>
          </a:xfrm>
          <a:prstGeom prst="rect">
            <a:avLst/>
          </a:prstGeom>
          <a:solidFill>
            <a:srgbClr val="1B3A5C"/>
          </a:solidFill>
          <a:ln w="12700">
            <a:solidFill>
              <a:srgbClr val="1B3A5C"/>
            </a:solidFill>
            <a:prstDash val="solid"/>
          </a:ln>
          <a:effectLst>
            <a:outerShdw blurRad="88900" dist="25400" dir="8100000" algn="bl" rotWithShape="0">
              <a:srgbClr val="000000">
                <a:alpha val="11000"/>
              </a:srgbClr>
            </a:outerShdw>
          </a:effectLst>
        </p:spPr>
        <p:txBody>
          <a:bodyPr/>
          <a:lstStyle/>
          <a:p>
            <a:endParaRPr lang="en-US"/>
          </a:p>
        </p:txBody>
      </p:sp>
      <p:sp>
        <p:nvSpPr>
          <p:cNvPr id="53" name="Text 50"/>
          <p:cNvSpPr/>
          <p:nvPr/>
        </p:nvSpPr>
        <p:spPr>
          <a:xfrm>
            <a:off x="640080" y="5257800"/>
            <a:ext cx="3200400" cy="274320"/>
          </a:xfrm>
          <a:prstGeom prst="rect">
            <a:avLst/>
          </a:prstGeom>
          <a:noFill/>
          <a:ln/>
        </p:spPr>
        <p:txBody>
          <a:bodyPr wrap="square" lIns="0" tIns="0" rIns="0" bIns="0" rtlCol="0" anchor="ctr"/>
          <a:lstStyle/>
          <a:p>
            <a:pPr marL="0" indent="0">
              <a:buNone/>
            </a:pPr>
            <a:r>
              <a:rPr lang="en-US" sz="950" b="1" dirty="0">
                <a:solidFill>
                  <a:srgbClr val="C8922A"/>
                </a:solidFill>
                <a:latin typeface="Calibri" pitchFamily="34" charset="0"/>
                <a:ea typeface="Calibri" pitchFamily="34" charset="-122"/>
                <a:cs typeface="Calibri" pitchFamily="34" charset="-120"/>
              </a:rPr>
              <a:t>The Core Thesis</a:t>
            </a:r>
            <a:endParaRPr lang="en-US" sz="950" dirty="0"/>
          </a:p>
        </p:txBody>
      </p:sp>
      <p:sp>
        <p:nvSpPr>
          <p:cNvPr id="54" name="Text 51"/>
          <p:cNvSpPr/>
          <p:nvPr/>
        </p:nvSpPr>
        <p:spPr>
          <a:xfrm>
            <a:off x="640080" y="5532120"/>
            <a:ext cx="10908792" cy="594360"/>
          </a:xfrm>
          <a:prstGeom prst="rect">
            <a:avLst/>
          </a:prstGeom>
          <a:noFill/>
          <a:ln/>
        </p:spPr>
        <p:txBody>
          <a:bodyPr wrap="square" lIns="0" tIns="0" rIns="0" bIns="0" rtlCol="0" anchor="ctr"/>
          <a:lstStyle/>
          <a:p>
            <a:pPr marL="0" indent="0">
              <a:buNone/>
            </a:pPr>
            <a:r>
              <a:rPr lang="en-US" sz="1100" dirty="0">
                <a:solidFill>
                  <a:srgbClr val="F2F6FA"/>
                </a:solidFill>
                <a:latin typeface="Calibri" pitchFamily="34" charset="0"/>
                <a:ea typeface="Calibri" pitchFamily="34" charset="-122"/>
                <a:cs typeface="Calibri" pitchFamily="34" charset="-120"/>
              </a:rPr>
              <a:t>$650B is committed. 49GW is missing. Half the builds are delayed. The constraint is not demand, it is infrastructure readiness. Every dollar deployed in the wrong layer at the wrong time is a dollar that does not compound. Our five research tracks converge on one answer: what to build, what to buy, and when to act.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75488"/>
          </a:xfrm>
          <a:prstGeom prst="rect">
            <a:avLst/>
          </a:prstGeom>
          <a:solidFill>
            <a:srgbClr val="1B3A5C"/>
          </a:solidFill>
          <a:ln w="12700">
            <a:solidFill>
              <a:srgbClr val="1B3A5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28600" y="45720"/>
            <a:ext cx="1600200" cy="384048"/>
          </a:xfrm>
          <a:prstGeom prst="rect">
            <a:avLst/>
          </a:prstGeom>
        </p:spPr>
      </p:pic>
      <p:sp>
        <p:nvSpPr>
          <p:cNvPr id="4" name="Text 1"/>
          <p:cNvSpPr/>
          <p:nvPr/>
        </p:nvSpPr>
        <p:spPr>
          <a:xfrm>
            <a:off x="2103120" y="91440"/>
            <a:ext cx="8686800" cy="292608"/>
          </a:xfrm>
          <a:prstGeom prst="rect">
            <a:avLst/>
          </a:prstGeom>
          <a:noFill/>
          <a:ln/>
        </p:spPr>
        <p:txBody>
          <a:bodyPr wrap="square" lIns="0" tIns="0" rIns="0" bIns="0" rtlCol="0" anchor="ctr"/>
          <a:lstStyle/>
          <a:p>
            <a:pPr marL="0" indent="0">
              <a:buNone/>
            </a:pPr>
            <a:r>
              <a:rPr lang="en-US" sz="850" kern="0" spc="250" dirty="0">
                <a:solidFill>
                  <a:srgbClr val="D0DAE4"/>
                </a:solidFill>
                <a:latin typeface="Calibri" pitchFamily="34" charset="0"/>
                <a:ea typeface="Calibri" pitchFamily="34" charset="-122"/>
                <a:cs typeface="Calibri" pitchFamily="34" charset="-120"/>
              </a:rPr>
              <a:t>POWER INFRASTRUCTURE  ·  VINCE</a:t>
            </a:r>
            <a:endParaRPr lang="en-US" sz="850" dirty="0"/>
          </a:p>
        </p:txBody>
      </p:sp>
      <p:sp>
        <p:nvSpPr>
          <p:cNvPr id="5" name="Text 2"/>
          <p:cNvSpPr/>
          <p:nvPr/>
        </p:nvSpPr>
        <p:spPr>
          <a:xfrm>
            <a:off x="11064240" y="91440"/>
            <a:ext cx="914400" cy="292608"/>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03 / 17</a:t>
            </a:r>
            <a:endParaRPr lang="en-US" sz="850" dirty="0"/>
          </a:p>
        </p:txBody>
      </p:sp>
      <p:sp>
        <p:nvSpPr>
          <p:cNvPr id="6" name="Shape 3"/>
          <p:cNvSpPr/>
          <p:nvPr/>
        </p:nvSpPr>
        <p:spPr>
          <a:xfrm>
            <a:off x="0" y="6537960"/>
            <a:ext cx="12188952" cy="320040"/>
          </a:xfrm>
          <a:prstGeom prst="rect">
            <a:avLst/>
          </a:prstGeom>
          <a:solidFill>
            <a:srgbClr val="F2F6FA"/>
          </a:solidFill>
          <a:ln w="12700">
            <a:solidFill>
              <a:srgbClr val="D0DAE4"/>
            </a:solidFill>
            <a:prstDash val="solid"/>
          </a:ln>
        </p:spPr>
        <p:txBody>
          <a:bodyPr/>
          <a:lstStyle/>
          <a:p>
            <a:endParaRPr lang="en-US"/>
          </a:p>
        </p:txBody>
      </p:sp>
      <p:sp>
        <p:nvSpPr>
          <p:cNvPr id="7" name="Text 4"/>
          <p:cNvSpPr/>
          <p:nvPr/>
        </p:nvSpPr>
        <p:spPr>
          <a:xfrm>
            <a:off x="274320" y="6565392"/>
            <a:ext cx="6400800" cy="256032"/>
          </a:xfrm>
          <a:prstGeom prst="rect">
            <a:avLst/>
          </a:prstGeom>
          <a:noFill/>
          <a:ln/>
        </p:spPr>
        <p:txBody>
          <a:bodyPr wrap="square" lIns="0" tIns="0" rIns="0" bIns="0" rtlCol="0" anchor="ctr"/>
          <a:lstStyle/>
          <a:p>
            <a:pPr marL="0" indent="0">
              <a:buNone/>
            </a:pPr>
            <a:r>
              <a:rPr lang="en-US" sz="750" dirty="0">
                <a:solidFill>
                  <a:srgbClr val="7B90A6"/>
                </a:solidFill>
                <a:latin typeface="Calibri" pitchFamily="34" charset="0"/>
                <a:ea typeface="Calibri" pitchFamily="34" charset="-122"/>
                <a:cs typeface="Calibri" pitchFamily="34" charset="-120"/>
              </a:rPr>
              <a:t>ClearVision Ventures  ·  Confidential  ·  April 2026</a:t>
            </a:r>
            <a:endParaRPr lang="en-US" sz="750" dirty="0"/>
          </a:p>
        </p:txBody>
      </p:sp>
      <p:sp>
        <p:nvSpPr>
          <p:cNvPr id="8" name="Text 5"/>
          <p:cNvSpPr/>
          <p:nvPr/>
        </p:nvSpPr>
        <p:spPr>
          <a:xfrm>
            <a:off x="411480" y="594360"/>
            <a:ext cx="10972800" cy="228600"/>
          </a:xfrm>
          <a:prstGeom prst="rect">
            <a:avLst/>
          </a:prstGeom>
          <a:noFill/>
          <a:ln/>
        </p:spPr>
        <p:txBody>
          <a:bodyPr wrap="square" lIns="0" tIns="0" rIns="0" bIns="0" rtlCol="0" anchor="ctr"/>
          <a:lstStyle/>
          <a:p>
            <a:pPr marL="0" indent="0">
              <a:buNone/>
            </a:pPr>
            <a:r>
              <a:rPr lang="en-US" sz="850" b="1" kern="0" spc="300" dirty="0">
                <a:solidFill>
                  <a:srgbClr val="2E6DA4"/>
                </a:solidFill>
                <a:latin typeface="Calibri" pitchFamily="34" charset="0"/>
                <a:ea typeface="Calibri" pitchFamily="34" charset="-122"/>
                <a:cs typeface="Calibri" pitchFamily="34" charset="-120"/>
              </a:rPr>
              <a:t>THE FORCING FUNCTION</a:t>
            </a:r>
            <a:endParaRPr lang="en-US" sz="850" dirty="0"/>
          </a:p>
        </p:txBody>
      </p:sp>
      <p:sp>
        <p:nvSpPr>
          <p:cNvPr id="9" name="Text 6"/>
          <p:cNvSpPr/>
          <p:nvPr/>
        </p:nvSpPr>
        <p:spPr>
          <a:xfrm>
            <a:off x="411480" y="822960"/>
            <a:ext cx="11338560" cy="713232"/>
          </a:xfrm>
          <a:prstGeom prst="rect">
            <a:avLst/>
          </a:prstGeom>
          <a:noFill/>
          <a:ln/>
        </p:spPr>
        <p:txBody>
          <a:bodyPr wrap="square" lIns="0" tIns="0" rIns="0" bIns="0" rtlCol="0" anchor="ctr"/>
          <a:lstStyle/>
          <a:p>
            <a:pPr marL="0" indent="0">
              <a:buNone/>
            </a:pPr>
            <a:r>
              <a:rPr lang="en-US" sz="2800" b="1" dirty="0">
                <a:solidFill>
                  <a:srgbClr val="0F1E30"/>
                </a:solidFill>
                <a:latin typeface="Calibri" pitchFamily="34" charset="0"/>
                <a:ea typeface="Calibri" pitchFamily="34" charset="-122"/>
                <a:cs typeface="Calibri" pitchFamily="34" charset="-120"/>
              </a:rPr>
              <a:t>The Power Crisis Is Physics, Not Policy</a:t>
            </a:r>
            <a:endParaRPr lang="en-US" sz="2800" dirty="0"/>
          </a:p>
        </p:txBody>
      </p:sp>
      <p:sp>
        <p:nvSpPr>
          <p:cNvPr id="10" name="Shape 7"/>
          <p:cNvSpPr/>
          <p:nvPr/>
        </p:nvSpPr>
        <p:spPr>
          <a:xfrm>
            <a:off x="411480" y="1536192"/>
            <a:ext cx="1005840" cy="41148"/>
          </a:xfrm>
          <a:prstGeom prst="rect">
            <a:avLst/>
          </a:prstGeom>
          <a:solidFill>
            <a:srgbClr val="2E6DA4"/>
          </a:solidFill>
          <a:ln w="12700">
            <a:solidFill>
              <a:srgbClr val="2E6DA4"/>
            </a:solidFill>
            <a:prstDash val="solid"/>
          </a:ln>
        </p:spPr>
        <p:txBody>
          <a:bodyPr/>
          <a:lstStyle/>
          <a:p>
            <a:endParaRPr lang="en-US"/>
          </a:p>
        </p:txBody>
      </p:sp>
      <p:sp>
        <p:nvSpPr>
          <p:cNvPr id="11" name="Text 8"/>
          <p:cNvSpPr/>
          <p:nvPr/>
        </p:nvSpPr>
        <p:spPr>
          <a:xfrm>
            <a:off x="411480" y="1627632"/>
            <a:ext cx="7863840" cy="438912"/>
          </a:xfrm>
          <a:prstGeom prst="rect">
            <a:avLst/>
          </a:prstGeom>
          <a:noFill/>
          <a:ln/>
        </p:spPr>
        <p:txBody>
          <a:bodyPr wrap="square" lIns="0" tIns="0" rIns="0" bIns="0" rtlCol="0" anchor="ctr"/>
          <a:lstStyle/>
          <a:p>
            <a:pPr marL="0" indent="0">
              <a:buNone/>
            </a:pPr>
            <a:r>
              <a:rPr lang="en-US" sz="1150" i="1" dirty="0">
                <a:solidFill>
                  <a:srgbClr val="2C3E50"/>
                </a:solidFill>
                <a:latin typeface="Calibri" pitchFamily="34" charset="0"/>
                <a:ea typeface="Calibri" pitchFamily="34" charset="-122"/>
                <a:cs typeface="Calibri" pitchFamily="34" charset="-120"/>
              </a:rPr>
              <a:t>AI rack density has crossed a threshold where copper infrastructure is not just inefficient. It is mathematically incompatible with what is being asked of it.</a:t>
            </a:r>
            <a:endParaRPr lang="en-US" sz="1150" dirty="0"/>
          </a:p>
        </p:txBody>
      </p:sp>
      <p:sp>
        <p:nvSpPr>
          <p:cNvPr id="12" name="Shape 9"/>
          <p:cNvSpPr/>
          <p:nvPr/>
        </p:nvSpPr>
        <p:spPr>
          <a:xfrm>
            <a:off x="411480" y="2176272"/>
            <a:ext cx="1828800" cy="1207008"/>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3" name="Shape 10"/>
          <p:cNvSpPr/>
          <p:nvPr/>
        </p:nvSpPr>
        <p:spPr>
          <a:xfrm>
            <a:off x="411480" y="2176272"/>
            <a:ext cx="1828800" cy="50292"/>
          </a:xfrm>
          <a:prstGeom prst="rect">
            <a:avLst/>
          </a:prstGeom>
          <a:solidFill>
            <a:srgbClr val="1B3A5C"/>
          </a:solidFill>
          <a:ln w="12700">
            <a:solidFill>
              <a:srgbClr val="1B3A5C"/>
            </a:solidFill>
            <a:prstDash val="solid"/>
          </a:ln>
        </p:spPr>
        <p:txBody>
          <a:bodyPr/>
          <a:lstStyle/>
          <a:p>
            <a:endParaRPr lang="en-US"/>
          </a:p>
        </p:txBody>
      </p:sp>
      <p:sp>
        <p:nvSpPr>
          <p:cNvPr id="14" name="Text 11"/>
          <p:cNvSpPr/>
          <p:nvPr/>
        </p:nvSpPr>
        <p:spPr>
          <a:xfrm>
            <a:off x="502920" y="2313432"/>
            <a:ext cx="1645920" cy="512064"/>
          </a:xfrm>
          <a:prstGeom prst="rect">
            <a:avLst/>
          </a:prstGeom>
          <a:noFill/>
          <a:ln/>
        </p:spPr>
        <p:txBody>
          <a:bodyPr wrap="square" lIns="0" tIns="0" rIns="0" bIns="0" rtlCol="0" anchor="ctr"/>
          <a:lstStyle/>
          <a:p>
            <a:pPr marL="0" indent="0" algn="ctr">
              <a:buNone/>
            </a:pPr>
            <a:r>
              <a:rPr lang="en-US" sz="2500" b="1" dirty="0">
                <a:solidFill>
                  <a:srgbClr val="1B3A5C"/>
                </a:solidFill>
                <a:latin typeface="Calibri" pitchFamily="34" charset="0"/>
                <a:ea typeface="Calibri" pitchFamily="34" charset="-122"/>
                <a:cs typeface="Calibri" pitchFamily="34" charset="-120"/>
              </a:rPr>
              <a:t>300kW+</a:t>
            </a:r>
            <a:endParaRPr lang="en-US" sz="2500" dirty="0"/>
          </a:p>
        </p:txBody>
      </p:sp>
      <p:sp>
        <p:nvSpPr>
          <p:cNvPr id="15" name="Text 12"/>
          <p:cNvSpPr/>
          <p:nvPr/>
        </p:nvSpPr>
        <p:spPr>
          <a:xfrm>
            <a:off x="502920" y="2834640"/>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AI rack power today</a:t>
            </a:r>
            <a:endParaRPr lang="en-US" sz="900" dirty="0"/>
          </a:p>
          <a:p>
            <a:pPr marL="0" indent="0" algn="ctr">
              <a:buNone/>
            </a:pPr>
            <a:r>
              <a:rPr lang="en-US" sz="900" dirty="0">
                <a:solidFill>
                  <a:srgbClr val="7B90A6"/>
                </a:solidFill>
                <a:latin typeface="Calibri" pitchFamily="34" charset="0"/>
                <a:ea typeface="Calibri" pitchFamily="34" charset="-122"/>
                <a:cs typeface="Calibri" pitchFamily="34" charset="-120"/>
              </a:rPr>
              <a:t>vs ~10kW legacy</a:t>
            </a:r>
            <a:endParaRPr lang="en-US" sz="900" dirty="0"/>
          </a:p>
        </p:txBody>
      </p:sp>
      <p:sp>
        <p:nvSpPr>
          <p:cNvPr id="16" name="Shape 13"/>
          <p:cNvSpPr/>
          <p:nvPr/>
        </p:nvSpPr>
        <p:spPr>
          <a:xfrm>
            <a:off x="2423160" y="2176272"/>
            <a:ext cx="1828800" cy="1207008"/>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7" name="Shape 14"/>
          <p:cNvSpPr/>
          <p:nvPr/>
        </p:nvSpPr>
        <p:spPr>
          <a:xfrm>
            <a:off x="2423160" y="2176272"/>
            <a:ext cx="1828800" cy="50292"/>
          </a:xfrm>
          <a:prstGeom prst="rect">
            <a:avLst/>
          </a:prstGeom>
          <a:solidFill>
            <a:srgbClr val="2E6DA4"/>
          </a:solidFill>
          <a:ln w="12700">
            <a:solidFill>
              <a:srgbClr val="2E6DA4"/>
            </a:solidFill>
            <a:prstDash val="solid"/>
          </a:ln>
        </p:spPr>
        <p:txBody>
          <a:bodyPr/>
          <a:lstStyle/>
          <a:p>
            <a:endParaRPr lang="en-US"/>
          </a:p>
        </p:txBody>
      </p:sp>
      <p:sp>
        <p:nvSpPr>
          <p:cNvPr id="18" name="Text 15"/>
          <p:cNvSpPr/>
          <p:nvPr/>
        </p:nvSpPr>
        <p:spPr>
          <a:xfrm>
            <a:off x="2514600" y="2313432"/>
            <a:ext cx="1645920" cy="512064"/>
          </a:xfrm>
          <a:prstGeom prst="rect">
            <a:avLst/>
          </a:prstGeom>
          <a:noFill/>
          <a:ln/>
        </p:spPr>
        <p:txBody>
          <a:bodyPr wrap="square" lIns="0" tIns="0" rIns="0" bIns="0" rtlCol="0" anchor="ctr"/>
          <a:lstStyle/>
          <a:p>
            <a:pPr marL="0" indent="0" algn="ctr">
              <a:buNone/>
            </a:pPr>
            <a:r>
              <a:rPr lang="en-US" sz="2500" b="1" dirty="0">
                <a:solidFill>
                  <a:srgbClr val="2E6DA4"/>
                </a:solidFill>
                <a:latin typeface="Calibri" pitchFamily="34" charset="0"/>
                <a:ea typeface="Calibri" pitchFamily="34" charset="-122"/>
                <a:cs typeface="Calibri" pitchFamily="34" charset="-120"/>
              </a:rPr>
              <a:t>1 MW</a:t>
            </a:r>
            <a:endParaRPr lang="en-US" sz="2500" dirty="0"/>
          </a:p>
        </p:txBody>
      </p:sp>
      <p:sp>
        <p:nvSpPr>
          <p:cNvPr id="19" name="Text 16"/>
          <p:cNvSpPr/>
          <p:nvPr/>
        </p:nvSpPr>
        <p:spPr>
          <a:xfrm>
            <a:off x="2514600" y="2834640"/>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Per rack by 2029</a:t>
            </a:r>
            <a:endParaRPr lang="en-US" sz="900" dirty="0"/>
          </a:p>
          <a:p>
            <a:pPr marL="0" indent="0" algn="ctr">
              <a:buNone/>
            </a:pPr>
            <a:r>
              <a:rPr lang="en-US" sz="900" dirty="0">
                <a:solidFill>
                  <a:srgbClr val="7B90A6"/>
                </a:solidFill>
                <a:latin typeface="Calibri" pitchFamily="34" charset="0"/>
                <a:ea typeface="Calibri" pitchFamily="34" charset="-122"/>
                <a:cs typeface="Calibri" pitchFamily="34" charset="-120"/>
              </a:rPr>
              <a:t>Vertiv projection</a:t>
            </a:r>
            <a:endParaRPr lang="en-US" sz="900" dirty="0"/>
          </a:p>
        </p:txBody>
      </p:sp>
      <p:sp>
        <p:nvSpPr>
          <p:cNvPr id="20" name="Shape 17"/>
          <p:cNvSpPr/>
          <p:nvPr/>
        </p:nvSpPr>
        <p:spPr>
          <a:xfrm>
            <a:off x="4434840" y="2176272"/>
            <a:ext cx="1828800" cy="1207008"/>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1" name="Shape 18"/>
          <p:cNvSpPr/>
          <p:nvPr/>
        </p:nvSpPr>
        <p:spPr>
          <a:xfrm>
            <a:off x="4434840" y="2176272"/>
            <a:ext cx="1828800" cy="50292"/>
          </a:xfrm>
          <a:prstGeom prst="rect">
            <a:avLst/>
          </a:prstGeom>
          <a:solidFill>
            <a:srgbClr val="C8922A"/>
          </a:solidFill>
          <a:ln w="12700">
            <a:solidFill>
              <a:srgbClr val="C8922A"/>
            </a:solidFill>
            <a:prstDash val="solid"/>
          </a:ln>
        </p:spPr>
        <p:txBody>
          <a:bodyPr/>
          <a:lstStyle/>
          <a:p>
            <a:endParaRPr lang="en-US"/>
          </a:p>
        </p:txBody>
      </p:sp>
      <p:sp>
        <p:nvSpPr>
          <p:cNvPr id="22" name="Text 19"/>
          <p:cNvSpPr/>
          <p:nvPr/>
        </p:nvSpPr>
        <p:spPr>
          <a:xfrm>
            <a:off x="4526280" y="2313432"/>
            <a:ext cx="1645920" cy="512064"/>
          </a:xfrm>
          <a:prstGeom prst="rect">
            <a:avLst/>
          </a:prstGeom>
          <a:noFill/>
          <a:ln/>
        </p:spPr>
        <p:txBody>
          <a:bodyPr wrap="square" lIns="0" tIns="0" rIns="0" bIns="0" rtlCol="0" anchor="ctr"/>
          <a:lstStyle/>
          <a:p>
            <a:pPr marL="0" indent="0" algn="ctr">
              <a:buNone/>
            </a:pPr>
            <a:r>
              <a:rPr lang="en-US" sz="2500" b="1" dirty="0">
                <a:solidFill>
                  <a:srgbClr val="C8922A"/>
                </a:solidFill>
                <a:latin typeface="Calibri" pitchFamily="34" charset="0"/>
                <a:ea typeface="Calibri" pitchFamily="34" charset="-122"/>
                <a:cs typeface="Calibri" pitchFamily="34" charset="-120"/>
              </a:rPr>
              <a:t>49 GW</a:t>
            </a:r>
            <a:endParaRPr lang="en-US" sz="2500" dirty="0"/>
          </a:p>
        </p:txBody>
      </p:sp>
      <p:sp>
        <p:nvSpPr>
          <p:cNvPr id="23" name="Text 20"/>
          <p:cNvSpPr/>
          <p:nvPr/>
        </p:nvSpPr>
        <p:spPr>
          <a:xfrm>
            <a:off x="4526280" y="2834640"/>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US power shortfall</a:t>
            </a:r>
            <a:endParaRPr lang="en-US" sz="900" dirty="0"/>
          </a:p>
          <a:p>
            <a:pPr marL="0" indent="0" algn="ctr">
              <a:buNone/>
            </a:pPr>
            <a:r>
              <a:rPr lang="en-US" sz="900" dirty="0">
                <a:solidFill>
                  <a:srgbClr val="7B90A6"/>
                </a:solidFill>
                <a:latin typeface="Calibri" pitchFamily="34" charset="0"/>
                <a:ea typeface="Calibri" pitchFamily="34" charset="-122"/>
                <a:cs typeface="Calibri" pitchFamily="34" charset="-120"/>
              </a:rPr>
              <a:t>by 2028 Morgan Stanley</a:t>
            </a:r>
            <a:endParaRPr lang="en-US" sz="900" dirty="0"/>
          </a:p>
        </p:txBody>
      </p:sp>
      <p:sp>
        <p:nvSpPr>
          <p:cNvPr id="24" name="Shape 21"/>
          <p:cNvSpPr/>
          <p:nvPr/>
        </p:nvSpPr>
        <p:spPr>
          <a:xfrm>
            <a:off x="6446520" y="2176272"/>
            <a:ext cx="1828800" cy="1207008"/>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5" name="Shape 22"/>
          <p:cNvSpPr/>
          <p:nvPr/>
        </p:nvSpPr>
        <p:spPr>
          <a:xfrm>
            <a:off x="6446520" y="2176272"/>
            <a:ext cx="1828800" cy="50292"/>
          </a:xfrm>
          <a:prstGeom prst="rect">
            <a:avLst/>
          </a:prstGeom>
          <a:solidFill>
            <a:srgbClr val="A0522D"/>
          </a:solidFill>
          <a:ln w="12700">
            <a:solidFill>
              <a:srgbClr val="A0522D"/>
            </a:solidFill>
            <a:prstDash val="solid"/>
          </a:ln>
        </p:spPr>
        <p:txBody>
          <a:bodyPr/>
          <a:lstStyle/>
          <a:p>
            <a:endParaRPr lang="en-US"/>
          </a:p>
        </p:txBody>
      </p:sp>
      <p:sp>
        <p:nvSpPr>
          <p:cNvPr id="26" name="Text 23"/>
          <p:cNvSpPr/>
          <p:nvPr/>
        </p:nvSpPr>
        <p:spPr>
          <a:xfrm>
            <a:off x="6537960" y="2313432"/>
            <a:ext cx="1645920" cy="512064"/>
          </a:xfrm>
          <a:prstGeom prst="rect">
            <a:avLst/>
          </a:prstGeom>
          <a:noFill/>
          <a:ln/>
        </p:spPr>
        <p:txBody>
          <a:bodyPr wrap="square" lIns="0" tIns="0" rIns="0" bIns="0" rtlCol="0" anchor="ctr"/>
          <a:lstStyle/>
          <a:p>
            <a:pPr marL="0" indent="0" algn="ctr">
              <a:buNone/>
            </a:pPr>
            <a:r>
              <a:rPr lang="en-US" sz="2500" b="1" dirty="0">
                <a:solidFill>
                  <a:srgbClr val="A0522D"/>
                </a:solidFill>
                <a:latin typeface="Calibri" pitchFamily="34" charset="0"/>
                <a:ea typeface="Calibri" pitchFamily="34" charset="-122"/>
                <a:cs typeface="Calibri" pitchFamily="34" charset="-120"/>
              </a:rPr>
              <a:t>50%</a:t>
            </a:r>
            <a:endParaRPr lang="en-US" sz="2500" dirty="0"/>
          </a:p>
        </p:txBody>
      </p:sp>
      <p:sp>
        <p:nvSpPr>
          <p:cNvPr id="27" name="Text 24"/>
          <p:cNvSpPr/>
          <p:nvPr/>
        </p:nvSpPr>
        <p:spPr>
          <a:xfrm>
            <a:off x="6537960" y="2834640"/>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Planned 2026 builds</a:t>
            </a:r>
            <a:endParaRPr lang="en-US" sz="900" dirty="0"/>
          </a:p>
          <a:p>
            <a:pPr marL="0" indent="0" algn="ctr">
              <a:buNone/>
            </a:pPr>
            <a:r>
              <a:rPr lang="en-US" sz="900" dirty="0">
                <a:solidFill>
                  <a:srgbClr val="7B90A6"/>
                </a:solidFill>
                <a:latin typeface="Calibri" pitchFamily="34" charset="0"/>
                <a:ea typeface="Calibri" pitchFamily="34" charset="-122"/>
                <a:cs typeface="Calibri" pitchFamily="34" charset="-120"/>
              </a:rPr>
              <a:t>already delayed or canceled</a:t>
            </a:r>
            <a:endParaRPr lang="en-US" sz="900" dirty="0"/>
          </a:p>
        </p:txBody>
      </p:sp>
      <p:sp>
        <p:nvSpPr>
          <p:cNvPr id="28" name="Shape 25"/>
          <p:cNvSpPr/>
          <p:nvPr/>
        </p:nvSpPr>
        <p:spPr>
          <a:xfrm>
            <a:off x="411480" y="3566160"/>
            <a:ext cx="50292" cy="566928"/>
          </a:xfrm>
          <a:prstGeom prst="rect">
            <a:avLst/>
          </a:prstGeom>
          <a:solidFill>
            <a:srgbClr val="2E6DA4"/>
          </a:solidFill>
          <a:ln w="12700">
            <a:solidFill>
              <a:srgbClr val="2E6DA4"/>
            </a:solidFill>
            <a:prstDash val="solid"/>
          </a:ln>
        </p:spPr>
        <p:txBody>
          <a:bodyPr/>
          <a:lstStyle/>
          <a:p>
            <a:endParaRPr lang="en-US"/>
          </a:p>
        </p:txBody>
      </p:sp>
      <p:sp>
        <p:nvSpPr>
          <p:cNvPr id="29" name="Text 26"/>
          <p:cNvSpPr/>
          <p:nvPr/>
        </p:nvSpPr>
        <p:spPr>
          <a:xfrm>
            <a:off x="576072" y="3584448"/>
            <a:ext cx="7680960" cy="256032"/>
          </a:xfrm>
          <a:prstGeom prst="rect">
            <a:avLst/>
          </a:prstGeom>
          <a:noFill/>
          <a:ln/>
        </p:spPr>
        <p:txBody>
          <a:bodyPr wrap="square" lIns="0" tIns="0" rIns="0" bIns="0" rtlCol="0" anchor="ctr"/>
          <a:lstStyle/>
          <a:p>
            <a:pPr marL="0" indent="0">
              <a:buNone/>
            </a:pPr>
            <a:r>
              <a:rPr lang="en-US" sz="1200" b="1" dirty="0">
                <a:solidFill>
                  <a:srgbClr val="0F1E30"/>
                </a:solidFill>
                <a:latin typeface="Calibri" pitchFamily="34" charset="0"/>
                <a:ea typeface="Calibri" pitchFamily="34" charset="-122"/>
                <a:cs typeface="Calibri" pitchFamily="34" charset="-120"/>
              </a:rPr>
              <a:t>The I²R Wall</a:t>
            </a:r>
            <a:endParaRPr lang="en-US" sz="1200" dirty="0"/>
          </a:p>
        </p:txBody>
      </p:sp>
      <p:sp>
        <p:nvSpPr>
          <p:cNvPr id="30" name="Text 27"/>
          <p:cNvSpPr/>
          <p:nvPr/>
        </p:nvSpPr>
        <p:spPr>
          <a:xfrm>
            <a:off x="576072" y="3840480"/>
            <a:ext cx="7680960" cy="50292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Power loss scales with current squared. At 12V and 300kW, resistive heat alone forces multiple redundant cable runs and expands cooling loads before a single computation starts. Raising voltage to 800V cuts I²R losses by over 99%.</a:t>
            </a:r>
            <a:endParaRPr lang="en-US" sz="950" dirty="0"/>
          </a:p>
        </p:txBody>
      </p:sp>
      <p:sp>
        <p:nvSpPr>
          <p:cNvPr id="31" name="Shape 28"/>
          <p:cNvSpPr/>
          <p:nvPr/>
        </p:nvSpPr>
        <p:spPr>
          <a:xfrm>
            <a:off x="411480" y="4407408"/>
            <a:ext cx="50292" cy="566928"/>
          </a:xfrm>
          <a:prstGeom prst="rect">
            <a:avLst/>
          </a:prstGeom>
          <a:solidFill>
            <a:srgbClr val="2E6DA4"/>
          </a:solidFill>
          <a:ln w="12700">
            <a:solidFill>
              <a:srgbClr val="2E6DA4"/>
            </a:solidFill>
            <a:prstDash val="solid"/>
          </a:ln>
        </p:spPr>
        <p:txBody>
          <a:bodyPr/>
          <a:lstStyle/>
          <a:p>
            <a:endParaRPr lang="en-US"/>
          </a:p>
        </p:txBody>
      </p:sp>
      <p:sp>
        <p:nvSpPr>
          <p:cNvPr id="32" name="Text 29"/>
          <p:cNvSpPr/>
          <p:nvPr/>
        </p:nvSpPr>
        <p:spPr>
          <a:xfrm>
            <a:off x="576072" y="4425696"/>
            <a:ext cx="7680960" cy="256032"/>
          </a:xfrm>
          <a:prstGeom prst="rect">
            <a:avLst/>
          </a:prstGeom>
          <a:noFill/>
          <a:ln/>
        </p:spPr>
        <p:txBody>
          <a:bodyPr wrap="square" lIns="0" tIns="0" rIns="0" bIns="0" rtlCol="0" anchor="ctr"/>
          <a:lstStyle/>
          <a:p>
            <a:pPr marL="0" indent="0">
              <a:buNone/>
            </a:pPr>
            <a:r>
              <a:rPr lang="en-US" sz="1200" b="1" dirty="0">
                <a:solidFill>
                  <a:srgbClr val="0F1E30"/>
                </a:solidFill>
                <a:latin typeface="Calibri" pitchFamily="34" charset="0"/>
                <a:ea typeface="Calibri" pitchFamily="34" charset="-122"/>
                <a:cs typeface="Calibri" pitchFamily="34" charset="-120"/>
              </a:rPr>
              <a:t>Copper Is Running Out</a:t>
            </a:r>
            <a:endParaRPr lang="en-US" sz="1200" dirty="0"/>
          </a:p>
        </p:txBody>
      </p:sp>
      <p:sp>
        <p:nvSpPr>
          <p:cNvPr id="33" name="Text 30"/>
          <p:cNvSpPr/>
          <p:nvPr/>
        </p:nvSpPr>
        <p:spPr>
          <a:xfrm>
            <a:off x="576072" y="4681728"/>
            <a:ext cx="7680960" cy="50292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Wood Mackenzie: 304,000 tonne deficit in 2025, widening in 2026. UBS: 400,000 tonne shortfall. S&amp;P Global calls the projected 10 million metric ton gap by 2040 a systemic risk. A single 100MW data center absorbs 27 to 33 tonnes of copper before upstream grid work begins.</a:t>
            </a:r>
            <a:endParaRPr lang="en-US" sz="950" dirty="0"/>
          </a:p>
        </p:txBody>
      </p:sp>
      <p:sp>
        <p:nvSpPr>
          <p:cNvPr id="34" name="Shape 31"/>
          <p:cNvSpPr/>
          <p:nvPr/>
        </p:nvSpPr>
        <p:spPr>
          <a:xfrm>
            <a:off x="411480" y="5248656"/>
            <a:ext cx="50292" cy="566928"/>
          </a:xfrm>
          <a:prstGeom prst="rect">
            <a:avLst/>
          </a:prstGeom>
          <a:solidFill>
            <a:srgbClr val="2E6DA4"/>
          </a:solidFill>
          <a:ln w="12700">
            <a:solidFill>
              <a:srgbClr val="2E6DA4"/>
            </a:solidFill>
            <a:prstDash val="solid"/>
          </a:ln>
        </p:spPr>
        <p:txBody>
          <a:bodyPr/>
          <a:lstStyle/>
          <a:p>
            <a:endParaRPr lang="en-US"/>
          </a:p>
        </p:txBody>
      </p:sp>
      <p:sp>
        <p:nvSpPr>
          <p:cNvPr id="35" name="Text 32"/>
          <p:cNvSpPr/>
          <p:nvPr/>
        </p:nvSpPr>
        <p:spPr>
          <a:xfrm>
            <a:off x="576072" y="5266944"/>
            <a:ext cx="7680960" cy="256032"/>
          </a:xfrm>
          <a:prstGeom prst="rect">
            <a:avLst/>
          </a:prstGeom>
          <a:noFill/>
          <a:ln/>
        </p:spPr>
        <p:txBody>
          <a:bodyPr wrap="square" lIns="0" tIns="0" rIns="0" bIns="0" rtlCol="0" anchor="ctr"/>
          <a:lstStyle/>
          <a:p>
            <a:pPr marL="0" indent="0">
              <a:buNone/>
            </a:pPr>
            <a:r>
              <a:rPr lang="en-US" sz="1200" b="1" dirty="0">
                <a:solidFill>
                  <a:srgbClr val="0F1E30"/>
                </a:solidFill>
                <a:latin typeface="Calibri" pitchFamily="34" charset="0"/>
                <a:ea typeface="Calibri" pitchFamily="34" charset="-122"/>
                <a:cs typeface="Calibri" pitchFamily="34" charset="-120"/>
              </a:rPr>
              <a:t>The Grid Cannot Keep Up</a:t>
            </a:r>
            <a:endParaRPr lang="en-US" sz="1200" dirty="0"/>
          </a:p>
        </p:txBody>
      </p:sp>
      <p:sp>
        <p:nvSpPr>
          <p:cNvPr id="36" name="Text 33"/>
          <p:cNvSpPr/>
          <p:nvPr/>
        </p:nvSpPr>
        <p:spPr>
          <a:xfrm>
            <a:off x="576072" y="5522976"/>
            <a:ext cx="7680960" cy="50292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New transmission lines take 10 or more years to permit. New substations take 3 to 7 years. Morgan Stanley projects a 126GW increase in global data center power demand through 2028. Gartner: 40% of AI data centers constrained by power availability by 2027.</a:t>
            </a:r>
            <a:endParaRPr lang="en-US" sz="950" dirty="0"/>
          </a:p>
        </p:txBody>
      </p:sp>
      <p:sp>
        <p:nvSpPr>
          <p:cNvPr id="37" name="Shape 34"/>
          <p:cNvSpPr/>
          <p:nvPr/>
        </p:nvSpPr>
        <p:spPr>
          <a:xfrm>
            <a:off x="8778240" y="1627632"/>
            <a:ext cx="2999232" cy="4681728"/>
          </a:xfrm>
          <a:prstGeom prst="rect">
            <a:avLst/>
          </a:prstGeom>
          <a:solidFill>
            <a:srgbClr val="1B3A5C"/>
          </a:solidFill>
          <a:ln w="12700">
            <a:solidFill>
              <a:srgbClr val="1B3A5C"/>
            </a:solidFill>
            <a:prstDash val="solid"/>
          </a:ln>
          <a:effectLst>
            <a:outerShdw blurRad="88900" dist="25400" dir="8100000" algn="bl" rotWithShape="0">
              <a:srgbClr val="000000">
                <a:alpha val="11000"/>
              </a:srgbClr>
            </a:outerShdw>
          </a:effectLst>
        </p:spPr>
        <p:txBody>
          <a:bodyPr/>
          <a:lstStyle/>
          <a:p>
            <a:endParaRPr lang="en-US"/>
          </a:p>
        </p:txBody>
      </p:sp>
      <p:sp>
        <p:nvSpPr>
          <p:cNvPr id="38" name="Text 35"/>
          <p:cNvSpPr/>
          <p:nvPr/>
        </p:nvSpPr>
        <p:spPr>
          <a:xfrm>
            <a:off x="8942832" y="1737360"/>
            <a:ext cx="2651760" cy="475488"/>
          </a:xfrm>
          <a:prstGeom prst="rect">
            <a:avLst/>
          </a:prstGeom>
          <a:noFill/>
          <a:ln/>
        </p:spPr>
        <p:txBody>
          <a:bodyPr wrap="square" lIns="0" tIns="0" rIns="0" bIns="0" rtlCol="0" anchor="ctr"/>
          <a:lstStyle/>
          <a:p>
            <a:pPr marL="0" indent="0" algn="ctr">
              <a:buNone/>
            </a:pPr>
            <a:r>
              <a:rPr lang="en-US" sz="850" i="1" dirty="0">
                <a:solidFill>
                  <a:srgbClr val="7B90A6"/>
                </a:solidFill>
                <a:latin typeface="Calibri" pitchFamily="34" charset="0"/>
                <a:ea typeface="Calibri" pitchFamily="34" charset="-122"/>
                <a:cs typeface="Calibri" pitchFamily="34" charset="-120"/>
              </a:rPr>
              <a:t>Bloomberg and Sightline Climate</a:t>
            </a:r>
            <a:endParaRPr lang="en-US" sz="850" dirty="0"/>
          </a:p>
          <a:p>
            <a:pPr marL="0" indent="0" algn="ctr">
              <a:buNone/>
            </a:pPr>
            <a:r>
              <a:rPr lang="en-US" sz="850" i="1" dirty="0">
                <a:solidFill>
                  <a:srgbClr val="7B90A6"/>
                </a:solidFill>
                <a:latin typeface="Calibri" pitchFamily="34" charset="0"/>
                <a:ea typeface="Calibri" pitchFamily="34" charset="-122"/>
                <a:cs typeface="Calibri" pitchFamily="34" charset="-120"/>
              </a:rPr>
              <a:t>April 2026</a:t>
            </a:r>
            <a:endParaRPr lang="en-US" sz="850" dirty="0"/>
          </a:p>
        </p:txBody>
      </p:sp>
      <p:sp>
        <p:nvSpPr>
          <p:cNvPr id="39" name="Text 36"/>
          <p:cNvSpPr/>
          <p:nvPr/>
        </p:nvSpPr>
        <p:spPr>
          <a:xfrm>
            <a:off x="8942832" y="2240280"/>
            <a:ext cx="2651760" cy="777240"/>
          </a:xfrm>
          <a:prstGeom prst="rect">
            <a:avLst/>
          </a:prstGeom>
          <a:noFill/>
          <a:ln/>
        </p:spPr>
        <p:txBody>
          <a:bodyPr wrap="square" lIns="0" tIns="0" rIns="0" bIns="0" rtlCol="0" anchor="ctr"/>
          <a:lstStyle/>
          <a:p>
            <a:pPr marL="0" indent="0" algn="ctr">
              <a:buNone/>
            </a:pPr>
            <a:r>
              <a:rPr lang="en-US" sz="5200" b="1" dirty="0">
                <a:solidFill>
                  <a:srgbClr val="C8922A"/>
                </a:solidFill>
                <a:latin typeface="Calibri" pitchFamily="34" charset="0"/>
                <a:ea typeface="Calibri" pitchFamily="34" charset="-122"/>
                <a:cs typeface="Calibri" pitchFamily="34" charset="-120"/>
              </a:rPr>
              <a:t>~50%</a:t>
            </a:r>
            <a:endParaRPr lang="en-US" sz="5200" dirty="0"/>
          </a:p>
        </p:txBody>
      </p:sp>
      <p:sp>
        <p:nvSpPr>
          <p:cNvPr id="40" name="Text 37"/>
          <p:cNvSpPr/>
          <p:nvPr/>
        </p:nvSpPr>
        <p:spPr>
          <a:xfrm>
            <a:off x="8942832" y="3035808"/>
            <a:ext cx="2651760" cy="56692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of planned 2026 US data center builds are already delayed or canceled</a:t>
            </a:r>
            <a:endParaRPr lang="en-US" sz="1100" dirty="0"/>
          </a:p>
        </p:txBody>
      </p:sp>
      <p:sp>
        <p:nvSpPr>
          <p:cNvPr id="41" name="Shape 38"/>
          <p:cNvSpPr/>
          <p:nvPr/>
        </p:nvSpPr>
        <p:spPr>
          <a:xfrm>
            <a:off x="9125712" y="3675888"/>
            <a:ext cx="2286000" cy="36576"/>
          </a:xfrm>
          <a:prstGeom prst="rect">
            <a:avLst/>
          </a:prstGeom>
          <a:solidFill>
            <a:srgbClr val="2E6DA4"/>
          </a:solidFill>
          <a:ln w="12700">
            <a:solidFill>
              <a:srgbClr val="2E6DA4"/>
            </a:solidFill>
            <a:prstDash val="solid"/>
          </a:ln>
        </p:spPr>
        <p:txBody>
          <a:bodyPr/>
          <a:lstStyle/>
          <a:p>
            <a:endParaRPr lang="en-US"/>
          </a:p>
        </p:txBody>
      </p:sp>
      <p:sp>
        <p:nvSpPr>
          <p:cNvPr id="42" name="Text 39"/>
          <p:cNvSpPr/>
          <p:nvPr/>
        </p:nvSpPr>
        <p:spPr>
          <a:xfrm>
            <a:off x="8942832" y="3767328"/>
            <a:ext cx="2651760" cy="640080"/>
          </a:xfrm>
          <a:prstGeom prst="rect">
            <a:avLst/>
          </a:prstGeom>
          <a:noFill/>
          <a:ln/>
        </p:spPr>
        <p:txBody>
          <a:bodyPr wrap="square" lIns="0" tIns="0" rIns="0" bIns="0" rtlCol="0" anchor="ctr"/>
          <a:lstStyle/>
          <a:p>
            <a:pPr marL="0" indent="0" algn="ctr">
              <a:buNone/>
            </a:pPr>
            <a:r>
              <a:rPr lang="en-US" sz="1000" dirty="0">
                <a:solidFill>
                  <a:srgbClr val="D0DAE4"/>
                </a:solidFill>
                <a:latin typeface="Calibri" pitchFamily="34" charset="0"/>
                <a:ea typeface="Calibri" pitchFamily="34" charset="-122"/>
                <a:cs typeface="Calibri" pitchFamily="34" charset="-120"/>
              </a:rPr>
              <a:t>Root cause: electrical components with 3 to 7 year lead times. Money is not the constraint. Power infrastructure is.</a:t>
            </a:r>
            <a:endParaRPr lang="en-US" sz="1000" dirty="0"/>
          </a:p>
        </p:txBody>
      </p:sp>
      <p:sp>
        <p:nvSpPr>
          <p:cNvPr id="43" name="Text 40"/>
          <p:cNvSpPr/>
          <p:nvPr/>
        </p:nvSpPr>
        <p:spPr>
          <a:xfrm>
            <a:off x="8942832" y="4572000"/>
            <a:ext cx="2651760" cy="566928"/>
          </a:xfrm>
          <a:prstGeom prst="rect">
            <a:avLst/>
          </a:prstGeom>
          <a:noFill/>
          <a:ln/>
        </p:spPr>
        <p:txBody>
          <a:bodyPr wrap="square" lIns="0" tIns="0" rIns="0" bIns="0" rtlCol="0" anchor="ctr"/>
          <a:lstStyle/>
          <a:p>
            <a:pPr marL="0" indent="0" algn="ctr">
              <a:buNone/>
            </a:pPr>
            <a:r>
              <a:rPr lang="en-US" sz="1200" b="1" dirty="0">
                <a:solidFill>
                  <a:srgbClr val="C8922A"/>
                </a:solidFill>
                <a:latin typeface="Calibri" pitchFamily="34" charset="0"/>
                <a:ea typeface="Calibri" pitchFamily="34" charset="-122"/>
                <a:cs typeface="Calibri" pitchFamily="34" charset="-120"/>
              </a:rPr>
              <a:t>GaN and HTS</a:t>
            </a:r>
            <a:endParaRPr lang="en-US" sz="1200" dirty="0"/>
          </a:p>
          <a:p>
            <a:pPr marL="0" indent="0" algn="ctr">
              <a:buNone/>
            </a:pPr>
            <a:r>
              <a:rPr lang="en-US" sz="1200" b="1" dirty="0">
                <a:solidFill>
                  <a:srgbClr val="C8922A"/>
                </a:solidFill>
                <a:latin typeface="Calibri" pitchFamily="34" charset="0"/>
                <a:ea typeface="Calibri" pitchFamily="34" charset="-122"/>
                <a:cs typeface="Calibri" pitchFamily="34" charset="-120"/>
              </a:rPr>
              <a:t>unblock all of it.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75488"/>
          </a:xfrm>
          <a:prstGeom prst="rect">
            <a:avLst/>
          </a:prstGeom>
          <a:solidFill>
            <a:srgbClr val="1B3A5C"/>
          </a:solidFill>
          <a:ln w="12700">
            <a:solidFill>
              <a:srgbClr val="1B3A5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28600" y="45720"/>
            <a:ext cx="1600200" cy="384048"/>
          </a:xfrm>
          <a:prstGeom prst="rect">
            <a:avLst/>
          </a:prstGeom>
        </p:spPr>
      </p:pic>
      <p:sp>
        <p:nvSpPr>
          <p:cNvPr id="4" name="Text 1"/>
          <p:cNvSpPr/>
          <p:nvPr/>
        </p:nvSpPr>
        <p:spPr>
          <a:xfrm>
            <a:off x="2103120" y="91440"/>
            <a:ext cx="8686800" cy="292608"/>
          </a:xfrm>
          <a:prstGeom prst="rect">
            <a:avLst/>
          </a:prstGeom>
          <a:noFill/>
          <a:ln/>
        </p:spPr>
        <p:txBody>
          <a:bodyPr wrap="square" lIns="0" tIns="0" rIns="0" bIns="0" rtlCol="0" anchor="ctr"/>
          <a:lstStyle/>
          <a:p>
            <a:pPr marL="0" indent="0">
              <a:buNone/>
            </a:pPr>
            <a:r>
              <a:rPr lang="en-US" sz="850" kern="0" spc="250" dirty="0">
                <a:solidFill>
                  <a:srgbClr val="D0DAE4"/>
                </a:solidFill>
                <a:latin typeface="Calibri" pitchFamily="34" charset="0"/>
                <a:ea typeface="Calibri" pitchFamily="34" charset="-122"/>
                <a:cs typeface="Calibri" pitchFamily="34" charset="-120"/>
              </a:rPr>
              <a:t>POWER INFRASTRUCTURE  ·  VINCE</a:t>
            </a:r>
            <a:endParaRPr lang="en-US" sz="850" dirty="0"/>
          </a:p>
        </p:txBody>
      </p:sp>
      <p:sp>
        <p:nvSpPr>
          <p:cNvPr id="5" name="Text 2"/>
          <p:cNvSpPr/>
          <p:nvPr/>
        </p:nvSpPr>
        <p:spPr>
          <a:xfrm>
            <a:off x="11064240" y="91440"/>
            <a:ext cx="914400" cy="292608"/>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04 / 17</a:t>
            </a:r>
            <a:endParaRPr lang="en-US" sz="850" dirty="0"/>
          </a:p>
        </p:txBody>
      </p:sp>
      <p:sp>
        <p:nvSpPr>
          <p:cNvPr id="6" name="Shape 3"/>
          <p:cNvSpPr/>
          <p:nvPr/>
        </p:nvSpPr>
        <p:spPr>
          <a:xfrm>
            <a:off x="0" y="6537960"/>
            <a:ext cx="12188952" cy="320040"/>
          </a:xfrm>
          <a:prstGeom prst="rect">
            <a:avLst/>
          </a:prstGeom>
          <a:solidFill>
            <a:srgbClr val="F2F6FA"/>
          </a:solidFill>
          <a:ln w="12700">
            <a:solidFill>
              <a:srgbClr val="D0DAE4"/>
            </a:solidFill>
            <a:prstDash val="solid"/>
          </a:ln>
        </p:spPr>
        <p:txBody>
          <a:bodyPr/>
          <a:lstStyle/>
          <a:p>
            <a:endParaRPr lang="en-US"/>
          </a:p>
        </p:txBody>
      </p:sp>
      <p:sp>
        <p:nvSpPr>
          <p:cNvPr id="7" name="Text 4"/>
          <p:cNvSpPr/>
          <p:nvPr/>
        </p:nvSpPr>
        <p:spPr>
          <a:xfrm>
            <a:off x="274320" y="6565392"/>
            <a:ext cx="6400800" cy="256032"/>
          </a:xfrm>
          <a:prstGeom prst="rect">
            <a:avLst/>
          </a:prstGeom>
          <a:noFill/>
          <a:ln/>
        </p:spPr>
        <p:txBody>
          <a:bodyPr wrap="square" lIns="0" tIns="0" rIns="0" bIns="0" rtlCol="0" anchor="ctr"/>
          <a:lstStyle/>
          <a:p>
            <a:pPr marL="0" indent="0">
              <a:buNone/>
            </a:pPr>
            <a:r>
              <a:rPr lang="en-US" sz="750" dirty="0">
                <a:solidFill>
                  <a:srgbClr val="7B90A6"/>
                </a:solidFill>
                <a:latin typeface="Calibri" pitchFamily="34" charset="0"/>
                <a:ea typeface="Calibri" pitchFamily="34" charset="-122"/>
                <a:cs typeface="Calibri" pitchFamily="34" charset="-120"/>
              </a:rPr>
              <a:t>ClearVision Ventures  ·  Confidential  ·  April 2026</a:t>
            </a:r>
            <a:endParaRPr lang="en-US" sz="750" dirty="0"/>
          </a:p>
        </p:txBody>
      </p:sp>
      <p:sp>
        <p:nvSpPr>
          <p:cNvPr id="8" name="Text 5"/>
          <p:cNvSpPr/>
          <p:nvPr/>
        </p:nvSpPr>
        <p:spPr>
          <a:xfrm>
            <a:off x="411480" y="594360"/>
            <a:ext cx="10972800" cy="228600"/>
          </a:xfrm>
          <a:prstGeom prst="rect">
            <a:avLst/>
          </a:prstGeom>
          <a:noFill/>
          <a:ln/>
        </p:spPr>
        <p:txBody>
          <a:bodyPr wrap="square" lIns="0" tIns="0" rIns="0" bIns="0" rtlCol="0" anchor="ctr"/>
          <a:lstStyle/>
          <a:p>
            <a:pPr marL="0" indent="0">
              <a:buNone/>
            </a:pPr>
            <a:r>
              <a:rPr lang="en-US" sz="850" b="1" kern="0" spc="300" dirty="0">
                <a:solidFill>
                  <a:srgbClr val="2E6DA4"/>
                </a:solidFill>
                <a:latin typeface="Calibri" pitchFamily="34" charset="0"/>
                <a:ea typeface="Calibri" pitchFamily="34" charset="-122"/>
                <a:cs typeface="Calibri" pitchFamily="34" charset="-120"/>
              </a:rPr>
              <a:t>THE SOLUTION STACK</a:t>
            </a:r>
            <a:endParaRPr lang="en-US" sz="850" dirty="0"/>
          </a:p>
        </p:txBody>
      </p:sp>
      <p:sp>
        <p:nvSpPr>
          <p:cNvPr id="9" name="Text 6"/>
          <p:cNvSpPr/>
          <p:nvPr/>
        </p:nvSpPr>
        <p:spPr>
          <a:xfrm>
            <a:off x="411480" y="822960"/>
            <a:ext cx="11338560" cy="713232"/>
          </a:xfrm>
          <a:prstGeom prst="rect">
            <a:avLst/>
          </a:prstGeom>
          <a:noFill/>
          <a:ln/>
        </p:spPr>
        <p:txBody>
          <a:bodyPr wrap="square" lIns="0" tIns="0" rIns="0" bIns="0" rtlCol="0" anchor="ctr"/>
          <a:lstStyle/>
          <a:p>
            <a:pPr marL="0" indent="0">
              <a:buNone/>
            </a:pPr>
            <a:r>
              <a:rPr lang="en-US" sz="2800" b="1" dirty="0">
                <a:solidFill>
                  <a:srgbClr val="0F1E30"/>
                </a:solidFill>
                <a:latin typeface="Calibri" pitchFamily="34" charset="0"/>
                <a:ea typeface="Calibri" pitchFamily="34" charset="-122"/>
                <a:cs typeface="Calibri" pitchFamily="34" charset="-120"/>
              </a:rPr>
              <a:t>GaN Today. HTS by 2027. One Complementary Power Stack.</a:t>
            </a:r>
            <a:endParaRPr lang="en-US" sz="2800" dirty="0"/>
          </a:p>
        </p:txBody>
      </p:sp>
      <p:sp>
        <p:nvSpPr>
          <p:cNvPr id="10" name="Shape 7"/>
          <p:cNvSpPr/>
          <p:nvPr/>
        </p:nvSpPr>
        <p:spPr>
          <a:xfrm>
            <a:off x="411480" y="1536192"/>
            <a:ext cx="1005840" cy="41148"/>
          </a:xfrm>
          <a:prstGeom prst="rect">
            <a:avLst/>
          </a:prstGeom>
          <a:solidFill>
            <a:srgbClr val="2E6DA4"/>
          </a:solidFill>
          <a:ln w="12700">
            <a:solidFill>
              <a:srgbClr val="2E6DA4"/>
            </a:solidFill>
            <a:prstDash val="solid"/>
          </a:ln>
        </p:spPr>
        <p:txBody>
          <a:bodyPr/>
          <a:lstStyle/>
          <a:p>
            <a:endParaRPr lang="en-US"/>
          </a:p>
        </p:txBody>
      </p:sp>
      <p:sp>
        <p:nvSpPr>
          <p:cNvPr id="11" name="Shape 8"/>
          <p:cNvSpPr/>
          <p:nvPr/>
        </p:nvSpPr>
        <p:spPr>
          <a:xfrm>
            <a:off x="411480" y="1664208"/>
            <a:ext cx="1901952" cy="1261872"/>
          </a:xfrm>
          <a:prstGeom prst="rect">
            <a:avLst/>
          </a:prstGeom>
          <a:solidFill>
            <a:srgbClr val="8C9BAA"/>
          </a:solidFill>
          <a:ln w="12700">
            <a:solidFill>
              <a:srgbClr val="8C9BAA"/>
            </a:solidFill>
            <a:prstDash val="solid"/>
          </a:ln>
          <a:effectLst>
            <a:outerShdw blurRad="50800" dist="12700" dir="8100000" algn="bl" rotWithShape="0">
              <a:srgbClr val="000000">
                <a:alpha val="9000"/>
              </a:srgbClr>
            </a:outerShdw>
          </a:effectLst>
        </p:spPr>
        <p:txBody>
          <a:bodyPr/>
          <a:lstStyle/>
          <a:p>
            <a:endParaRPr lang="en-US"/>
          </a:p>
        </p:txBody>
      </p:sp>
      <p:sp>
        <p:nvSpPr>
          <p:cNvPr id="12" name="Text 9"/>
          <p:cNvSpPr/>
          <p:nvPr/>
        </p:nvSpPr>
        <p:spPr>
          <a:xfrm>
            <a:off x="502920" y="1755648"/>
            <a:ext cx="1719072"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Grid</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Utility</a:t>
            </a:r>
            <a:endParaRPr lang="en-US" sz="1250" dirty="0"/>
          </a:p>
        </p:txBody>
      </p:sp>
      <p:sp>
        <p:nvSpPr>
          <p:cNvPr id="13" name="Text 10"/>
          <p:cNvSpPr/>
          <p:nvPr/>
        </p:nvSpPr>
        <p:spPr>
          <a:xfrm>
            <a:off x="502920" y="2350008"/>
            <a:ext cx="1719072" cy="475488"/>
          </a:xfrm>
          <a:prstGeom prst="rect">
            <a:avLst/>
          </a:prstGeom>
          <a:noFill/>
          <a:ln/>
        </p:spPr>
        <p:txBody>
          <a:bodyPr wrap="square" lIns="0" tIns="0" rIns="0" bIns="0" rtlCol="0" anchor="ctr"/>
          <a:lstStyle/>
          <a:p>
            <a:pPr marL="0" indent="0" algn="ctr">
              <a:buNone/>
            </a:pPr>
            <a:r>
              <a:rPr lang="en-US" sz="900" dirty="0">
                <a:solidFill>
                  <a:srgbClr val="DDEEFF"/>
                </a:solidFill>
                <a:latin typeface="Calibri" pitchFamily="34" charset="0"/>
                <a:ea typeface="Calibri" pitchFamily="34" charset="-122"/>
                <a:cs typeface="Calibri" pitchFamily="34" charset="-120"/>
              </a:rPr>
              <a:t>HV AC Input</a:t>
            </a:r>
            <a:endParaRPr lang="en-US" sz="900" dirty="0"/>
          </a:p>
        </p:txBody>
      </p:sp>
      <p:sp>
        <p:nvSpPr>
          <p:cNvPr id="14" name="Text 11"/>
          <p:cNvSpPr/>
          <p:nvPr/>
        </p:nvSpPr>
        <p:spPr>
          <a:xfrm>
            <a:off x="2404872" y="2048256"/>
            <a:ext cx="320040" cy="502920"/>
          </a:xfrm>
          <a:prstGeom prst="rect">
            <a:avLst/>
          </a:prstGeom>
          <a:noFill/>
          <a:ln/>
        </p:spPr>
        <p:txBody>
          <a:bodyPr wrap="square" lIns="0" tIns="0" rIns="0" bIns="0" rtlCol="0" anchor="ctr"/>
          <a:lstStyle/>
          <a:p>
            <a:pPr marL="0" indent="0" algn="ctr">
              <a:buNone/>
            </a:pPr>
            <a:r>
              <a:rPr lang="en-US" sz="2000" b="1" dirty="0">
                <a:solidFill>
                  <a:srgbClr val="2E6DA4"/>
                </a:solidFill>
                <a:latin typeface="Calibri" pitchFamily="34" charset="0"/>
                <a:ea typeface="Calibri" pitchFamily="34" charset="-122"/>
                <a:cs typeface="Calibri" pitchFamily="34" charset="-120"/>
              </a:rPr>
              <a:t>→</a:t>
            </a:r>
            <a:endParaRPr lang="en-US" sz="2000" dirty="0"/>
          </a:p>
        </p:txBody>
      </p:sp>
      <p:sp>
        <p:nvSpPr>
          <p:cNvPr id="15" name="Shape 12"/>
          <p:cNvSpPr/>
          <p:nvPr/>
        </p:nvSpPr>
        <p:spPr>
          <a:xfrm>
            <a:off x="2761488" y="1664208"/>
            <a:ext cx="1901952" cy="1261872"/>
          </a:xfrm>
          <a:prstGeom prst="rect">
            <a:avLst/>
          </a:prstGeom>
          <a:solidFill>
            <a:srgbClr val="C8922A"/>
          </a:solidFill>
          <a:ln w="12700">
            <a:solidFill>
              <a:srgbClr val="C8922A"/>
            </a:solidFill>
            <a:prstDash val="solid"/>
          </a:ln>
          <a:effectLst>
            <a:outerShdw blurRad="50800" dist="12700" dir="8100000" algn="bl" rotWithShape="0">
              <a:srgbClr val="000000">
                <a:alpha val="9000"/>
              </a:srgbClr>
            </a:outerShdw>
          </a:effectLst>
        </p:spPr>
        <p:txBody>
          <a:bodyPr/>
          <a:lstStyle/>
          <a:p>
            <a:endParaRPr lang="en-US"/>
          </a:p>
        </p:txBody>
      </p:sp>
      <p:sp>
        <p:nvSpPr>
          <p:cNvPr id="16" name="Text 13"/>
          <p:cNvSpPr/>
          <p:nvPr/>
        </p:nvSpPr>
        <p:spPr>
          <a:xfrm>
            <a:off x="2852928" y="1755648"/>
            <a:ext cx="1719072"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HTS Cable</a:t>
            </a:r>
            <a:endParaRPr lang="en-US" sz="1250" dirty="0"/>
          </a:p>
        </p:txBody>
      </p:sp>
      <p:sp>
        <p:nvSpPr>
          <p:cNvPr id="17" name="Text 14"/>
          <p:cNvSpPr/>
          <p:nvPr/>
        </p:nvSpPr>
        <p:spPr>
          <a:xfrm>
            <a:off x="2852928" y="2350008"/>
            <a:ext cx="1719072" cy="475488"/>
          </a:xfrm>
          <a:prstGeom prst="rect">
            <a:avLst/>
          </a:prstGeom>
          <a:noFill/>
          <a:ln/>
        </p:spPr>
        <p:txBody>
          <a:bodyPr wrap="square" lIns="0" tIns="0" rIns="0" bIns="0" rtlCol="0" anchor="ctr"/>
          <a:lstStyle/>
          <a:p>
            <a:pPr marL="0" indent="0" algn="ctr">
              <a:buNone/>
            </a:pPr>
            <a:r>
              <a:rPr lang="en-US" sz="900" dirty="0">
                <a:solidFill>
                  <a:srgbClr val="DDEEFF"/>
                </a:solidFill>
                <a:latin typeface="Calibri" pitchFamily="34" charset="0"/>
                <a:ea typeface="Calibri" pitchFamily="34" charset="-122"/>
                <a:cs typeface="Calibri" pitchFamily="34" charset="-120"/>
              </a:rPr>
              <a:t>Lossless transmission</a:t>
            </a:r>
            <a:endParaRPr lang="en-US" sz="900" dirty="0"/>
          </a:p>
          <a:p>
            <a:pPr marL="0" indent="0" algn="ctr">
              <a:buNone/>
            </a:pPr>
            <a:r>
              <a:rPr lang="en-US" sz="900" dirty="0">
                <a:solidFill>
                  <a:srgbClr val="DDEEFF"/>
                </a:solidFill>
                <a:latin typeface="Calibri" pitchFamily="34" charset="0"/>
                <a:ea typeface="Calibri" pitchFamily="34" charset="-122"/>
                <a:cs typeface="Calibri" pitchFamily="34" charset="-120"/>
              </a:rPr>
              <a:t>1 cable = 300MW</a:t>
            </a:r>
            <a:endParaRPr lang="en-US" sz="900" dirty="0"/>
          </a:p>
        </p:txBody>
      </p:sp>
      <p:sp>
        <p:nvSpPr>
          <p:cNvPr id="18" name="Text 15"/>
          <p:cNvSpPr/>
          <p:nvPr/>
        </p:nvSpPr>
        <p:spPr>
          <a:xfrm>
            <a:off x="4754880" y="2048256"/>
            <a:ext cx="320040" cy="502920"/>
          </a:xfrm>
          <a:prstGeom prst="rect">
            <a:avLst/>
          </a:prstGeom>
          <a:noFill/>
          <a:ln/>
        </p:spPr>
        <p:txBody>
          <a:bodyPr wrap="square" lIns="0" tIns="0" rIns="0" bIns="0" rtlCol="0" anchor="ctr"/>
          <a:lstStyle/>
          <a:p>
            <a:pPr marL="0" indent="0" algn="ctr">
              <a:buNone/>
            </a:pPr>
            <a:r>
              <a:rPr lang="en-US" sz="2000" b="1" dirty="0">
                <a:solidFill>
                  <a:srgbClr val="2E6DA4"/>
                </a:solidFill>
                <a:latin typeface="Calibri" pitchFamily="34" charset="0"/>
                <a:ea typeface="Calibri" pitchFamily="34" charset="-122"/>
                <a:cs typeface="Calibri" pitchFamily="34" charset="-120"/>
              </a:rPr>
              <a:t>→</a:t>
            </a:r>
            <a:endParaRPr lang="en-US" sz="2000" dirty="0"/>
          </a:p>
        </p:txBody>
      </p:sp>
      <p:sp>
        <p:nvSpPr>
          <p:cNvPr id="19" name="Shape 16"/>
          <p:cNvSpPr/>
          <p:nvPr/>
        </p:nvSpPr>
        <p:spPr>
          <a:xfrm>
            <a:off x="5111496" y="1664208"/>
            <a:ext cx="1901952" cy="1261872"/>
          </a:xfrm>
          <a:prstGeom prst="rect">
            <a:avLst/>
          </a:prstGeom>
          <a:solidFill>
            <a:srgbClr val="5096CC"/>
          </a:solidFill>
          <a:ln w="12700">
            <a:solidFill>
              <a:srgbClr val="5096CC"/>
            </a:solidFill>
            <a:prstDash val="solid"/>
          </a:ln>
          <a:effectLst>
            <a:outerShdw blurRad="50800" dist="12700" dir="8100000" algn="bl" rotWithShape="0">
              <a:srgbClr val="000000">
                <a:alpha val="9000"/>
              </a:srgbClr>
            </a:outerShdw>
          </a:effectLst>
        </p:spPr>
        <p:txBody>
          <a:bodyPr/>
          <a:lstStyle/>
          <a:p>
            <a:endParaRPr lang="en-US"/>
          </a:p>
        </p:txBody>
      </p:sp>
      <p:sp>
        <p:nvSpPr>
          <p:cNvPr id="20" name="Text 17"/>
          <p:cNvSpPr/>
          <p:nvPr/>
        </p:nvSpPr>
        <p:spPr>
          <a:xfrm>
            <a:off x="5202936" y="1755648"/>
            <a:ext cx="1719072"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Bus and PDU</a:t>
            </a:r>
            <a:endParaRPr lang="en-US" sz="1250" dirty="0"/>
          </a:p>
        </p:txBody>
      </p:sp>
      <p:sp>
        <p:nvSpPr>
          <p:cNvPr id="21" name="Text 18"/>
          <p:cNvSpPr/>
          <p:nvPr/>
        </p:nvSpPr>
        <p:spPr>
          <a:xfrm>
            <a:off x="5202936" y="2350008"/>
            <a:ext cx="1719072" cy="475488"/>
          </a:xfrm>
          <a:prstGeom prst="rect">
            <a:avLst/>
          </a:prstGeom>
          <a:noFill/>
          <a:ln/>
        </p:spPr>
        <p:txBody>
          <a:bodyPr wrap="square" lIns="0" tIns="0" rIns="0" bIns="0" rtlCol="0" anchor="ctr"/>
          <a:lstStyle/>
          <a:p>
            <a:pPr marL="0" indent="0" algn="ctr">
              <a:buNone/>
            </a:pPr>
            <a:r>
              <a:rPr lang="en-US" sz="900" dirty="0">
                <a:solidFill>
                  <a:srgbClr val="DDEEFF"/>
                </a:solidFill>
                <a:latin typeface="Calibri" pitchFamily="34" charset="0"/>
                <a:ea typeface="Calibri" pitchFamily="34" charset="-122"/>
                <a:cs typeface="Calibri" pitchFamily="34" charset="-120"/>
              </a:rPr>
              <a:t>48V to 800V HVDC</a:t>
            </a:r>
            <a:endParaRPr lang="en-US" sz="900" dirty="0"/>
          </a:p>
          <a:p>
            <a:pPr marL="0" indent="0" algn="ctr">
              <a:buNone/>
            </a:pPr>
            <a:r>
              <a:rPr lang="en-US" sz="900" dirty="0">
                <a:solidFill>
                  <a:srgbClr val="DDEEFF"/>
                </a:solidFill>
                <a:latin typeface="Calibri" pitchFamily="34" charset="0"/>
                <a:ea typeface="Calibri" pitchFamily="34" charset="-122"/>
                <a:cs typeface="Calibri" pitchFamily="34" charset="-120"/>
              </a:rPr>
              <a:t>fewer stages</a:t>
            </a:r>
            <a:endParaRPr lang="en-US" sz="900" dirty="0"/>
          </a:p>
        </p:txBody>
      </p:sp>
      <p:sp>
        <p:nvSpPr>
          <p:cNvPr id="22" name="Text 19"/>
          <p:cNvSpPr/>
          <p:nvPr/>
        </p:nvSpPr>
        <p:spPr>
          <a:xfrm>
            <a:off x="7104888" y="2048256"/>
            <a:ext cx="320040" cy="502920"/>
          </a:xfrm>
          <a:prstGeom prst="rect">
            <a:avLst/>
          </a:prstGeom>
          <a:noFill/>
          <a:ln/>
        </p:spPr>
        <p:txBody>
          <a:bodyPr wrap="square" lIns="0" tIns="0" rIns="0" bIns="0" rtlCol="0" anchor="ctr"/>
          <a:lstStyle/>
          <a:p>
            <a:pPr marL="0" indent="0" algn="ctr">
              <a:buNone/>
            </a:pPr>
            <a:r>
              <a:rPr lang="en-US" sz="2000" b="1" dirty="0">
                <a:solidFill>
                  <a:srgbClr val="2E6DA4"/>
                </a:solidFill>
                <a:latin typeface="Calibri" pitchFamily="34" charset="0"/>
                <a:ea typeface="Calibri" pitchFamily="34" charset="-122"/>
                <a:cs typeface="Calibri" pitchFamily="34" charset="-120"/>
              </a:rPr>
              <a:t>→</a:t>
            </a:r>
            <a:endParaRPr lang="en-US" sz="2000" dirty="0"/>
          </a:p>
        </p:txBody>
      </p:sp>
      <p:sp>
        <p:nvSpPr>
          <p:cNvPr id="23" name="Shape 20"/>
          <p:cNvSpPr/>
          <p:nvPr/>
        </p:nvSpPr>
        <p:spPr>
          <a:xfrm>
            <a:off x="7461504" y="1664208"/>
            <a:ext cx="1901952" cy="1261872"/>
          </a:xfrm>
          <a:prstGeom prst="rect">
            <a:avLst/>
          </a:prstGeom>
          <a:solidFill>
            <a:srgbClr val="2E6DA4"/>
          </a:solidFill>
          <a:ln w="12700">
            <a:solidFill>
              <a:srgbClr val="2E6DA4"/>
            </a:solidFill>
            <a:prstDash val="solid"/>
          </a:ln>
          <a:effectLst>
            <a:outerShdw blurRad="50800" dist="12700" dir="8100000" algn="bl" rotWithShape="0">
              <a:srgbClr val="000000">
                <a:alpha val="9000"/>
              </a:srgbClr>
            </a:outerShdw>
          </a:effectLst>
        </p:spPr>
        <p:txBody>
          <a:bodyPr/>
          <a:lstStyle/>
          <a:p>
            <a:endParaRPr lang="en-US"/>
          </a:p>
        </p:txBody>
      </p:sp>
      <p:sp>
        <p:nvSpPr>
          <p:cNvPr id="24" name="Text 21"/>
          <p:cNvSpPr/>
          <p:nvPr/>
        </p:nvSpPr>
        <p:spPr>
          <a:xfrm>
            <a:off x="7552944" y="1755648"/>
            <a:ext cx="1719072"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GaN Conversion</a:t>
            </a:r>
            <a:endParaRPr lang="en-US" sz="1250" dirty="0"/>
          </a:p>
        </p:txBody>
      </p:sp>
      <p:sp>
        <p:nvSpPr>
          <p:cNvPr id="25" name="Text 22"/>
          <p:cNvSpPr/>
          <p:nvPr/>
        </p:nvSpPr>
        <p:spPr>
          <a:xfrm>
            <a:off x="7552944" y="2350008"/>
            <a:ext cx="1719072" cy="475488"/>
          </a:xfrm>
          <a:prstGeom prst="rect">
            <a:avLst/>
          </a:prstGeom>
          <a:noFill/>
          <a:ln/>
        </p:spPr>
        <p:txBody>
          <a:bodyPr wrap="square" lIns="0" tIns="0" rIns="0" bIns="0" rtlCol="0" anchor="ctr"/>
          <a:lstStyle/>
          <a:p>
            <a:pPr marL="0" indent="0" algn="ctr">
              <a:buNone/>
            </a:pPr>
            <a:r>
              <a:rPr lang="en-US" sz="900" dirty="0">
                <a:solidFill>
                  <a:srgbClr val="DDEEFF"/>
                </a:solidFill>
                <a:latin typeface="Calibri" pitchFamily="34" charset="0"/>
                <a:ea typeface="Calibri" pitchFamily="34" charset="-122"/>
                <a:cs typeface="Calibri" pitchFamily="34" charset="-120"/>
              </a:rPr>
              <a:t>Point of load</a:t>
            </a:r>
            <a:endParaRPr lang="en-US" sz="900" dirty="0"/>
          </a:p>
          <a:p>
            <a:pPr marL="0" indent="0" algn="ctr">
              <a:buNone/>
            </a:pPr>
            <a:r>
              <a:rPr lang="en-US" sz="900" dirty="0">
                <a:solidFill>
                  <a:srgbClr val="DDEEFF"/>
                </a:solidFill>
                <a:latin typeface="Calibri" pitchFamily="34" charset="0"/>
                <a:ea typeface="Calibri" pitchFamily="34" charset="-122"/>
                <a:cs typeface="Calibri" pitchFamily="34" charset="-120"/>
              </a:rPr>
              <a:t>over 97% efficiency</a:t>
            </a:r>
            <a:endParaRPr lang="en-US" sz="900" dirty="0"/>
          </a:p>
        </p:txBody>
      </p:sp>
      <p:sp>
        <p:nvSpPr>
          <p:cNvPr id="26" name="Text 23"/>
          <p:cNvSpPr/>
          <p:nvPr/>
        </p:nvSpPr>
        <p:spPr>
          <a:xfrm>
            <a:off x="9454896" y="2048256"/>
            <a:ext cx="320040" cy="502920"/>
          </a:xfrm>
          <a:prstGeom prst="rect">
            <a:avLst/>
          </a:prstGeom>
          <a:noFill/>
          <a:ln/>
        </p:spPr>
        <p:txBody>
          <a:bodyPr wrap="square" lIns="0" tIns="0" rIns="0" bIns="0" rtlCol="0" anchor="ctr"/>
          <a:lstStyle/>
          <a:p>
            <a:pPr marL="0" indent="0" algn="ctr">
              <a:buNone/>
            </a:pPr>
            <a:r>
              <a:rPr lang="en-US" sz="2000" b="1" dirty="0">
                <a:solidFill>
                  <a:srgbClr val="2E6DA4"/>
                </a:solidFill>
                <a:latin typeface="Calibri" pitchFamily="34" charset="0"/>
                <a:ea typeface="Calibri" pitchFamily="34" charset="-122"/>
                <a:cs typeface="Calibri" pitchFamily="34" charset="-120"/>
              </a:rPr>
              <a:t>→</a:t>
            </a:r>
            <a:endParaRPr lang="en-US" sz="2000" dirty="0"/>
          </a:p>
        </p:txBody>
      </p:sp>
      <p:sp>
        <p:nvSpPr>
          <p:cNvPr id="27" name="Shape 24"/>
          <p:cNvSpPr/>
          <p:nvPr/>
        </p:nvSpPr>
        <p:spPr>
          <a:xfrm>
            <a:off x="9811512" y="1664208"/>
            <a:ext cx="1901952" cy="1261872"/>
          </a:xfrm>
          <a:prstGeom prst="rect">
            <a:avLst/>
          </a:prstGeom>
          <a:solidFill>
            <a:srgbClr val="1B3A5C"/>
          </a:solidFill>
          <a:ln w="12700">
            <a:solidFill>
              <a:srgbClr val="1B3A5C"/>
            </a:solidFill>
            <a:prstDash val="solid"/>
          </a:ln>
          <a:effectLst>
            <a:outerShdw blurRad="50800" dist="12700" dir="8100000" algn="bl" rotWithShape="0">
              <a:srgbClr val="000000">
                <a:alpha val="9000"/>
              </a:srgbClr>
            </a:outerShdw>
          </a:effectLst>
        </p:spPr>
        <p:txBody>
          <a:bodyPr/>
          <a:lstStyle/>
          <a:p>
            <a:endParaRPr lang="en-US"/>
          </a:p>
        </p:txBody>
      </p:sp>
      <p:sp>
        <p:nvSpPr>
          <p:cNvPr id="28" name="Text 25"/>
          <p:cNvSpPr/>
          <p:nvPr/>
        </p:nvSpPr>
        <p:spPr>
          <a:xfrm>
            <a:off x="9902952" y="1755648"/>
            <a:ext cx="1719072"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AI Rack</a:t>
            </a:r>
            <a:endParaRPr lang="en-US" sz="1250" dirty="0"/>
          </a:p>
        </p:txBody>
      </p:sp>
      <p:sp>
        <p:nvSpPr>
          <p:cNvPr id="29" name="Text 26"/>
          <p:cNvSpPr/>
          <p:nvPr/>
        </p:nvSpPr>
        <p:spPr>
          <a:xfrm>
            <a:off x="9902952" y="2350008"/>
            <a:ext cx="1719072" cy="475488"/>
          </a:xfrm>
          <a:prstGeom prst="rect">
            <a:avLst/>
          </a:prstGeom>
          <a:noFill/>
          <a:ln/>
        </p:spPr>
        <p:txBody>
          <a:bodyPr wrap="square" lIns="0" tIns="0" rIns="0" bIns="0" rtlCol="0" anchor="ctr"/>
          <a:lstStyle/>
          <a:p>
            <a:pPr marL="0" indent="0" algn="ctr">
              <a:buNone/>
            </a:pPr>
            <a:r>
              <a:rPr lang="en-US" sz="900" dirty="0">
                <a:solidFill>
                  <a:srgbClr val="DDEEFF"/>
                </a:solidFill>
                <a:latin typeface="Calibri" pitchFamily="34" charset="0"/>
                <a:ea typeface="Calibri" pitchFamily="34" charset="-122"/>
                <a:cs typeface="Calibri" pitchFamily="34" charset="-120"/>
              </a:rPr>
              <a:t>100kW to 1MW+</a:t>
            </a:r>
            <a:endParaRPr lang="en-US" sz="900" dirty="0"/>
          </a:p>
        </p:txBody>
      </p:sp>
      <p:sp>
        <p:nvSpPr>
          <p:cNvPr id="30" name="Shape 27"/>
          <p:cNvSpPr/>
          <p:nvPr/>
        </p:nvSpPr>
        <p:spPr>
          <a:xfrm>
            <a:off x="411480" y="3127248"/>
            <a:ext cx="5486400" cy="2798064"/>
          </a:xfrm>
          <a:prstGeom prst="rect">
            <a:avLst/>
          </a:prstGeom>
          <a:solidFill>
            <a:srgbClr val="F2F6FA"/>
          </a:solidFill>
          <a:ln w="19050">
            <a:solidFill>
              <a:srgbClr val="2E6DA4"/>
            </a:solidFill>
            <a:prstDash val="solid"/>
          </a:ln>
          <a:effectLst>
            <a:outerShdw blurRad="50800" dist="12700" dir="8100000" algn="bl" rotWithShape="0">
              <a:srgbClr val="000000">
                <a:alpha val="9000"/>
              </a:srgbClr>
            </a:outerShdw>
          </a:effectLst>
        </p:spPr>
        <p:txBody>
          <a:bodyPr/>
          <a:lstStyle/>
          <a:p>
            <a:endParaRPr lang="en-US"/>
          </a:p>
        </p:txBody>
      </p:sp>
      <p:sp>
        <p:nvSpPr>
          <p:cNvPr id="31" name="Shape 28"/>
          <p:cNvSpPr/>
          <p:nvPr/>
        </p:nvSpPr>
        <p:spPr>
          <a:xfrm>
            <a:off x="411480" y="3127248"/>
            <a:ext cx="5486400" cy="54864"/>
          </a:xfrm>
          <a:prstGeom prst="rect">
            <a:avLst/>
          </a:prstGeom>
          <a:solidFill>
            <a:srgbClr val="2E6DA4"/>
          </a:solidFill>
          <a:ln w="12700">
            <a:solidFill>
              <a:srgbClr val="2E6DA4"/>
            </a:solidFill>
            <a:prstDash val="solid"/>
          </a:ln>
        </p:spPr>
        <p:txBody>
          <a:bodyPr/>
          <a:lstStyle/>
          <a:p>
            <a:endParaRPr lang="en-US"/>
          </a:p>
        </p:txBody>
      </p:sp>
      <p:sp>
        <p:nvSpPr>
          <p:cNvPr id="32" name="Text 29"/>
          <p:cNvSpPr/>
          <p:nvPr/>
        </p:nvSpPr>
        <p:spPr>
          <a:xfrm>
            <a:off x="566928" y="3218688"/>
            <a:ext cx="5212080" cy="329184"/>
          </a:xfrm>
          <a:prstGeom prst="rect">
            <a:avLst/>
          </a:prstGeom>
          <a:noFill/>
          <a:ln/>
        </p:spPr>
        <p:txBody>
          <a:bodyPr wrap="square" lIns="0" tIns="0" rIns="0" bIns="0" rtlCol="0" anchor="ctr"/>
          <a:lstStyle/>
          <a:p>
            <a:pPr marL="0" indent="0">
              <a:buNone/>
            </a:pPr>
            <a:r>
              <a:rPr lang="en-US" sz="1400" b="1" dirty="0">
                <a:solidFill>
                  <a:srgbClr val="2E6DA4"/>
                </a:solidFill>
                <a:latin typeface="Calibri" pitchFamily="34" charset="0"/>
                <a:ea typeface="Calibri" pitchFamily="34" charset="-122"/>
                <a:cs typeface="Calibri" pitchFamily="34" charset="-120"/>
              </a:rPr>
              <a:t>GaN  —  Deploy Now</a:t>
            </a:r>
            <a:endParaRPr lang="en-US" sz="1400" dirty="0"/>
          </a:p>
        </p:txBody>
      </p:sp>
      <p:sp>
        <p:nvSpPr>
          <p:cNvPr id="33" name="Shape 30"/>
          <p:cNvSpPr/>
          <p:nvPr/>
        </p:nvSpPr>
        <p:spPr>
          <a:xfrm>
            <a:off x="914400" y="914400"/>
            <a:ext cx="914400" cy="914400"/>
          </a:xfrm>
          <a:prstGeom prst="line">
            <a:avLst/>
          </a:prstGeom>
          <a:noFill/>
          <a:ln/>
        </p:spPr>
        <p:txBody>
          <a:bodyPr/>
          <a:lstStyle/>
          <a:p>
            <a:endParaRPr lang="en-US"/>
          </a:p>
        </p:txBody>
      </p:sp>
      <p:sp>
        <p:nvSpPr>
          <p:cNvPr id="34" name="Text 31"/>
          <p:cNvSpPr/>
          <p:nvPr/>
        </p:nvSpPr>
        <p:spPr>
          <a:xfrm>
            <a:off x="713232" y="3639312"/>
            <a:ext cx="5065776" cy="310896"/>
          </a:xfrm>
          <a:prstGeom prst="rect">
            <a:avLst/>
          </a:prstGeom>
          <a:noFill/>
          <a:ln/>
        </p:spPr>
        <p:txBody>
          <a:bodyPr wrap="square" lIns="0" tIns="0" rIns="0" bIns="0" rtlCol="0" anchor="ctr"/>
          <a:lstStyle/>
          <a:p>
            <a:pPr marL="0" indent="0">
              <a:buNone/>
            </a:pPr>
            <a:r>
              <a:rPr lang="en-US" sz="980" dirty="0">
                <a:solidFill>
                  <a:srgbClr val="2C3E50"/>
                </a:solidFill>
                <a:latin typeface="Calibri" pitchFamily="34" charset="0"/>
                <a:ea typeface="Calibri" pitchFamily="34" charset="-122"/>
                <a:cs typeface="Calibri" pitchFamily="34" charset="-120"/>
              </a:rPr>
              <a:t>98.5% peak efficiency on Navitas 10kW platform at 1MHz switching (February 2026)</a:t>
            </a:r>
            <a:endParaRPr lang="en-US" sz="980" dirty="0"/>
          </a:p>
        </p:txBody>
      </p:sp>
      <p:sp>
        <p:nvSpPr>
          <p:cNvPr id="35" name="Shape 32"/>
          <p:cNvSpPr/>
          <p:nvPr/>
        </p:nvSpPr>
        <p:spPr>
          <a:xfrm>
            <a:off x="914400" y="914400"/>
            <a:ext cx="914400" cy="914400"/>
          </a:xfrm>
          <a:prstGeom prst="line">
            <a:avLst/>
          </a:prstGeom>
          <a:noFill/>
          <a:ln/>
        </p:spPr>
        <p:txBody>
          <a:bodyPr/>
          <a:lstStyle/>
          <a:p>
            <a:endParaRPr lang="en-US"/>
          </a:p>
        </p:txBody>
      </p:sp>
      <p:sp>
        <p:nvSpPr>
          <p:cNvPr id="36" name="Text 33"/>
          <p:cNvSpPr/>
          <p:nvPr/>
        </p:nvSpPr>
        <p:spPr>
          <a:xfrm>
            <a:off x="713232" y="3968496"/>
            <a:ext cx="5065776" cy="310896"/>
          </a:xfrm>
          <a:prstGeom prst="rect">
            <a:avLst/>
          </a:prstGeom>
          <a:noFill/>
          <a:ln/>
        </p:spPr>
        <p:txBody>
          <a:bodyPr wrap="square" lIns="0" tIns="0" rIns="0" bIns="0" rtlCol="0" anchor="ctr"/>
          <a:lstStyle/>
          <a:p>
            <a:pPr marL="0" indent="0">
              <a:buNone/>
            </a:pPr>
            <a:r>
              <a:rPr lang="en-US" sz="980" dirty="0">
                <a:solidFill>
                  <a:srgbClr val="2C3E50"/>
                </a:solidFill>
                <a:latin typeface="Calibri" pitchFamily="34" charset="0"/>
                <a:ea typeface="Calibri" pitchFamily="34" charset="-122"/>
                <a:cs typeface="Calibri" pitchFamily="34" charset="-120"/>
              </a:rPr>
              <a:t>NVIDIA Kyber 800V HVDC architecture locking in across hyperscaler fleets</a:t>
            </a:r>
            <a:endParaRPr lang="en-US" sz="980" dirty="0"/>
          </a:p>
        </p:txBody>
      </p:sp>
      <p:sp>
        <p:nvSpPr>
          <p:cNvPr id="37" name="Shape 34"/>
          <p:cNvSpPr/>
          <p:nvPr/>
        </p:nvSpPr>
        <p:spPr>
          <a:xfrm>
            <a:off x="914400" y="914400"/>
            <a:ext cx="914400" cy="914400"/>
          </a:xfrm>
          <a:prstGeom prst="line">
            <a:avLst/>
          </a:prstGeom>
          <a:noFill/>
          <a:ln/>
        </p:spPr>
        <p:txBody>
          <a:bodyPr/>
          <a:lstStyle/>
          <a:p>
            <a:endParaRPr lang="en-US"/>
          </a:p>
        </p:txBody>
      </p:sp>
      <p:sp>
        <p:nvSpPr>
          <p:cNvPr id="38" name="Text 35"/>
          <p:cNvSpPr/>
          <p:nvPr/>
        </p:nvSpPr>
        <p:spPr>
          <a:xfrm>
            <a:off x="713232" y="4297680"/>
            <a:ext cx="5065776" cy="310896"/>
          </a:xfrm>
          <a:prstGeom prst="rect">
            <a:avLst/>
          </a:prstGeom>
          <a:noFill/>
          <a:ln/>
        </p:spPr>
        <p:txBody>
          <a:bodyPr wrap="square" lIns="0" tIns="0" rIns="0" bIns="0" rtlCol="0" anchor="ctr"/>
          <a:lstStyle/>
          <a:p>
            <a:pPr marL="0" indent="0">
              <a:buNone/>
            </a:pPr>
            <a:r>
              <a:rPr lang="en-US" sz="980" dirty="0">
                <a:solidFill>
                  <a:srgbClr val="2C3E50"/>
                </a:solidFill>
                <a:latin typeface="Calibri" pitchFamily="34" charset="0"/>
                <a:ea typeface="Calibri" pitchFamily="34" charset="-122"/>
                <a:cs typeface="Calibri" pitchFamily="34" charset="-120"/>
              </a:rPr>
              <a:t>400M ICs shipped with zero field failures confirms hyperscale procurement confidence</a:t>
            </a:r>
            <a:endParaRPr lang="en-US" sz="980" dirty="0"/>
          </a:p>
        </p:txBody>
      </p:sp>
      <p:sp>
        <p:nvSpPr>
          <p:cNvPr id="39" name="Shape 36"/>
          <p:cNvSpPr/>
          <p:nvPr/>
        </p:nvSpPr>
        <p:spPr>
          <a:xfrm>
            <a:off x="914400" y="914400"/>
            <a:ext cx="914400" cy="914400"/>
          </a:xfrm>
          <a:prstGeom prst="line">
            <a:avLst/>
          </a:prstGeom>
          <a:noFill/>
          <a:ln/>
        </p:spPr>
        <p:txBody>
          <a:bodyPr/>
          <a:lstStyle/>
          <a:p>
            <a:endParaRPr lang="en-US"/>
          </a:p>
        </p:txBody>
      </p:sp>
      <p:sp>
        <p:nvSpPr>
          <p:cNvPr id="40" name="Text 37"/>
          <p:cNvSpPr/>
          <p:nvPr/>
        </p:nvSpPr>
        <p:spPr>
          <a:xfrm>
            <a:off x="713232" y="4626864"/>
            <a:ext cx="5065776" cy="310896"/>
          </a:xfrm>
          <a:prstGeom prst="rect">
            <a:avLst/>
          </a:prstGeom>
          <a:noFill/>
          <a:ln/>
        </p:spPr>
        <p:txBody>
          <a:bodyPr wrap="square" lIns="0" tIns="0" rIns="0" bIns="0" rtlCol="0" anchor="ctr"/>
          <a:lstStyle/>
          <a:p>
            <a:pPr marL="0" indent="0">
              <a:buNone/>
            </a:pPr>
            <a:r>
              <a:rPr lang="en-US" sz="980" dirty="0">
                <a:solidFill>
                  <a:srgbClr val="2C3E50"/>
                </a:solidFill>
                <a:latin typeface="Calibri" pitchFamily="34" charset="0"/>
                <a:ea typeface="Calibri" pitchFamily="34" charset="-122"/>
                <a:cs typeface="Calibri" pitchFamily="34" charset="-120"/>
              </a:rPr>
              <a:t>Infineon 300mm wafer production delivers cost parity with silicon</a:t>
            </a:r>
            <a:endParaRPr lang="en-US" sz="980" dirty="0"/>
          </a:p>
        </p:txBody>
      </p:sp>
      <p:sp>
        <p:nvSpPr>
          <p:cNvPr id="41" name="Shape 38"/>
          <p:cNvSpPr/>
          <p:nvPr/>
        </p:nvSpPr>
        <p:spPr>
          <a:xfrm>
            <a:off x="914400" y="914400"/>
            <a:ext cx="914400" cy="914400"/>
          </a:xfrm>
          <a:prstGeom prst="line">
            <a:avLst/>
          </a:prstGeom>
          <a:noFill/>
          <a:ln/>
        </p:spPr>
        <p:txBody>
          <a:bodyPr/>
          <a:lstStyle/>
          <a:p>
            <a:endParaRPr lang="en-US"/>
          </a:p>
        </p:txBody>
      </p:sp>
      <p:sp>
        <p:nvSpPr>
          <p:cNvPr id="42" name="Text 39"/>
          <p:cNvSpPr/>
          <p:nvPr/>
        </p:nvSpPr>
        <p:spPr>
          <a:xfrm>
            <a:off x="713232" y="4956048"/>
            <a:ext cx="5065776" cy="310896"/>
          </a:xfrm>
          <a:prstGeom prst="rect">
            <a:avLst/>
          </a:prstGeom>
          <a:noFill/>
          <a:ln/>
        </p:spPr>
        <p:txBody>
          <a:bodyPr wrap="square" lIns="0" tIns="0" rIns="0" bIns="0" rtlCol="0" anchor="ctr"/>
          <a:lstStyle/>
          <a:p>
            <a:pPr marL="0" indent="0">
              <a:buNone/>
            </a:pPr>
            <a:r>
              <a:rPr lang="en-US" sz="980" dirty="0">
                <a:solidFill>
                  <a:srgbClr val="2C3E50"/>
                </a:solidFill>
                <a:latin typeface="Calibri" pitchFamily="34" charset="0"/>
                <a:ea typeface="Calibri" pitchFamily="34" charset="-122"/>
                <a:cs typeface="Calibri" pitchFamily="34" charset="-120"/>
              </a:rPr>
              <a:t>IISc 2025 gate stack cuts leakage 10,000 times and retires qualification risk</a:t>
            </a:r>
            <a:endParaRPr lang="en-US" sz="980" dirty="0"/>
          </a:p>
        </p:txBody>
      </p:sp>
      <p:sp>
        <p:nvSpPr>
          <p:cNvPr id="43" name="Shape 40"/>
          <p:cNvSpPr/>
          <p:nvPr/>
        </p:nvSpPr>
        <p:spPr>
          <a:xfrm>
            <a:off x="914400" y="914400"/>
            <a:ext cx="914400" cy="914400"/>
          </a:xfrm>
          <a:prstGeom prst="line">
            <a:avLst/>
          </a:prstGeom>
          <a:noFill/>
          <a:ln/>
        </p:spPr>
        <p:txBody>
          <a:bodyPr/>
          <a:lstStyle/>
          <a:p>
            <a:endParaRPr lang="en-US"/>
          </a:p>
        </p:txBody>
      </p:sp>
      <p:sp>
        <p:nvSpPr>
          <p:cNvPr id="44" name="Text 41"/>
          <p:cNvSpPr/>
          <p:nvPr/>
        </p:nvSpPr>
        <p:spPr>
          <a:xfrm>
            <a:off x="713232" y="5285232"/>
            <a:ext cx="5065776" cy="310896"/>
          </a:xfrm>
          <a:prstGeom prst="rect">
            <a:avLst/>
          </a:prstGeom>
          <a:noFill/>
          <a:ln/>
        </p:spPr>
        <p:txBody>
          <a:bodyPr wrap="square" lIns="0" tIns="0" rIns="0" bIns="0" rtlCol="0" anchor="ctr"/>
          <a:lstStyle/>
          <a:p>
            <a:pPr marL="0" indent="0">
              <a:buNone/>
            </a:pPr>
            <a:r>
              <a:rPr lang="en-US" sz="980" dirty="0">
                <a:solidFill>
                  <a:srgbClr val="2C3E50"/>
                </a:solidFill>
                <a:latin typeface="Calibri" pitchFamily="34" charset="0"/>
                <a:ea typeface="Calibri" pitchFamily="34" charset="-122"/>
                <a:cs typeface="Calibri" pitchFamily="34" charset="-120"/>
              </a:rPr>
              <a:t>ISO 14040 certified: saves over 10 million tonnes of CO₂ per year at data center scale</a:t>
            </a:r>
            <a:endParaRPr lang="en-US" sz="980" dirty="0"/>
          </a:p>
        </p:txBody>
      </p:sp>
      <p:sp>
        <p:nvSpPr>
          <p:cNvPr id="45" name="Shape 42"/>
          <p:cNvSpPr/>
          <p:nvPr/>
        </p:nvSpPr>
        <p:spPr>
          <a:xfrm>
            <a:off x="6309360" y="3127248"/>
            <a:ext cx="5468112" cy="2798064"/>
          </a:xfrm>
          <a:prstGeom prst="rect">
            <a:avLst/>
          </a:prstGeom>
          <a:solidFill>
            <a:srgbClr val="F2F6FA"/>
          </a:solidFill>
          <a:ln w="19050">
            <a:solidFill>
              <a:srgbClr val="C8922A"/>
            </a:solidFill>
            <a:prstDash val="solid"/>
          </a:ln>
          <a:effectLst>
            <a:outerShdw blurRad="50800" dist="12700" dir="8100000" algn="bl" rotWithShape="0">
              <a:srgbClr val="000000">
                <a:alpha val="9000"/>
              </a:srgbClr>
            </a:outerShdw>
          </a:effectLst>
        </p:spPr>
        <p:txBody>
          <a:bodyPr/>
          <a:lstStyle/>
          <a:p>
            <a:endParaRPr lang="en-US"/>
          </a:p>
        </p:txBody>
      </p:sp>
      <p:sp>
        <p:nvSpPr>
          <p:cNvPr id="46" name="Shape 43"/>
          <p:cNvSpPr/>
          <p:nvPr/>
        </p:nvSpPr>
        <p:spPr>
          <a:xfrm>
            <a:off x="6309360" y="3127248"/>
            <a:ext cx="5468112" cy="54864"/>
          </a:xfrm>
          <a:prstGeom prst="rect">
            <a:avLst/>
          </a:prstGeom>
          <a:solidFill>
            <a:srgbClr val="C8922A"/>
          </a:solidFill>
          <a:ln w="12700">
            <a:solidFill>
              <a:srgbClr val="C8922A"/>
            </a:solidFill>
            <a:prstDash val="solid"/>
          </a:ln>
        </p:spPr>
        <p:txBody>
          <a:bodyPr/>
          <a:lstStyle/>
          <a:p>
            <a:endParaRPr lang="en-US"/>
          </a:p>
        </p:txBody>
      </p:sp>
      <p:sp>
        <p:nvSpPr>
          <p:cNvPr id="47" name="Text 44"/>
          <p:cNvSpPr/>
          <p:nvPr/>
        </p:nvSpPr>
        <p:spPr>
          <a:xfrm>
            <a:off x="6473952" y="3218688"/>
            <a:ext cx="5120640" cy="329184"/>
          </a:xfrm>
          <a:prstGeom prst="rect">
            <a:avLst/>
          </a:prstGeom>
          <a:noFill/>
          <a:ln/>
        </p:spPr>
        <p:txBody>
          <a:bodyPr wrap="square" lIns="0" tIns="0" rIns="0" bIns="0" rtlCol="0" anchor="ctr"/>
          <a:lstStyle/>
          <a:p>
            <a:pPr marL="0" indent="0">
              <a:buNone/>
            </a:pPr>
            <a:r>
              <a:rPr lang="en-US" sz="1400" b="1" dirty="0">
                <a:solidFill>
                  <a:srgbClr val="C8922A"/>
                </a:solidFill>
                <a:latin typeface="Calibri" pitchFamily="34" charset="0"/>
                <a:ea typeface="Calibri" pitchFamily="34" charset="-122"/>
                <a:cs typeface="Calibri" pitchFamily="34" charset="-120"/>
              </a:rPr>
              <a:t>HTS  —  Pilot 2027, Scale by 2030</a:t>
            </a:r>
            <a:endParaRPr lang="en-US" sz="1400" dirty="0"/>
          </a:p>
        </p:txBody>
      </p:sp>
      <p:sp>
        <p:nvSpPr>
          <p:cNvPr id="48" name="Shape 45"/>
          <p:cNvSpPr/>
          <p:nvPr/>
        </p:nvSpPr>
        <p:spPr>
          <a:xfrm>
            <a:off x="914400" y="914400"/>
            <a:ext cx="914400" cy="914400"/>
          </a:xfrm>
          <a:prstGeom prst="line">
            <a:avLst/>
          </a:prstGeom>
          <a:noFill/>
          <a:ln/>
        </p:spPr>
        <p:txBody>
          <a:bodyPr/>
          <a:lstStyle/>
          <a:p>
            <a:endParaRPr lang="en-US"/>
          </a:p>
        </p:txBody>
      </p:sp>
      <p:sp>
        <p:nvSpPr>
          <p:cNvPr id="49" name="Text 46"/>
          <p:cNvSpPr/>
          <p:nvPr/>
        </p:nvSpPr>
        <p:spPr>
          <a:xfrm>
            <a:off x="6620256" y="3639312"/>
            <a:ext cx="4974336" cy="310896"/>
          </a:xfrm>
          <a:prstGeom prst="rect">
            <a:avLst/>
          </a:prstGeom>
          <a:noFill/>
          <a:ln/>
        </p:spPr>
        <p:txBody>
          <a:bodyPr wrap="square" lIns="0" tIns="0" rIns="0" bIns="0" rtlCol="0" anchor="ctr"/>
          <a:lstStyle/>
          <a:p>
            <a:pPr marL="0" indent="0">
              <a:buNone/>
            </a:pPr>
            <a:r>
              <a:rPr lang="en-US" sz="980" dirty="0">
                <a:solidFill>
                  <a:srgbClr val="2C3E50"/>
                </a:solidFill>
                <a:latin typeface="Calibri" pitchFamily="34" charset="0"/>
                <a:ea typeface="Calibri" pitchFamily="34" charset="-122"/>
                <a:cs typeface="Calibri" pitchFamily="34" charset="-120"/>
              </a:rPr>
              <a:t>1.7% residual loss versus 3 to 5% for copper confirmed at 100MW scale (2022 study)</a:t>
            </a:r>
            <a:endParaRPr lang="en-US" sz="980" dirty="0"/>
          </a:p>
        </p:txBody>
      </p:sp>
      <p:sp>
        <p:nvSpPr>
          <p:cNvPr id="50" name="Shape 47"/>
          <p:cNvSpPr/>
          <p:nvPr/>
        </p:nvSpPr>
        <p:spPr>
          <a:xfrm>
            <a:off x="914400" y="914400"/>
            <a:ext cx="914400" cy="914400"/>
          </a:xfrm>
          <a:prstGeom prst="line">
            <a:avLst/>
          </a:prstGeom>
          <a:noFill/>
          <a:ln/>
        </p:spPr>
        <p:txBody>
          <a:bodyPr/>
          <a:lstStyle/>
          <a:p>
            <a:endParaRPr lang="en-US"/>
          </a:p>
        </p:txBody>
      </p:sp>
      <p:sp>
        <p:nvSpPr>
          <p:cNvPr id="51" name="Text 48"/>
          <p:cNvSpPr/>
          <p:nvPr/>
        </p:nvSpPr>
        <p:spPr>
          <a:xfrm>
            <a:off x="6620256" y="3968496"/>
            <a:ext cx="4974336" cy="310896"/>
          </a:xfrm>
          <a:prstGeom prst="rect">
            <a:avLst/>
          </a:prstGeom>
          <a:noFill/>
          <a:ln/>
        </p:spPr>
        <p:txBody>
          <a:bodyPr wrap="square" lIns="0" tIns="0" rIns="0" bIns="0" rtlCol="0" anchor="ctr"/>
          <a:lstStyle/>
          <a:p>
            <a:pPr marL="0" indent="0">
              <a:buNone/>
            </a:pPr>
            <a:r>
              <a:rPr lang="en-US" sz="980" dirty="0">
                <a:solidFill>
                  <a:srgbClr val="2C3E50"/>
                </a:solidFill>
                <a:latin typeface="Calibri" pitchFamily="34" charset="0"/>
                <a:ea typeface="Calibri" pitchFamily="34" charset="-122"/>
                <a:cs typeface="Calibri" pitchFamily="34" charset="-120"/>
              </a:rPr>
              <a:t>VEIR 3MW OCP demo November 2025 and world’s first HTS powered rack prototype</a:t>
            </a:r>
            <a:endParaRPr lang="en-US" sz="980" dirty="0"/>
          </a:p>
        </p:txBody>
      </p:sp>
      <p:sp>
        <p:nvSpPr>
          <p:cNvPr id="52" name="Shape 49"/>
          <p:cNvSpPr/>
          <p:nvPr/>
        </p:nvSpPr>
        <p:spPr>
          <a:xfrm>
            <a:off x="914400" y="914400"/>
            <a:ext cx="914400" cy="914400"/>
          </a:xfrm>
          <a:prstGeom prst="line">
            <a:avLst/>
          </a:prstGeom>
          <a:noFill/>
          <a:ln/>
        </p:spPr>
        <p:txBody>
          <a:bodyPr/>
          <a:lstStyle/>
          <a:p>
            <a:endParaRPr lang="en-US"/>
          </a:p>
        </p:txBody>
      </p:sp>
      <p:sp>
        <p:nvSpPr>
          <p:cNvPr id="53" name="Text 50"/>
          <p:cNvSpPr/>
          <p:nvPr/>
        </p:nvSpPr>
        <p:spPr>
          <a:xfrm>
            <a:off x="6620256" y="4297680"/>
            <a:ext cx="4974336" cy="310896"/>
          </a:xfrm>
          <a:prstGeom prst="rect">
            <a:avLst/>
          </a:prstGeom>
          <a:noFill/>
          <a:ln/>
        </p:spPr>
        <p:txBody>
          <a:bodyPr wrap="square" lIns="0" tIns="0" rIns="0" bIns="0" rtlCol="0" anchor="ctr"/>
          <a:lstStyle/>
          <a:p>
            <a:pPr marL="0" indent="0">
              <a:buNone/>
            </a:pPr>
            <a:r>
              <a:rPr lang="en-US" sz="980" dirty="0">
                <a:solidFill>
                  <a:srgbClr val="2C3E50"/>
                </a:solidFill>
                <a:latin typeface="Calibri" pitchFamily="34" charset="0"/>
                <a:ea typeface="Calibri" pitchFamily="34" charset="-122"/>
                <a:cs typeface="Calibri" pitchFamily="34" charset="-120"/>
              </a:rPr>
              <a:t>Microsoft invested $75M into VEIR and confirmed factory testing of the 3MW cable</a:t>
            </a:r>
            <a:endParaRPr lang="en-US" sz="980" dirty="0"/>
          </a:p>
        </p:txBody>
      </p:sp>
      <p:sp>
        <p:nvSpPr>
          <p:cNvPr id="54" name="Shape 51"/>
          <p:cNvSpPr/>
          <p:nvPr/>
        </p:nvSpPr>
        <p:spPr>
          <a:xfrm>
            <a:off x="914400" y="914400"/>
            <a:ext cx="914400" cy="914400"/>
          </a:xfrm>
          <a:prstGeom prst="line">
            <a:avLst/>
          </a:prstGeom>
          <a:noFill/>
          <a:ln/>
        </p:spPr>
        <p:txBody>
          <a:bodyPr/>
          <a:lstStyle/>
          <a:p>
            <a:endParaRPr lang="en-US"/>
          </a:p>
        </p:txBody>
      </p:sp>
      <p:sp>
        <p:nvSpPr>
          <p:cNvPr id="55" name="Text 52"/>
          <p:cNvSpPr/>
          <p:nvPr/>
        </p:nvSpPr>
        <p:spPr>
          <a:xfrm>
            <a:off x="6620256" y="4626864"/>
            <a:ext cx="4974336" cy="310896"/>
          </a:xfrm>
          <a:prstGeom prst="rect">
            <a:avLst/>
          </a:prstGeom>
          <a:noFill/>
          <a:ln/>
        </p:spPr>
        <p:txBody>
          <a:bodyPr wrap="square" lIns="0" tIns="0" rIns="0" bIns="0" rtlCol="0" anchor="ctr"/>
          <a:lstStyle/>
          <a:p>
            <a:pPr marL="0" indent="0">
              <a:buNone/>
            </a:pPr>
            <a:r>
              <a:rPr lang="en-US" sz="980" dirty="0">
                <a:solidFill>
                  <a:srgbClr val="2C3E50"/>
                </a:solidFill>
                <a:latin typeface="Calibri" pitchFamily="34" charset="0"/>
                <a:ea typeface="Calibri" pitchFamily="34" charset="-122"/>
                <a:cs typeface="Calibri" pitchFamily="34" charset="-120"/>
              </a:rPr>
              <a:t>MetOx Project Arch breaks ground 2025 with $80M DOE backing, first US HTS wire plant</a:t>
            </a:r>
            <a:endParaRPr lang="en-US" sz="980" dirty="0"/>
          </a:p>
        </p:txBody>
      </p:sp>
      <p:sp>
        <p:nvSpPr>
          <p:cNvPr id="56" name="Shape 53"/>
          <p:cNvSpPr/>
          <p:nvPr/>
        </p:nvSpPr>
        <p:spPr>
          <a:xfrm>
            <a:off x="914400" y="914400"/>
            <a:ext cx="914400" cy="914400"/>
          </a:xfrm>
          <a:prstGeom prst="line">
            <a:avLst/>
          </a:prstGeom>
          <a:noFill/>
          <a:ln/>
        </p:spPr>
        <p:txBody>
          <a:bodyPr/>
          <a:lstStyle/>
          <a:p>
            <a:endParaRPr lang="en-US"/>
          </a:p>
        </p:txBody>
      </p:sp>
      <p:sp>
        <p:nvSpPr>
          <p:cNvPr id="57" name="Text 54"/>
          <p:cNvSpPr/>
          <p:nvPr/>
        </p:nvSpPr>
        <p:spPr>
          <a:xfrm>
            <a:off x="6620256" y="4956048"/>
            <a:ext cx="4974336" cy="310896"/>
          </a:xfrm>
          <a:prstGeom prst="rect">
            <a:avLst/>
          </a:prstGeom>
          <a:noFill/>
          <a:ln/>
        </p:spPr>
        <p:txBody>
          <a:bodyPr wrap="square" lIns="0" tIns="0" rIns="0" bIns="0" rtlCol="0" anchor="ctr"/>
          <a:lstStyle/>
          <a:p>
            <a:pPr marL="0" indent="0">
              <a:buNone/>
            </a:pPr>
            <a:r>
              <a:rPr lang="en-US" sz="980" dirty="0">
                <a:solidFill>
                  <a:srgbClr val="2C3E50"/>
                </a:solidFill>
                <a:latin typeface="Calibri" pitchFamily="34" charset="0"/>
                <a:ea typeface="Calibri" pitchFamily="34" charset="-122"/>
                <a:cs typeface="Calibri" pitchFamily="34" charset="-120"/>
              </a:rPr>
              <a:t>University of Houston PNAS March 2026 sets 151K ambient pressure superconductivity record</a:t>
            </a:r>
            <a:endParaRPr lang="en-US" sz="980" dirty="0"/>
          </a:p>
        </p:txBody>
      </p:sp>
      <p:sp>
        <p:nvSpPr>
          <p:cNvPr id="58" name="Shape 55"/>
          <p:cNvSpPr/>
          <p:nvPr/>
        </p:nvSpPr>
        <p:spPr>
          <a:xfrm>
            <a:off x="914400" y="914400"/>
            <a:ext cx="914400" cy="914400"/>
          </a:xfrm>
          <a:prstGeom prst="line">
            <a:avLst/>
          </a:prstGeom>
          <a:noFill/>
          <a:ln/>
        </p:spPr>
        <p:txBody>
          <a:bodyPr/>
          <a:lstStyle/>
          <a:p>
            <a:endParaRPr lang="en-US"/>
          </a:p>
        </p:txBody>
      </p:sp>
      <p:sp>
        <p:nvSpPr>
          <p:cNvPr id="59" name="Text 56"/>
          <p:cNvSpPr/>
          <p:nvPr/>
        </p:nvSpPr>
        <p:spPr>
          <a:xfrm>
            <a:off x="6620256" y="5285232"/>
            <a:ext cx="4974336" cy="310896"/>
          </a:xfrm>
          <a:prstGeom prst="rect">
            <a:avLst/>
          </a:prstGeom>
          <a:noFill/>
          <a:ln/>
        </p:spPr>
        <p:txBody>
          <a:bodyPr wrap="square" lIns="0" tIns="0" rIns="0" bIns="0" rtlCol="0" anchor="ctr"/>
          <a:lstStyle/>
          <a:p>
            <a:pPr marL="0" indent="0">
              <a:buNone/>
            </a:pPr>
            <a:r>
              <a:rPr lang="en-US" sz="980" dirty="0">
                <a:solidFill>
                  <a:srgbClr val="2C3E50"/>
                </a:solidFill>
                <a:latin typeface="Calibri" pitchFamily="34" charset="0"/>
                <a:ea typeface="Calibri" pitchFamily="34" charset="-122"/>
                <a:cs typeface="Calibri" pitchFamily="34" charset="-120"/>
              </a:rPr>
              <a:t>November 27 2026: China gallium ban suspension expires. Market is not pricing this risk.</a:t>
            </a:r>
            <a:endParaRPr lang="en-US" sz="9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75488"/>
          </a:xfrm>
          <a:prstGeom prst="rect">
            <a:avLst/>
          </a:prstGeom>
          <a:solidFill>
            <a:srgbClr val="1B3A5C"/>
          </a:solidFill>
          <a:ln w="12700">
            <a:solidFill>
              <a:srgbClr val="1B3A5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28600" y="45720"/>
            <a:ext cx="1600200" cy="384048"/>
          </a:xfrm>
          <a:prstGeom prst="rect">
            <a:avLst/>
          </a:prstGeom>
        </p:spPr>
      </p:pic>
      <p:sp>
        <p:nvSpPr>
          <p:cNvPr id="4" name="Text 1"/>
          <p:cNvSpPr/>
          <p:nvPr/>
        </p:nvSpPr>
        <p:spPr>
          <a:xfrm>
            <a:off x="2103120" y="91440"/>
            <a:ext cx="8686800" cy="292608"/>
          </a:xfrm>
          <a:prstGeom prst="rect">
            <a:avLst/>
          </a:prstGeom>
          <a:noFill/>
          <a:ln/>
        </p:spPr>
        <p:txBody>
          <a:bodyPr wrap="square" lIns="0" tIns="0" rIns="0" bIns="0" rtlCol="0" anchor="ctr"/>
          <a:lstStyle/>
          <a:p>
            <a:pPr marL="0" indent="0">
              <a:buNone/>
            </a:pPr>
            <a:r>
              <a:rPr lang="en-US" sz="850" kern="0" spc="250" dirty="0">
                <a:solidFill>
                  <a:srgbClr val="D0DAE4"/>
                </a:solidFill>
                <a:latin typeface="Calibri" pitchFamily="34" charset="0"/>
                <a:ea typeface="Calibri" pitchFamily="34" charset="-122"/>
                <a:cs typeface="Calibri" pitchFamily="34" charset="-120"/>
              </a:rPr>
              <a:t>SOFTWARE AND ORCHESTRATION  ·  JOHANES</a:t>
            </a:r>
            <a:endParaRPr lang="en-US" sz="850" dirty="0"/>
          </a:p>
        </p:txBody>
      </p:sp>
      <p:sp>
        <p:nvSpPr>
          <p:cNvPr id="5" name="Text 2"/>
          <p:cNvSpPr/>
          <p:nvPr/>
        </p:nvSpPr>
        <p:spPr>
          <a:xfrm>
            <a:off x="11064240" y="91440"/>
            <a:ext cx="914400" cy="292608"/>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05 / 17</a:t>
            </a:r>
            <a:endParaRPr lang="en-US" sz="850" dirty="0"/>
          </a:p>
        </p:txBody>
      </p:sp>
      <p:sp>
        <p:nvSpPr>
          <p:cNvPr id="6" name="Shape 3"/>
          <p:cNvSpPr/>
          <p:nvPr/>
        </p:nvSpPr>
        <p:spPr>
          <a:xfrm>
            <a:off x="0" y="6537960"/>
            <a:ext cx="12188952" cy="320040"/>
          </a:xfrm>
          <a:prstGeom prst="rect">
            <a:avLst/>
          </a:prstGeom>
          <a:solidFill>
            <a:srgbClr val="F2F6FA"/>
          </a:solidFill>
          <a:ln w="12700">
            <a:solidFill>
              <a:srgbClr val="D0DAE4"/>
            </a:solidFill>
            <a:prstDash val="solid"/>
          </a:ln>
        </p:spPr>
        <p:txBody>
          <a:bodyPr/>
          <a:lstStyle/>
          <a:p>
            <a:endParaRPr lang="en-US"/>
          </a:p>
        </p:txBody>
      </p:sp>
      <p:sp>
        <p:nvSpPr>
          <p:cNvPr id="7" name="Text 4"/>
          <p:cNvSpPr/>
          <p:nvPr/>
        </p:nvSpPr>
        <p:spPr>
          <a:xfrm>
            <a:off x="274320" y="6565392"/>
            <a:ext cx="6400800" cy="256032"/>
          </a:xfrm>
          <a:prstGeom prst="rect">
            <a:avLst/>
          </a:prstGeom>
          <a:noFill/>
          <a:ln/>
        </p:spPr>
        <p:txBody>
          <a:bodyPr wrap="square" lIns="0" tIns="0" rIns="0" bIns="0" rtlCol="0" anchor="ctr"/>
          <a:lstStyle/>
          <a:p>
            <a:pPr marL="0" indent="0">
              <a:buNone/>
            </a:pPr>
            <a:r>
              <a:rPr lang="en-US" sz="750" dirty="0">
                <a:solidFill>
                  <a:srgbClr val="7B90A6"/>
                </a:solidFill>
                <a:latin typeface="Calibri" pitchFamily="34" charset="0"/>
                <a:ea typeface="Calibri" pitchFamily="34" charset="-122"/>
                <a:cs typeface="Calibri" pitchFamily="34" charset="-120"/>
              </a:rPr>
              <a:t>ClearVision Ventures  ·  Confidential  ·  April 2026</a:t>
            </a:r>
            <a:endParaRPr lang="en-US" sz="750" dirty="0"/>
          </a:p>
        </p:txBody>
      </p:sp>
      <p:sp>
        <p:nvSpPr>
          <p:cNvPr id="8" name="Text 5"/>
          <p:cNvSpPr/>
          <p:nvPr/>
        </p:nvSpPr>
        <p:spPr>
          <a:xfrm>
            <a:off x="411480" y="594360"/>
            <a:ext cx="10972800" cy="228600"/>
          </a:xfrm>
          <a:prstGeom prst="rect">
            <a:avLst/>
          </a:prstGeom>
          <a:noFill/>
          <a:ln/>
        </p:spPr>
        <p:txBody>
          <a:bodyPr wrap="square" lIns="0" tIns="0" rIns="0" bIns="0" rtlCol="0" anchor="ctr"/>
          <a:lstStyle/>
          <a:p>
            <a:pPr marL="0" indent="0">
              <a:buNone/>
            </a:pPr>
            <a:r>
              <a:rPr lang="en-US" sz="850" b="1" kern="0" spc="300" dirty="0">
                <a:solidFill>
                  <a:srgbClr val="2E6DA4"/>
                </a:solidFill>
                <a:latin typeface="Calibri" pitchFamily="34" charset="0"/>
                <a:ea typeface="Calibri" pitchFamily="34" charset="-122"/>
                <a:cs typeface="Calibri" pitchFamily="34" charset="-120"/>
              </a:rPr>
              <a:t>THE SOFTWARE STACK</a:t>
            </a:r>
            <a:endParaRPr lang="en-US" sz="850" dirty="0"/>
          </a:p>
        </p:txBody>
      </p:sp>
      <p:sp>
        <p:nvSpPr>
          <p:cNvPr id="9" name="Text 6"/>
          <p:cNvSpPr/>
          <p:nvPr/>
        </p:nvSpPr>
        <p:spPr>
          <a:xfrm>
            <a:off x="411480" y="822960"/>
            <a:ext cx="11338560" cy="713232"/>
          </a:xfrm>
          <a:prstGeom prst="rect">
            <a:avLst/>
          </a:prstGeom>
          <a:noFill/>
          <a:ln/>
        </p:spPr>
        <p:txBody>
          <a:bodyPr wrap="square" lIns="0" tIns="0" rIns="0" bIns="0" rtlCol="0" anchor="ctr"/>
          <a:lstStyle/>
          <a:p>
            <a:pPr marL="0" indent="0">
              <a:buNone/>
            </a:pPr>
            <a:r>
              <a:rPr lang="en-US" sz="2800" b="1" dirty="0">
                <a:solidFill>
                  <a:srgbClr val="0F1E30"/>
                </a:solidFill>
                <a:latin typeface="Calibri" pitchFamily="34" charset="0"/>
                <a:ea typeface="Calibri" pitchFamily="34" charset="-122"/>
                <a:cs typeface="Calibri" pitchFamily="34" charset="-120"/>
              </a:rPr>
              <a:t>AI Broke the Old Tools. Every Layer Is Being Rebuilt.</a:t>
            </a:r>
            <a:endParaRPr lang="en-US" sz="2800" dirty="0"/>
          </a:p>
        </p:txBody>
      </p:sp>
      <p:sp>
        <p:nvSpPr>
          <p:cNvPr id="10" name="Shape 7"/>
          <p:cNvSpPr/>
          <p:nvPr/>
        </p:nvSpPr>
        <p:spPr>
          <a:xfrm>
            <a:off x="411480" y="1536192"/>
            <a:ext cx="1005840" cy="41148"/>
          </a:xfrm>
          <a:prstGeom prst="rect">
            <a:avLst/>
          </a:prstGeom>
          <a:solidFill>
            <a:srgbClr val="2E6DA4"/>
          </a:solidFill>
          <a:ln w="12700">
            <a:solidFill>
              <a:srgbClr val="2E6DA4"/>
            </a:solidFill>
            <a:prstDash val="solid"/>
          </a:ln>
        </p:spPr>
        <p:txBody>
          <a:bodyPr/>
          <a:lstStyle/>
          <a:p>
            <a:endParaRPr lang="en-US"/>
          </a:p>
        </p:txBody>
      </p:sp>
      <p:sp>
        <p:nvSpPr>
          <p:cNvPr id="11" name="Text 8"/>
          <p:cNvSpPr/>
          <p:nvPr/>
        </p:nvSpPr>
        <p:spPr>
          <a:xfrm>
            <a:off x="411480" y="1627632"/>
            <a:ext cx="11338560" cy="402336"/>
          </a:xfrm>
          <a:prstGeom prst="rect">
            <a:avLst/>
          </a:prstGeom>
          <a:noFill/>
          <a:ln/>
        </p:spPr>
        <p:txBody>
          <a:bodyPr wrap="square" lIns="0" tIns="0" rIns="0" bIns="0" rtlCol="0" anchor="ctr"/>
          <a:lstStyle/>
          <a:p>
            <a:pPr marL="0" indent="0">
              <a:buNone/>
            </a:pPr>
            <a:r>
              <a:rPr lang="en-US" sz="1150" i="1" dirty="0">
                <a:solidFill>
                  <a:srgbClr val="2C3E50"/>
                </a:solidFill>
                <a:latin typeface="Calibri" pitchFamily="34" charset="0"/>
                <a:ea typeface="Calibri" pitchFamily="34" charset="-122"/>
                <a:cs typeface="Calibri" pitchFamily="34" charset="-120"/>
              </a:rPr>
              <a:t>Legacy DCIM, MLOps platforms, and security tooling were designed for predictable CPU workloads. AI data centers are not that, and the software market is resetting accordingly.</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2148840"/>
          <a:ext cx="11338560" cy="2773680"/>
        </p:xfrm>
        <a:graphic>
          <a:graphicData uri="http://schemas.openxmlformats.org/drawingml/2006/table">
            <a:tbl>
              <a:tblPr/>
              <a:tblGrid>
                <a:gridCol w="2148840">
                  <a:extLst>
                    <a:ext uri="{9D8B030D-6E8A-4147-A177-3AD203B41FA5}">
                      <a16:colId xmlns:a16="http://schemas.microsoft.com/office/drawing/2014/main" val="20000"/>
                    </a:ext>
                  </a:extLst>
                </a:gridCol>
                <a:gridCol w="804672">
                  <a:extLst>
                    <a:ext uri="{9D8B030D-6E8A-4147-A177-3AD203B41FA5}">
                      <a16:colId xmlns:a16="http://schemas.microsoft.com/office/drawing/2014/main" val="20001"/>
                    </a:ext>
                  </a:extLst>
                </a:gridCol>
                <a:gridCol w="658368">
                  <a:extLst>
                    <a:ext uri="{9D8B030D-6E8A-4147-A177-3AD203B41FA5}">
                      <a16:colId xmlns:a16="http://schemas.microsoft.com/office/drawing/2014/main" val="20002"/>
                    </a:ext>
                  </a:extLst>
                </a:gridCol>
                <a:gridCol w="1115568">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1024128">
                  <a:extLst>
                    <a:ext uri="{9D8B030D-6E8A-4147-A177-3AD203B41FA5}">
                      <a16:colId xmlns:a16="http://schemas.microsoft.com/office/drawing/2014/main" val="20005"/>
                    </a:ext>
                  </a:extLst>
                </a:gridCol>
                <a:gridCol w="4718304">
                  <a:extLst>
                    <a:ext uri="{9D8B030D-6E8A-4147-A177-3AD203B41FA5}">
                      <a16:colId xmlns:a16="http://schemas.microsoft.com/office/drawing/2014/main" val="20006"/>
                    </a:ext>
                  </a:extLst>
                </a:gridCol>
              </a:tblGrid>
              <a:tr h="347472">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Layer</a:t>
                      </a:r>
                      <a:endParaRPr lang="en-US" sz="10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1B3A5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Maturity</a:t>
                      </a:r>
                      <a:endParaRPr lang="en-US" sz="10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1B3A5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OS Risk</a:t>
                      </a:r>
                      <a:endParaRPr lang="en-US" sz="10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1B3A5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Hyperscaler Threat</a:t>
                      </a:r>
                      <a:endParaRPr lang="en-US" sz="10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1B3A5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VC Rating</a:t>
                      </a:r>
                      <a:endParaRPr lang="en-US" sz="10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1B3A5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Recommendation</a:t>
                      </a:r>
                      <a:endParaRPr lang="en-US" sz="10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1B3A5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Why It Matters</a:t>
                      </a:r>
                      <a:endParaRPr lang="en-US" sz="10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475488">
                <a:tc>
                  <a:txBody>
                    <a:bodyPr/>
                    <a:lstStyle/>
                    <a:p>
                      <a:pPr marL="0" indent="0">
                        <a:buNone/>
                      </a:pPr>
                      <a:r>
                        <a:rPr lang="en-US" sz="950" b="1" dirty="0">
                          <a:solidFill>
                            <a:srgbClr val="0F1E30"/>
                          </a:solidFill>
                          <a:latin typeface="Calibri" pitchFamily="34" charset="0"/>
                          <a:ea typeface="Calibri" pitchFamily="34" charset="-122"/>
                          <a:cs typeface="Calibri" pitchFamily="34" charset="-120"/>
                        </a:rPr>
                        <a:t>L1 — Infrastructure</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C8922A"/>
                          </a:solidFill>
                          <a:latin typeface="Calibri" pitchFamily="34" charset="0"/>
                          <a:ea typeface="Calibri" pitchFamily="34" charset="-122"/>
                          <a:cs typeface="Calibri" pitchFamily="34" charset="-120"/>
                        </a:rPr>
                        <a:t>2 of 5</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b="1" dirty="0">
                          <a:solidFill>
                            <a:srgbClr val="C0392B"/>
                          </a:solidFill>
                          <a:latin typeface="Calibri" pitchFamily="34" charset="0"/>
                          <a:ea typeface="Calibri" pitchFamily="34" charset="-122"/>
                          <a:cs typeface="Calibri" pitchFamily="34" charset="-120"/>
                        </a:rPr>
                        <a:t>Avoid</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Kubernetes won. VMware disruption benefits open source, not venture startups.</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extLst>
                  <a:ext uri="{0D108BD9-81ED-4DB2-BD59-A6C34878D82A}">
                    <a16:rowId xmlns:a16="http://schemas.microsoft.com/office/drawing/2014/main" val="10001"/>
                  </a:ext>
                </a:extLst>
              </a:tr>
              <a:tr h="475488">
                <a:tc>
                  <a:txBody>
                    <a:bodyPr/>
                    <a:lstStyle/>
                    <a:p>
                      <a:pPr marL="0" indent="0">
                        <a:buNone/>
                      </a:pPr>
                      <a:r>
                        <a:rPr lang="en-US" sz="950" b="1" dirty="0">
                          <a:solidFill>
                            <a:srgbClr val="0F1E30"/>
                          </a:solidFill>
                          <a:latin typeface="Calibri" pitchFamily="34" charset="0"/>
                          <a:ea typeface="Calibri" pitchFamily="34" charset="-122"/>
                          <a:cs typeface="Calibri" pitchFamily="34" charset="-120"/>
                        </a:rPr>
                        <a:t>L2 — DCIM and Energy</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C8922A"/>
                          </a:solidFill>
                          <a:latin typeface="Calibri" pitchFamily="34" charset="0"/>
                          <a:ea typeface="Calibri" pitchFamily="34" charset="-122"/>
                          <a:cs typeface="Calibri" pitchFamily="34" charset="-120"/>
                        </a:rPr>
                        <a:t>4 of 5</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F7A5C"/>
                          </a:solidFill>
                          <a:latin typeface="Calibri" pitchFamily="34" charset="0"/>
                          <a:ea typeface="Calibri" pitchFamily="34" charset="-122"/>
                          <a:cs typeface="Calibri" pitchFamily="34" charset="-120"/>
                        </a:rPr>
                        <a:t>Invest</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No category leader. Energy mandates create non-discretionary demand. Highest ROI for operators.</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950" b="1" dirty="0">
                          <a:solidFill>
                            <a:srgbClr val="0F1E30"/>
                          </a:solidFill>
                          <a:latin typeface="Calibri" pitchFamily="34" charset="0"/>
                          <a:ea typeface="Calibri" pitchFamily="34" charset="-122"/>
                          <a:cs typeface="Calibri" pitchFamily="34" charset="-120"/>
                        </a:rPr>
                        <a:t>L3 — AI and ML Workloads</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C8922A"/>
                          </a:solidFill>
                          <a:latin typeface="Calibri" pitchFamily="34" charset="0"/>
                          <a:ea typeface="Calibri" pitchFamily="34" charset="-122"/>
                          <a:cs typeface="Calibri" pitchFamily="34" charset="-120"/>
                        </a:rPr>
                        <a:t>5 of 5</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b="1" dirty="0">
                          <a:solidFill>
                            <a:srgbClr val="1F7A5C"/>
                          </a:solidFill>
                          <a:latin typeface="Calibri" pitchFamily="34" charset="0"/>
                          <a:ea typeface="Calibri" pitchFamily="34" charset="-122"/>
                          <a:cs typeface="Calibri" pitchFamily="34" charset="-120"/>
                        </a:rPr>
                        <a:t>Top Priority</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MLOps grows from $2.33B to $25.9B by 2034. 2026 is the inflection from training to inference.</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extLst>
                  <a:ext uri="{0D108BD9-81ED-4DB2-BD59-A6C34878D82A}">
                    <a16:rowId xmlns:a16="http://schemas.microsoft.com/office/drawing/2014/main" val="10003"/>
                  </a:ext>
                </a:extLst>
              </a:tr>
              <a:tr h="475488">
                <a:tc>
                  <a:txBody>
                    <a:bodyPr/>
                    <a:lstStyle/>
                    <a:p>
                      <a:pPr marL="0" indent="0">
                        <a:buNone/>
                      </a:pPr>
                      <a:r>
                        <a:rPr lang="en-US" sz="950" b="1" dirty="0">
                          <a:solidFill>
                            <a:srgbClr val="0F1E30"/>
                          </a:solidFill>
                          <a:latin typeface="Calibri" pitchFamily="34" charset="0"/>
                          <a:ea typeface="Calibri" pitchFamily="34" charset="-122"/>
                          <a:cs typeface="Calibri" pitchFamily="34" charset="-120"/>
                        </a:rPr>
                        <a:t>L4 — Security</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C8922A"/>
                          </a:solidFill>
                          <a:latin typeface="Calibri" pitchFamily="34" charset="0"/>
                          <a:ea typeface="Calibri" pitchFamily="34" charset="-122"/>
                          <a:cs typeface="Calibri" pitchFamily="34" charset="-120"/>
                        </a:rPr>
                        <a:t>4 of 5</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F7A5C"/>
                          </a:solidFill>
                          <a:latin typeface="Calibri" pitchFamily="34" charset="0"/>
                          <a:ea typeface="Calibri" pitchFamily="34" charset="-122"/>
                          <a:cs typeface="Calibri" pitchFamily="34" charset="-120"/>
                        </a:rPr>
                        <a:t>Invest</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EU AI Act enforcement started 2025. No vendor has a purpose built AI compliance module yet.</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950" b="1" dirty="0">
                          <a:solidFill>
                            <a:srgbClr val="0F1E30"/>
                          </a:solidFill>
                          <a:latin typeface="Calibri" pitchFamily="34" charset="0"/>
                          <a:ea typeface="Calibri" pitchFamily="34" charset="-122"/>
                          <a:cs typeface="Calibri" pitchFamily="34" charset="-120"/>
                        </a:rPr>
                        <a:t>L5 — Observability</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C8922A"/>
                          </a:solidFill>
                          <a:latin typeface="Calibri" pitchFamily="34" charset="0"/>
                          <a:ea typeface="Calibri" pitchFamily="34" charset="-122"/>
                          <a:cs typeface="Calibri" pitchFamily="34" charset="-120"/>
                        </a:rPr>
                        <a:t>2 of 5</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b="1" dirty="0">
                          <a:solidFill>
                            <a:srgbClr val="C8922A"/>
                          </a:solidFill>
                          <a:latin typeface="Calibri" pitchFamily="34" charset="0"/>
                          <a:ea typeface="Calibri" pitchFamily="34" charset="-122"/>
                          <a:cs typeface="Calibri" pitchFamily="34" charset="-120"/>
                        </a:rPr>
                        <a:t>Selective</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Datadog and Cisco Splunk own the space. AI model observability is the only remaining whitespace.</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extLst>
                  <a:ext uri="{0D108BD9-81ED-4DB2-BD59-A6C34878D82A}">
                    <a16:rowId xmlns:a16="http://schemas.microsoft.com/office/drawing/2014/main" val="10005"/>
                  </a:ext>
                </a:extLst>
              </a:tr>
            </a:tbl>
          </a:graphicData>
        </a:graphic>
      </p:graphicFrame>
      <p:sp>
        <p:nvSpPr>
          <p:cNvPr id="13" name="Shape 9"/>
          <p:cNvSpPr/>
          <p:nvPr/>
        </p:nvSpPr>
        <p:spPr>
          <a:xfrm>
            <a:off x="411480" y="5029200"/>
            <a:ext cx="2542032" cy="100584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4" name="Shape 10"/>
          <p:cNvSpPr/>
          <p:nvPr/>
        </p:nvSpPr>
        <p:spPr>
          <a:xfrm>
            <a:off x="411480" y="5029200"/>
            <a:ext cx="2542032" cy="50292"/>
          </a:xfrm>
          <a:prstGeom prst="rect">
            <a:avLst/>
          </a:prstGeom>
          <a:solidFill>
            <a:srgbClr val="2E6DA4"/>
          </a:solidFill>
          <a:ln w="12700">
            <a:solidFill>
              <a:srgbClr val="2E6DA4"/>
            </a:solidFill>
            <a:prstDash val="solid"/>
          </a:ln>
        </p:spPr>
        <p:txBody>
          <a:bodyPr/>
          <a:lstStyle/>
          <a:p>
            <a:endParaRPr lang="en-US"/>
          </a:p>
        </p:txBody>
      </p:sp>
      <p:sp>
        <p:nvSpPr>
          <p:cNvPr id="15" name="Text 11"/>
          <p:cNvSpPr/>
          <p:nvPr/>
        </p:nvSpPr>
        <p:spPr>
          <a:xfrm>
            <a:off x="502920" y="5166360"/>
            <a:ext cx="2359152" cy="512064"/>
          </a:xfrm>
          <a:prstGeom prst="rect">
            <a:avLst/>
          </a:prstGeom>
          <a:noFill/>
          <a:ln/>
        </p:spPr>
        <p:txBody>
          <a:bodyPr wrap="square" lIns="0" tIns="0" rIns="0" bIns="0" rtlCol="0" anchor="ctr"/>
          <a:lstStyle/>
          <a:p>
            <a:pPr marL="0" indent="0" algn="ctr">
              <a:buNone/>
            </a:pPr>
            <a:r>
              <a:rPr lang="en-US" sz="2500" b="1" dirty="0">
                <a:solidFill>
                  <a:srgbClr val="2E6DA4"/>
                </a:solidFill>
                <a:latin typeface="Calibri" pitchFamily="34" charset="0"/>
                <a:ea typeface="Calibri" pitchFamily="34" charset="-122"/>
                <a:cs typeface="Calibri" pitchFamily="34" charset="-120"/>
              </a:rPr>
              <a:t>$72.3B</a:t>
            </a:r>
            <a:endParaRPr lang="en-US" sz="2500" dirty="0"/>
          </a:p>
        </p:txBody>
      </p:sp>
      <p:sp>
        <p:nvSpPr>
          <p:cNvPr id="16" name="Text 12"/>
          <p:cNvSpPr/>
          <p:nvPr/>
        </p:nvSpPr>
        <p:spPr>
          <a:xfrm>
            <a:off x="502920" y="5687568"/>
            <a:ext cx="2359152"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SDDC market 2024 growing at 30.4% CAGR through 2033</a:t>
            </a:r>
            <a:endParaRPr lang="en-US" sz="900" dirty="0"/>
          </a:p>
        </p:txBody>
      </p:sp>
      <p:sp>
        <p:nvSpPr>
          <p:cNvPr id="17" name="Shape 13"/>
          <p:cNvSpPr/>
          <p:nvPr/>
        </p:nvSpPr>
        <p:spPr>
          <a:xfrm>
            <a:off x="3227832" y="5029200"/>
            <a:ext cx="2542032" cy="100584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8" name="Shape 14"/>
          <p:cNvSpPr/>
          <p:nvPr/>
        </p:nvSpPr>
        <p:spPr>
          <a:xfrm>
            <a:off x="3227832" y="5029200"/>
            <a:ext cx="2542032" cy="50292"/>
          </a:xfrm>
          <a:prstGeom prst="rect">
            <a:avLst/>
          </a:prstGeom>
          <a:solidFill>
            <a:srgbClr val="2E6DA4"/>
          </a:solidFill>
          <a:ln w="12700">
            <a:solidFill>
              <a:srgbClr val="2E6DA4"/>
            </a:solidFill>
            <a:prstDash val="solid"/>
          </a:ln>
        </p:spPr>
        <p:txBody>
          <a:bodyPr/>
          <a:lstStyle/>
          <a:p>
            <a:endParaRPr lang="en-US"/>
          </a:p>
        </p:txBody>
      </p:sp>
      <p:sp>
        <p:nvSpPr>
          <p:cNvPr id="19" name="Text 15"/>
          <p:cNvSpPr/>
          <p:nvPr/>
        </p:nvSpPr>
        <p:spPr>
          <a:xfrm>
            <a:off x="3319272" y="5166360"/>
            <a:ext cx="2359152" cy="512064"/>
          </a:xfrm>
          <a:prstGeom prst="rect">
            <a:avLst/>
          </a:prstGeom>
          <a:noFill/>
          <a:ln/>
        </p:spPr>
        <p:txBody>
          <a:bodyPr wrap="square" lIns="0" tIns="0" rIns="0" bIns="0" rtlCol="0" anchor="ctr"/>
          <a:lstStyle/>
          <a:p>
            <a:pPr marL="0" indent="0" algn="ctr">
              <a:buNone/>
            </a:pPr>
            <a:r>
              <a:rPr lang="en-US" sz="2500" b="1" dirty="0">
                <a:solidFill>
                  <a:srgbClr val="2E6DA4"/>
                </a:solidFill>
                <a:latin typeface="Calibri" pitchFamily="34" charset="0"/>
                <a:ea typeface="Calibri" pitchFamily="34" charset="-122"/>
                <a:cs typeface="Calibri" pitchFamily="34" charset="-120"/>
              </a:rPr>
              <a:t>28.9%</a:t>
            </a:r>
            <a:endParaRPr lang="en-US" sz="2500" dirty="0"/>
          </a:p>
        </p:txBody>
      </p:sp>
      <p:sp>
        <p:nvSpPr>
          <p:cNvPr id="20" name="Text 16"/>
          <p:cNvSpPr/>
          <p:nvPr/>
        </p:nvSpPr>
        <p:spPr>
          <a:xfrm>
            <a:off x="3319272" y="5687568"/>
            <a:ext cx="2359152"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MLOps CAGR through 2034, fastest defined software category</a:t>
            </a:r>
            <a:endParaRPr lang="en-US" sz="900" dirty="0"/>
          </a:p>
        </p:txBody>
      </p:sp>
      <p:sp>
        <p:nvSpPr>
          <p:cNvPr id="21" name="Shape 17"/>
          <p:cNvSpPr/>
          <p:nvPr/>
        </p:nvSpPr>
        <p:spPr>
          <a:xfrm>
            <a:off x="6044184" y="5029200"/>
            <a:ext cx="2542032" cy="100584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2" name="Shape 18"/>
          <p:cNvSpPr/>
          <p:nvPr/>
        </p:nvSpPr>
        <p:spPr>
          <a:xfrm>
            <a:off x="6044184" y="5029200"/>
            <a:ext cx="2542032" cy="50292"/>
          </a:xfrm>
          <a:prstGeom prst="rect">
            <a:avLst/>
          </a:prstGeom>
          <a:solidFill>
            <a:srgbClr val="2E6DA4"/>
          </a:solidFill>
          <a:ln w="12700">
            <a:solidFill>
              <a:srgbClr val="2E6DA4"/>
            </a:solidFill>
            <a:prstDash val="solid"/>
          </a:ln>
        </p:spPr>
        <p:txBody>
          <a:bodyPr/>
          <a:lstStyle/>
          <a:p>
            <a:endParaRPr lang="en-US"/>
          </a:p>
        </p:txBody>
      </p:sp>
      <p:sp>
        <p:nvSpPr>
          <p:cNvPr id="23" name="Text 19"/>
          <p:cNvSpPr/>
          <p:nvPr/>
        </p:nvSpPr>
        <p:spPr>
          <a:xfrm>
            <a:off x="6135624" y="5166360"/>
            <a:ext cx="2359152" cy="512064"/>
          </a:xfrm>
          <a:prstGeom prst="rect">
            <a:avLst/>
          </a:prstGeom>
          <a:noFill/>
          <a:ln/>
        </p:spPr>
        <p:txBody>
          <a:bodyPr wrap="square" lIns="0" tIns="0" rIns="0" bIns="0" rtlCol="0" anchor="ctr"/>
          <a:lstStyle/>
          <a:p>
            <a:pPr marL="0" indent="0" algn="ctr">
              <a:buNone/>
            </a:pPr>
            <a:r>
              <a:rPr lang="en-US" sz="2500" b="1" dirty="0">
                <a:solidFill>
                  <a:srgbClr val="2E6DA4"/>
                </a:solidFill>
                <a:latin typeface="Calibri" pitchFamily="34" charset="0"/>
                <a:ea typeface="Calibri" pitchFamily="34" charset="-122"/>
                <a:cs typeface="Calibri" pitchFamily="34" charset="-120"/>
              </a:rPr>
              <a:t>$81B</a:t>
            </a:r>
            <a:endParaRPr lang="en-US" sz="2500" dirty="0"/>
          </a:p>
        </p:txBody>
      </p:sp>
      <p:sp>
        <p:nvSpPr>
          <p:cNvPr id="24" name="Text 20"/>
          <p:cNvSpPr/>
          <p:nvPr/>
        </p:nvSpPr>
        <p:spPr>
          <a:xfrm>
            <a:off x="6135624" y="5687568"/>
            <a:ext cx="2359152"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IT operations management spending by 2028 per Gartner</a:t>
            </a:r>
            <a:endParaRPr lang="en-US" sz="900" dirty="0"/>
          </a:p>
        </p:txBody>
      </p:sp>
      <p:sp>
        <p:nvSpPr>
          <p:cNvPr id="25" name="Shape 21"/>
          <p:cNvSpPr/>
          <p:nvPr/>
        </p:nvSpPr>
        <p:spPr>
          <a:xfrm>
            <a:off x="8860536" y="5029200"/>
            <a:ext cx="2542032" cy="100584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6" name="Shape 22"/>
          <p:cNvSpPr/>
          <p:nvPr/>
        </p:nvSpPr>
        <p:spPr>
          <a:xfrm>
            <a:off x="8860536" y="5029200"/>
            <a:ext cx="2542032" cy="50292"/>
          </a:xfrm>
          <a:prstGeom prst="rect">
            <a:avLst/>
          </a:prstGeom>
          <a:solidFill>
            <a:srgbClr val="2E6DA4"/>
          </a:solidFill>
          <a:ln w="12700">
            <a:solidFill>
              <a:srgbClr val="2E6DA4"/>
            </a:solidFill>
            <a:prstDash val="solid"/>
          </a:ln>
        </p:spPr>
        <p:txBody>
          <a:bodyPr/>
          <a:lstStyle/>
          <a:p>
            <a:endParaRPr lang="en-US"/>
          </a:p>
        </p:txBody>
      </p:sp>
      <p:sp>
        <p:nvSpPr>
          <p:cNvPr id="27" name="Text 23"/>
          <p:cNvSpPr/>
          <p:nvPr/>
        </p:nvSpPr>
        <p:spPr>
          <a:xfrm>
            <a:off x="8951976" y="5166360"/>
            <a:ext cx="2359152" cy="512064"/>
          </a:xfrm>
          <a:prstGeom prst="rect">
            <a:avLst/>
          </a:prstGeom>
          <a:noFill/>
          <a:ln/>
        </p:spPr>
        <p:txBody>
          <a:bodyPr wrap="square" lIns="0" tIns="0" rIns="0" bIns="0" rtlCol="0" anchor="ctr"/>
          <a:lstStyle/>
          <a:p>
            <a:pPr marL="0" indent="0" algn="ctr">
              <a:buNone/>
            </a:pPr>
            <a:r>
              <a:rPr lang="en-US" sz="2500" b="1" dirty="0">
                <a:solidFill>
                  <a:srgbClr val="2E6DA4"/>
                </a:solidFill>
                <a:latin typeface="Calibri" pitchFamily="34" charset="0"/>
                <a:ea typeface="Calibri" pitchFamily="34" charset="-122"/>
                <a:cs typeface="Calibri" pitchFamily="34" charset="-120"/>
              </a:rPr>
              <a:t>20 to 30%</a:t>
            </a:r>
            <a:endParaRPr lang="en-US" sz="2500" dirty="0"/>
          </a:p>
        </p:txBody>
      </p:sp>
      <p:sp>
        <p:nvSpPr>
          <p:cNvPr id="28" name="Text 24"/>
          <p:cNvSpPr/>
          <p:nvPr/>
        </p:nvSpPr>
        <p:spPr>
          <a:xfrm>
            <a:off x="8951976" y="5687568"/>
            <a:ext cx="2359152"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IT support cost reduction from AIOps deployment per BCG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75488"/>
          </a:xfrm>
          <a:prstGeom prst="rect">
            <a:avLst/>
          </a:prstGeom>
          <a:solidFill>
            <a:srgbClr val="1B3A5C"/>
          </a:solidFill>
          <a:ln w="12700">
            <a:solidFill>
              <a:srgbClr val="1B3A5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28600" y="45720"/>
            <a:ext cx="1600200" cy="384048"/>
          </a:xfrm>
          <a:prstGeom prst="rect">
            <a:avLst/>
          </a:prstGeom>
        </p:spPr>
      </p:pic>
      <p:sp>
        <p:nvSpPr>
          <p:cNvPr id="4" name="Text 1"/>
          <p:cNvSpPr/>
          <p:nvPr/>
        </p:nvSpPr>
        <p:spPr>
          <a:xfrm>
            <a:off x="2103120" y="91440"/>
            <a:ext cx="8686800" cy="292608"/>
          </a:xfrm>
          <a:prstGeom prst="rect">
            <a:avLst/>
          </a:prstGeom>
          <a:noFill/>
          <a:ln/>
        </p:spPr>
        <p:txBody>
          <a:bodyPr wrap="square" lIns="0" tIns="0" rIns="0" bIns="0" rtlCol="0" anchor="ctr"/>
          <a:lstStyle/>
          <a:p>
            <a:pPr marL="0" indent="0">
              <a:buNone/>
            </a:pPr>
            <a:r>
              <a:rPr lang="en-US" sz="850" kern="0" spc="250" dirty="0">
                <a:solidFill>
                  <a:srgbClr val="D0DAE4"/>
                </a:solidFill>
                <a:latin typeface="Calibri" pitchFamily="34" charset="0"/>
                <a:ea typeface="Calibri" pitchFamily="34" charset="-122"/>
                <a:cs typeface="Calibri" pitchFamily="34" charset="-120"/>
              </a:rPr>
              <a:t>SOFTWARE AND ORCHESTRATION  ·  JOHANES</a:t>
            </a:r>
            <a:endParaRPr lang="en-US" sz="850" dirty="0"/>
          </a:p>
        </p:txBody>
      </p:sp>
      <p:sp>
        <p:nvSpPr>
          <p:cNvPr id="5" name="Text 2"/>
          <p:cNvSpPr/>
          <p:nvPr/>
        </p:nvSpPr>
        <p:spPr>
          <a:xfrm>
            <a:off x="11064240" y="91440"/>
            <a:ext cx="914400" cy="292608"/>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06 / 17</a:t>
            </a:r>
            <a:endParaRPr lang="en-US" sz="850" dirty="0"/>
          </a:p>
        </p:txBody>
      </p:sp>
      <p:sp>
        <p:nvSpPr>
          <p:cNvPr id="6" name="Shape 3"/>
          <p:cNvSpPr/>
          <p:nvPr/>
        </p:nvSpPr>
        <p:spPr>
          <a:xfrm>
            <a:off x="0" y="6537960"/>
            <a:ext cx="12188952" cy="320040"/>
          </a:xfrm>
          <a:prstGeom prst="rect">
            <a:avLst/>
          </a:prstGeom>
          <a:solidFill>
            <a:srgbClr val="F2F6FA"/>
          </a:solidFill>
          <a:ln w="12700">
            <a:solidFill>
              <a:srgbClr val="D0DAE4"/>
            </a:solidFill>
            <a:prstDash val="solid"/>
          </a:ln>
        </p:spPr>
        <p:txBody>
          <a:bodyPr/>
          <a:lstStyle/>
          <a:p>
            <a:endParaRPr lang="en-US"/>
          </a:p>
        </p:txBody>
      </p:sp>
      <p:sp>
        <p:nvSpPr>
          <p:cNvPr id="7" name="Text 4"/>
          <p:cNvSpPr/>
          <p:nvPr/>
        </p:nvSpPr>
        <p:spPr>
          <a:xfrm>
            <a:off x="274320" y="6565392"/>
            <a:ext cx="6400800" cy="256032"/>
          </a:xfrm>
          <a:prstGeom prst="rect">
            <a:avLst/>
          </a:prstGeom>
          <a:noFill/>
          <a:ln/>
        </p:spPr>
        <p:txBody>
          <a:bodyPr wrap="square" lIns="0" tIns="0" rIns="0" bIns="0" rtlCol="0" anchor="ctr"/>
          <a:lstStyle/>
          <a:p>
            <a:pPr marL="0" indent="0">
              <a:buNone/>
            </a:pPr>
            <a:r>
              <a:rPr lang="en-US" sz="750" dirty="0">
                <a:solidFill>
                  <a:srgbClr val="7B90A6"/>
                </a:solidFill>
                <a:latin typeface="Calibri" pitchFamily="34" charset="0"/>
                <a:ea typeface="Calibri" pitchFamily="34" charset="-122"/>
                <a:cs typeface="Calibri" pitchFamily="34" charset="-120"/>
              </a:rPr>
              <a:t>ClearVision Ventures  ·  Confidential  ·  April 2026</a:t>
            </a:r>
            <a:endParaRPr lang="en-US" sz="750" dirty="0"/>
          </a:p>
        </p:txBody>
      </p:sp>
      <p:sp>
        <p:nvSpPr>
          <p:cNvPr id="8" name="Text 5"/>
          <p:cNvSpPr/>
          <p:nvPr/>
        </p:nvSpPr>
        <p:spPr>
          <a:xfrm>
            <a:off x="411480" y="594360"/>
            <a:ext cx="10972800" cy="228600"/>
          </a:xfrm>
          <a:prstGeom prst="rect">
            <a:avLst/>
          </a:prstGeom>
          <a:noFill/>
          <a:ln/>
        </p:spPr>
        <p:txBody>
          <a:bodyPr wrap="square" lIns="0" tIns="0" rIns="0" bIns="0" rtlCol="0" anchor="ctr"/>
          <a:lstStyle/>
          <a:p>
            <a:pPr marL="0" indent="0">
              <a:buNone/>
            </a:pPr>
            <a:r>
              <a:rPr lang="en-US" sz="850" b="1" kern="0" spc="300" dirty="0">
                <a:solidFill>
                  <a:srgbClr val="2E6DA4"/>
                </a:solidFill>
                <a:latin typeface="Calibri" pitchFamily="34" charset="0"/>
                <a:ea typeface="Calibri" pitchFamily="34" charset="-122"/>
                <a:cs typeface="Calibri" pitchFamily="34" charset="-120"/>
              </a:rPr>
              <a:t>INVESTMENT CONVICTION</a:t>
            </a:r>
            <a:endParaRPr lang="en-US" sz="850" dirty="0"/>
          </a:p>
        </p:txBody>
      </p:sp>
      <p:sp>
        <p:nvSpPr>
          <p:cNvPr id="9" name="Text 6"/>
          <p:cNvSpPr/>
          <p:nvPr/>
        </p:nvSpPr>
        <p:spPr>
          <a:xfrm>
            <a:off x="411480" y="822960"/>
            <a:ext cx="11338560" cy="713232"/>
          </a:xfrm>
          <a:prstGeom prst="rect">
            <a:avLst/>
          </a:prstGeom>
          <a:noFill/>
          <a:ln/>
        </p:spPr>
        <p:txBody>
          <a:bodyPr wrap="square" lIns="0" tIns="0" rIns="0" bIns="0" rtlCol="0" anchor="ctr"/>
          <a:lstStyle/>
          <a:p>
            <a:pPr marL="0" indent="0">
              <a:buNone/>
            </a:pPr>
            <a:r>
              <a:rPr lang="en-US" sz="2800" b="1" dirty="0">
                <a:solidFill>
                  <a:srgbClr val="0F1E30"/>
                </a:solidFill>
                <a:latin typeface="Calibri" pitchFamily="34" charset="0"/>
                <a:ea typeface="Calibri" pitchFamily="34" charset="-122"/>
                <a:cs typeface="Calibri" pitchFamily="34" charset="-120"/>
              </a:rPr>
              <a:t>Three Software Categories Worth Owning Right Now</a:t>
            </a:r>
            <a:endParaRPr lang="en-US" sz="2800" dirty="0"/>
          </a:p>
        </p:txBody>
      </p:sp>
      <p:sp>
        <p:nvSpPr>
          <p:cNvPr id="10" name="Shape 7"/>
          <p:cNvSpPr/>
          <p:nvPr/>
        </p:nvSpPr>
        <p:spPr>
          <a:xfrm>
            <a:off x="411480" y="1536192"/>
            <a:ext cx="1005840" cy="41148"/>
          </a:xfrm>
          <a:prstGeom prst="rect">
            <a:avLst/>
          </a:prstGeom>
          <a:solidFill>
            <a:srgbClr val="2E6DA4"/>
          </a:solidFill>
          <a:ln w="12700">
            <a:solidFill>
              <a:srgbClr val="2E6DA4"/>
            </a:solidFill>
            <a:prstDash val="solid"/>
          </a:ln>
        </p:spPr>
        <p:txBody>
          <a:bodyPr/>
          <a:lstStyle/>
          <a:p>
            <a:endParaRPr lang="en-US"/>
          </a:p>
        </p:txBody>
      </p:sp>
      <p:sp>
        <p:nvSpPr>
          <p:cNvPr id="11" name="Text 8"/>
          <p:cNvSpPr/>
          <p:nvPr/>
        </p:nvSpPr>
        <p:spPr>
          <a:xfrm>
            <a:off x="411480" y="1627632"/>
            <a:ext cx="11338560" cy="384048"/>
          </a:xfrm>
          <a:prstGeom prst="rect">
            <a:avLst/>
          </a:prstGeom>
          <a:noFill/>
          <a:ln/>
        </p:spPr>
        <p:txBody>
          <a:bodyPr wrap="square" lIns="0" tIns="0" rIns="0" bIns="0" rtlCol="0" anchor="ctr"/>
          <a:lstStyle/>
          <a:p>
            <a:pPr marL="0" indent="0">
              <a:buNone/>
            </a:pPr>
            <a:r>
              <a:rPr lang="en-US" sz="1150" i="1" dirty="0">
                <a:solidFill>
                  <a:srgbClr val="2C3E50"/>
                </a:solidFill>
                <a:latin typeface="Calibri" pitchFamily="34" charset="0"/>
                <a:ea typeface="Calibri" pitchFamily="34" charset="-122"/>
                <a:cs typeface="Calibri" pitchFamily="34" charset="-120"/>
              </a:rPr>
              <a:t>The highest returns will come from software where AI has made the existing tools no longer good enough and no clear replacement vendor has emerged yet.</a:t>
            </a:r>
            <a:endParaRPr lang="en-US" sz="1150" dirty="0"/>
          </a:p>
        </p:txBody>
      </p:sp>
      <p:sp>
        <p:nvSpPr>
          <p:cNvPr id="12" name="Shape 9"/>
          <p:cNvSpPr/>
          <p:nvPr/>
        </p:nvSpPr>
        <p:spPr>
          <a:xfrm>
            <a:off x="411480" y="2148840"/>
            <a:ext cx="3657600" cy="342900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3" name="Shape 10"/>
          <p:cNvSpPr/>
          <p:nvPr/>
        </p:nvSpPr>
        <p:spPr>
          <a:xfrm>
            <a:off x="411480" y="2148840"/>
            <a:ext cx="3657600" cy="54864"/>
          </a:xfrm>
          <a:prstGeom prst="rect">
            <a:avLst/>
          </a:prstGeom>
          <a:solidFill>
            <a:srgbClr val="1B3A5C"/>
          </a:solidFill>
          <a:ln w="12700">
            <a:solidFill>
              <a:srgbClr val="1B3A5C"/>
            </a:solidFill>
            <a:prstDash val="solid"/>
          </a:ln>
        </p:spPr>
        <p:txBody>
          <a:bodyPr/>
          <a:lstStyle/>
          <a:p>
            <a:endParaRPr lang="en-US"/>
          </a:p>
        </p:txBody>
      </p:sp>
      <p:sp>
        <p:nvSpPr>
          <p:cNvPr id="14" name="Text 11"/>
          <p:cNvSpPr/>
          <p:nvPr/>
        </p:nvSpPr>
        <p:spPr>
          <a:xfrm>
            <a:off x="576072" y="2240280"/>
            <a:ext cx="548640" cy="411480"/>
          </a:xfrm>
          <a:prstGeom prst="rect">
            <a:avLst/>
          </a:prstGeom>
          <a:noFill/>
          <a:ln/>
        </p:spPr>
        <p:txBody>
          <a:bodyPr wrap="square" lIns="0" tIns="0" rIns="0" bIns="0" rtlCol="0" anchor="ctr"/>
          <a:lstStyle/>
          <a:p>
            <a:pPr marL="0" indent="0">
              <a:buNone/>
            </a:pPr>
            <a:r>
              <a:rPr lang="en-US" sz="2600" b="1" dirty="0">
                <a:solidFill>
                  <a:srgbClr val="1B3A5C"/>
                </a:solidFill>
                <a:latin typeface="Calibri" pitchFamily="34" charset="0"/>
                <a:ea typeface="Calibri" pitchFamily="34" charset="-122"/>
                <a:cs typeface="Calibri" pitchFamily="34" charset="-120"/>
              </a:rPr>
              <a:t>01</a:t>
            </a:r>
            <a:endParaRPr lang="en-US" sz="2600" dirty="0"/>
          </a:p>
        </p:txBody>
      </p:sp>
      <p:sp>
        <p:nvSpPr>
          <p:cNvPr id="15" name="Text 12"/>
          <p:cNvSpPr/>
          <p:nvPr/>
        </p:nvSpPr>
        <p:spPr>
          <a:xfrm>
            <a:off x="576072" y="2651760"/>
            <a:ext cx="3328416" cy="566928"/>
          </a:xfrm>
          <a:prstGeom prst="rect">
            <a:avLst/>
          </a:prstGeom>
          <a:noFill/>
          <a:ln/>
        </p:spPr>
        <p:txBody>
          <a:bodyPr wrap="square" lIns="0" tIns="0" rIns="0" bIns="0" rtlCol="0" anchor="ctr"/>
          <a:lstStyle/>
          <a:p>
            <a:pPr marL="0" indent="0">
              <a:buNone/>
            </a:pPr>
            <a:r>
              <a:rPr lang="en-US" sz="1200" b="1" dirty="0">
                <a:solidFill>
                  <a:srgbClr val="0F1E30"/>
                </a:solidFill>
                <a:latin typeface="Calibri" pitchFamily="34" charset="0"/>
                <a:ea typeface="Calibri" pitchFamily="34" charset="-122"/>
                <a:cs typeface="Calibri" pitchFamily="34" charset="-120"/>
              </a:rPr>
              <a:t>AI Native DCIM and Energy Optimization</a:t>
            </a:r>
            <a:endParaRPr lang="en-US" sz="1200" dirty="0"/>
          </a:p>
        </p:txBody>
      </p:sp>
      <p:sp>
        <p:nvSpPr>
          <p:cNvPr id="16" name="Text 13"/>
          <p:cNvSpPr/>
          <p:nvPr/>
        </p:nvSpPr>
        <p:spPr>
          <a:xfrm>
            <a:off x="576072" y="3246120"/>
            <a:ext cx="3328416" cy="237744"/>
          </a:xfrm>
          <a:prstGeom prst="rect">
            <a:avLst/>
          </a:prstGeom>
          <a:noFill/>
          <a:ln/>
        </p:spPr>
        <p:txBody>
          <a:bodyPr wrap="square" lIns="0" tIns="0" rIns="0" bIns="0" rtlCol="0" anchor="ctr"/>
          <a:lstStyle/>
          <a:p>
            <a:pPr marL="0" indent="0">
              <a:buNone/>
            </a:pPr>
            <a:r>
              <a:rPr lang="en-US" sz="950" i="1" dirty="0">
                <a:solidFill>
                  <a:srgbClr val="1B3A5C"/>
                </a:solidFill>
                <a:latin typeface="Calibri" pitchFamily="34" charset="0"/>
                <a:ea typeface="Calibri" pitchFamily="34" charset="-122"/>
                <a:cs typeface="Calibri" pitchFamily="34" charset="-120"/>
              </a:rPr>
              <a:t>Seed to Series B</a:t>
            </a:r>
            <a:endParaRPr lang="en-US" sz="950" dirty="0"/>
          </a:p>
        </p:txBody>
      </p:sp>
      <p:sp>
        <p:nvSpPr>
          <p:cNvPr id="17" name="Shape 14"/>
          <p:cNvSpPr/>
          <p:nvPr/>
        </p:nvSpPr>
        <p:spPr>
          <a:xfrm>
            <a:off x="576072" y="3520440"/>
            <a:ext cx="3328416" cy="27432"/>
          </a:xfrm>
          <a:prstGeom prst="rect">
            <a:avLst/>
          </a:prstGeom>
          <a:solidFill>
            <a:srgbClr val="D0DAE4"/>
          </a:solidFill>
          <a:ln w="12700">
            <a:solidFill>
              <a:srgbClr val="D0DAE4"/>
            </a:solidFill>
            <a:prstDash val="solid"/>
          </a:ln>
        </p:spPr>
        <p:txBody>
          <a:bodyPr/>
          <a:lstStyle/>
          <a:p>
            <a:endParaRPr lang="en-US"/>
          </a:p>
        </p:txBody>
      </p:sp>
      <p:sp>
        <p:nvSpPr>
          <p:cNvPr id="18" name="Shape 15"/>
          <p:cNvSpPr/>
          <p:nvPr/>
        </p:nvSpPr>
        <p:spPr>
          <a:xfrm>
            <a:off x="914400" y="914400"/>
            <a:ext cx="914400" cy="914400"/>
          </a:xfrm>
          <a:prstGeom prst="line">
            <a:avLst/>
          </a:prstGeom>
          <a:noFill/>
          <a:ln/>
        </p:spPr>
        <p:txBody>
          <a:bodyPr/>
          <a:lstStyle/>
          <a:p>
            <a:endParaRPr lang="en-US"/>
          </a:p>
        </p:txBody>
      </p:sp>
      <p:sp>
        <p:nvSpPr>
          <p:cNvPr id="19" name="Text 16"/>
          <p:cNvSpPr/>
          <p:nvPr/>
        </p:nvSpPr>
        <p:spPr>
          <a:xfrm>
            <a:off x="722376" y="3621024"/>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No category leader has emerged. Top 5 DCIM players hold only 26% combined market share.</a:t>
            </a:r>
            <a:endParaRPr lang="en-US" sz="950" dirty="0"/>
          </a:p>
        </p:txBody>
      </p:sp>
      <p:sp>
        <p:nvSpPr>
          <p:cNvPr id="20" name="Shape 17"/>
          <p:cNvSpPr/>
          <p:nvPr/>
        </p:nvSpPr>
        <p:spPr>
          <a:xfrm>
            <a:off x="914400" y="914400"/>
            <a:ext cx="914400" cy="914400"/>
          </a:xfrm>
          <a:prstGeom prst="line">
            <a:avLst/>
          </a:prstGeom>
          <a:noFill/>
          <a:ln/>
        </p:spPr>
        <p:txBody>
          <a:bodyPr/>
          <a:lstStyle/>
          <a:p>
            <a:endParaRPr lang="en-US"/>
          </a:p>
        </p:txBody>
      </p:sp>
      <p:sp>
        <p:nvSpPr>
          <p:cNvPr id="21" name="Text 18"/>
          <p:cNvSpPr/>
          <p:nvPr/>
        </p:nvSpPr>
        <p:spPr>
          <a:xfrm>
            <a:off x="722376" y="3950208"/>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DCIM market at $3.7 to $4.7B growing at 15 to 23% CAGR. Substantial whitespace ahead.</a:t>
            </a:r>
            <a:endParaRPr lang="en-US" sz="950" dirty="0"/>
          </a:p>
        </p:txBody>
      </p:sp>
      <p:sp>
        <p:nvSpPr>
          <p:cNvPr id="22" name="Shape 19"/>
          <p:cNvSpPr/>
          <p:nvPr/>
        </p:nvSpPr>
        <p:spPr>
          <a:xfrm>
            <a:off x="914400" y="914400"/>
            <a:ext cx="914400" cy="914400"/>
          </a:xfrm>
          <a:prstGeom prst="line">
            <a:avLst/>
          </a:prstGeom>
          <a:noFill/>
          <a:ln/>
        </p:spPr>
        <p:txBody>
          <a:bodyPr/>
          <a:lstStyle/>
          <a:p>
            <a:endParaRPr lang="en-US"/>
          </a:p>
        </p:txBody>
      </p:sp>
      <p:sp>
        <p:nvSpPr>
          <p:cNvPr id="23" name="Text 20"/>
          <p:cNvSpPr/>
          <p:nvPr/>
        </p:nvSpPr>
        <p:spPr>
          <a:xfrm>
            <a:off x="722376" y="4279392"/>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Energy regulation through EU EED and EPA creates non-discretionary procurement demand.</a:t>
            </a:r>
            <a:endParaRPr lang="en-US" sz="950" dirty="0"/>
          </a:p>
        </p:txBody>
      </p:sp>
      <p:sp>
        <p:nvSpPr>
          <p:cNvPr id="24" name="Shape 21"/>
          <p:cNvSpPr/>
          <p:nvPr/>
        </p:nvSpPr>
        <p:spPr>
          <a:xfrm>
            <a:off x="914400" y="914400"/>
            <a:ext cx="914400" cy="914400"/>
          </a:xfrm>
          <a:prstGeom prst="line">
            <a:avLst/>
          </a:prstGeom>
          <a:noFill/>
          <a:ln/>
        </p:spPr>
        <p:txBody>
          <a:bodyPr/>
          <a:lstStyle/>
          <a:p>
            <a:endParaRPr lang="en-US"/>
          </a:p>
        </p:txBody>
      </p:sp>
      <p:sp>
        <p:nvSpPr>
          <p:cNvPr id="25" name="Text 22"/>
          <p:cNvSpPr/>
          <p:nvPr/>
        </p:nvSpPr>
        <p:spPr>
          <a:xfrm>
            <a:off x="722376" y="4608576"/>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Google DeepMind AI cooling achieved 40% reduction in cooling energy. Thesis validated.</a:t>
            </a:r>
            <a:endParaRPr lang="en-US" sz="950" dirty="0"/>
          </a:p>
        </p:txBody>
      </p:sp>
      <p:sp>
        <p:nvSpPr>
          <p:cNvPr id="26" name="Shape 23"/>
          <p:cNvSpPr/>
          <p:nvPr/>
        </p:nvSpPr>
        <p:spPr>
          <a:xfrm>
            <a:off x="914400" y="914400"/>
            <a:ext cx="914400" cy="914400"/>
          </a:xfrm>
          <a:prstGeom prst="line">
            <a:avLst/>
          </a:prstGeom>
          <a:noFill/>
          <a:ln/>
        </p:spPr>
        <p:txBody>
          <a:bodyPr/>
          <a:lstStyle/>
          <a:p>
            <a:endParaRPr lang="en-US"/>
          </a:p>
        </p:txBody>
      </p:sp>
      <p:sp>
        <p:nvSpPr>
          <p:cNvPr id="27" name="Text 24"/>
          <p:cNvSpPr/>
          <p:nvPr/>
        </p:nvSpPr>
        <p:spPr>
          <a:xfrm>
            <a:off x="722376" y="4937760"/>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One percent efficiency gain equals $200M annual savings across North America and Europe.</a:t>
            </a:r>
            <a:endParaRPr lang="en-US" sz="950" dirty="0"/>
          </a:p>
        </p:txBody>
      </p:sp>
      <p:sp>
        <p:nvSpPr>
          <p:cNvPr id="28" name="Shape 25"/>
          <p:cNvSpPr/>
          <p:nvPr/>
        </p:nvSpPr>
        <p:spPr>
          <a:xfrm>
            <a:off x="914400" y="914400"/>
            <a:ext cx="914400" cy="914400"/>
          </a:xfrm>
          <a:prstGeom prst="line">
            <a:avLst/>
          </a:prstGeom>
          <a:noFill/>
          <a:ln/>
        </p:spPr>
        <p:txBody>
          <a:bodyPr/>
          <a:lstStyle/>
          <a:p>
            <a:endParaRPr lang="en-US"/>
          </a:p>
        </p:txBody>
      </p:sp>
      <p:sp>
        <p:nvSpPr>
          <p:cNvPr id="29" name="Text 26"/>
          <p:cNvSpPr/>
          <p:nvPr/>
        </p:nvSpPr>
        <p:spPr>
          <a:xfrm>
            <a:off x="722376" y="5266944"/>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Hyperscaler threat is low. They have no incentive to build software for third party operators.</a:t>
            </a:r>
            <a:endParaRPr lang="en-US" sz="950" dirty="0"/>
          </a:p>
        </p:txBody>
      </p:sp>
      <p:sp>
        <p:nvSpPr>
          <p:cNvPr id="30" name="Shape 27"/>
          <p:cNvSpPr/>
          <p:nvPr/>
        </p:nvSpPr>
        <p:spPr>
          <a:xfrm>
            <a:off x="4215384" y="2148840"/>
            <a:ext cx="3657600" cy="342900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31" name="Shape 28"/>
          <p:cNvSpPr/>
          <p:nvPr/>
        </p:nvSpPr>
        <p:spPr>
          <a:xfrm>
            <a:off x="4215384" y="2148840"/>
            <a:ext cx="3657600" cy="54864"/>
          </a:xfrm>
          <a:prstGeom prst="rect">
            <a:avLst/>
          </a:prstGeom>
          <a:solidFill>
            <a:srgbClr val="2E6DA4"/>
          </a:solidFill>
          <a:ln w="12700">
            <a:solidFill>
              <a:srgbClr val="2E6DA4"/>
            </a:solidFill>
            <a:prstDash val="solid"/>
          </a:ln>
        </p:spPr>
        <p:txBody>
          <a:bodyPr/>
          <a:lstStyle/>
          <a:p>
            <a:endParaRPr lang="en-US"/>
          </a:p>
        </p:txBody>
      </p:sp>
      <p:sp>
        <p:nvSpPr>
          <p:cNvPr id="32" name="Text 29"/>
          <p:cNvSpPr/>
          <p:nvPr/>
        </p:nvSpPr>
        <p:spPr>
          <a:xfrm>
            <a:off x="4379976" y="2240280"/>
            <a:ext cx="548640" cy="411480"/>
          </a:xfrm>
          <a:prstGeom prst="rect">
            <a:avLst/>
          </a:prstGeom>
          <a:noFill/>
          <a:ln/>
        </p:spPr>
        <p:txBody>
          <a:bodyPr wrap="square" lIns="0" tIns="0" rIns="0" bIns="0" rtlCol="0" anchor="ctr"/>
          <a:lstStyle/>
          <a:p>
            <a:pPr marL="0" indent="0">
              <a:buNone/>
            </a:pPr>
            <a:r>
              <a:rPr lang="en-US" sz="2600" b="1" dirty="0">
                <a:solidFill>
                  <a:srgbClr val="2E6DA4"/>
                </a:solidFill>
                <a:latin typeface="Calibri" pitchFamily="34" charset="0"/>
                <a:ea typeface="Calibri" pitchFamily="34" charset="-122"/>
                <a:cs typeface="Calibri" pitchFamily="34" charset="-120"/>
              </a:rPr>
              <a:t>02</a:t>
            </a:r>
            <a:endParaRPr lang="en-US" sz="2600" dirty="0"/>
          </a:p>
        </p:txBody>
      </p:sp>
      <p:sp>
        <p:nvSpPr>
          <p:cNvPr id="33" name="Text 30"/>
          <p:cNvSpPr/>
          <p:nvPr/>
        </p:nvSpPr>
        <p:spPr>
          <a:xfrm>
            <a:off x="4379976" y="2651760"/>
            <a:ext cx="3328416" cy="566928"/>
          </a:xfrm>
          <a:prstGeom prst="rect">
            <a:avLst/>
          </a:prstGeom>
          <a:noFill/>
          <a:ln/>
        </p:spPr>
        <p:txBody>
          <a:bodyPr wrap="square" lIns="0" tIns="0" rIns="0" bIns="0" rtlCol="0" anchor="ctr"/>
          <a:lstStyle/>
          <a:p>
            <a:pPr marL="0" indent="0">
              <a:buNone/>
            </a:pPr>
            <a:r>
              <a:rPr lang="en-US" sz="1200" b="1" dirty="0">
                <a:solidFill>
                  <a:srgbClr val="0F1E30"/>
                </a:solidFill>
                <a:latin typeface="Calibri" pitchFamily="34" charset="0"/>
                <a:ea typeface="Calibri" pitchFamily="34" charset="-122"/>
                <a:cs typeface="Calibri" pitchFamily="34" charset="-120"/>
              </a:rPr>
              <a:t>Inference Optimization and Multi Cloud MLOps</a:t>
            </a:r>
            <a:endParaRPr lang="en-US" sz="1200" dirty="0"/>
          </a:p>
        </p:txBody>
      </p:sp>
      <p:sp>
        <p:nvSpPr>
          <p:cNvPr id="34" name="Text 31"/>
          <p:cNvSpPr/>
          <p:nvPr/>
        </p:nvSpPr>
        <p:spPr>
          <a:xfrm>
            <a:off x="4379976" y="3246120"/>
            <a:ext cx="3328416" cy="237744"/>
          </a:xfrm>
          <a:prstGeom prst="rect">
            <a:avLst/>
          </a:prstGeom>
          <a:noFill/>
          <a:ln/>
        </p:spPr>
        <p:txBody>
          <a:bodyPr wrap="square" lIns="0" tIns="0" rIns="0" bIns="0" rtlCol="0" anchor="ctr"/>
          <a:lstStyle/>
          <a:p>
            <a:pPr marL="0" indent="0">
              <a:buNone/>
            </a:pPr>
            <a:r>
              <a:rPr lang="en-US" sz="950" i="1" dirty="0">
                <a:solidFill>
                  <a:srgbClr val="2E6DA4"/>
                </a:solidFill>
                <a:latin typeface="Calibri" pitchFamily="34" charset="0"/>
                <a:ea typeface="Calibri" pitchFamily="34" charset="-122"/>
                <a:cs typeface="Calibri" pitchFamily="34" charset="-120"/>
              </a:rPr>
              <a:t>Series A to B</a:t>
            </a:r>
            <a:endParaRPr lang="en-US" sz="950" dirty="0"/>
          </a:p>
        </p:txBody>
      </p:sp>
      <p:sp>
        <p:nvSpPr>
          <p:cNvPr id="35" name="Shape 32"/>
          <p:cNvSpPr/>
          <p:nvPr/>
        </p:nvSpPr>
        <p:spPr>
          <a:xfrm>
            <a:off x="4379976" y="3520440"/>
            <a:ext cx="3328416" cy="27432"/>
          </a:xfrm>
          <a:prstGeom prst="rect">
            <a:avLst/>
          </a:prstGeom>
          <a:solidFill>
            <a:srgbClr val="D0DAE4"/>
          </a:solidFill>
          <a:ln w="12700">
            <a:solidFill>
              <a:srgbClr val="D0DAE4"/>
            </a:solidFill>
            <a:prstDash val="solid"/>
          </a:ln>
        </p:spPr>
        <p:txBody>
          <a:bodyPr/>
          <a:lstStyle/>
          <a:p>
            <a:endParaRPr lang="en-US"/>
          </a:p>
        </p:txBody>
      </p:sp>
      <p:sp>
        <p:nvSpPr>
          <p:cNvPr id="36" name="Shape 33"/>
          <p:cNvSpPr/>
          <p:nvPr/>
        </p:nvSpPr>
        <p:spPr>
          <a:xfrm>
            <a:off x="914400" y="914400"/>
            <a:ext cx="914400" cy="914400"/>
          </a:xfrm>
          <a:prstGeom prst="line">
            <a:avLst/>
          </a:prstGeom>
          <a:noFill/>
          <a:ln/>
        </p:spPr>
        <p:txBody>
          <a:bodyPr/>
          <a:lstStyle/>
          <a:p>
            <a:endParaRPr lang="en-US"/>
          </a:p>
        </p:txBody>
      </p:sp>
      <p:sp>
        <p:nvSpPr>
          <p:cNvPr id="37" name="Text 34"/>
          <p:cNvSpPr/>
          <p:nvPr/>
        </p:nvSpPr>
        <p:spPr>
          <a:xfrm>
            <a:off x="4526280" y="3621024"/>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MLOps market grows from $2.33B in 2025 to $25.9B by 2034 at 28.9% CAGR.</a:t>
            </a:r>
            <a:endParaRPr lang="en-US" sz="950" dirty="0"/>
          </a:p>
        </p:txBody>
      </p:sp>
      <p:sp>
        <p:nvSpPr>
          <p:cNvPr id="38" name="Shape 35"/>
          <p:cNvSpPr/>
          <p:nvPr/>
        </p:nvSpPr>
        <p:spPr>
          <a:xfrm>
            <a:off x="914400" y="914400"/>
            <a:ext cx="914400" cy="914400"/>
          </a:xfrm>
          <a:prstGeom prst="line">
            <a:avLst/>
          </a:prstGeom>
          <a:noFill/>
          <a:ln/>
        </p:spPr>
        <p:txBody>
          <a:bodyPr/>
          <a:lstStyle/>
          <a:p>
            <a:endParaRPr lang="en-US"/>
          </a:p>
        </p:txBody>
      </p:sp>
      <p:sp>
        <p:nvSpPr>
          <p:cNvPr id="39" name="Text 36"/>
          <p:cNvSpPr/>
          <p:nvPr/>
        </p:nvSpPr>
        <p:spPr>
          <a:xfrm>
            <a:off x="4526280" y="3950208"/>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2026 is the structural inflection point from model training to inference deployment at scale.</a:t>
            </a:r>
            <a:endParaRPr lang="en-US" sz="950" dirty="0"/>
          </a:p>
        </p:txBody>
      </p:sp>
      <p:sp>
        <p:nvSpPr>
          <p:cNvPr id="40" name="Shape 37"/>
          <p:cNvSpPr/>
          <p:nvPr/>
        </p:nvSpPr>
        <p:spPr>
          <a:xfrm>
            <a:off x="914400" y="914400"/>
            <a:ext cx="914400" cy="914400"/>
          </a:xfrm>
          <a:prstGeom prst="line">
            <a:avLst/>
          </a:prstGeom>
          <a:noFill/>
          <a:ln/>
        </p:spPr>
        <p:txBody>
          <a:bodyPr/>
          <a:lstStyle/>
          <a:p>
            <a:endParaRPr lang="en-US"/>
          </a:p>
        </p:txBody>
      </p:sp>
      <p:sp>
        <p:nvSpPr>
          <p:cNvPr id="41" name="Text 38"/>
          <p:cNvSpPr/>
          <p:nvPr/>
        </p:nvSpPr>
        <p:spPr>
          <a:xfrm>
            <a:off x="4526280" y="4279392"/>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Reasoning models use 5 to 10 times more compute per query. Inference cost is urgent.</a:t>
            </a:r>
            <a:endParaRPr lang="en-US" sz="950" dirty="0"/>
          </a:p>
        </p:txBody>
      </p:sp>
      <p:sp>
        <p:nvSpPr>
          <p:cNvPr id="42" name="Shape 39"/>
          <p:cNvSpPr/>
          <p:nvPr/>
        </p:nvSpPr>
        <p:spPr>
          <a:xfrm>
            <a:off x="914400" y="914400"/>
            <a:ext cx="914400" cy="914400"/>
          </a:xfrm>
          <a:prstGeom prst="line">
            <a:avLst/>
          </a:prstGeom>
          <a:noFill/>
          <a:ln/>
        </p:spPr>
        <p:txBody>
          <a:bodyPr/>
          <a:lstStyle/>
          <a:p>
            <a:endParaRPr lang="en-US"/>
          </a:p>
        </p:txBody>
      </p:sp>
      <p:sp>
        <p:nvSpPr>
          <p:cNvPr id="43" name="Text 40"/>
          <p:cNvSpPr/>
          <p:nvPr/>
        </p:nvSpPr>
        <p:spPr>
          <a:xfrm>
            <a:off x="4526280" y="4608576"/>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Lambda raised $1.5B Series E in Q4 2025 confirming deep investor conviction in the category.</a:t>
            </a:r>
            <a:endParaRPr lang="en-US" sz="950" dirty="0"/>
          </a:p>
        </p:txBody>
      </p:sp>
      <p:sp>
        <p:nvSpPr>
          <p:cNvPr id="44" name="Shape 41"/>
          <p:cNvSpPr/>
          <p:nvPr/>
        </p:nvSpPr>
        <p:spPr>
          <a:xfrm>
            <a:off x="914400" y="914400"/>
            <a:ext cx="914400" cy="914400"/>
          </a:xfrm>
          <a:prstGeom prst="line">
            <a:avLst/>
          </a:prstGeom>
          <a:noFill/>
          <a:ln/>
        </p:spPr>
        <p:txBody>
          <a:bodyPr/>
          <a:lstStyle/>
          <a:p>
            <a:endParaRPr lang="en-US"/>
          </a:p>
        </p:txBody>
      </p:sp>
      <p:sp>
        <p:nvSpPr>
          <p:cNvPr id="45" name="Text 42"/>
          <p:cNvSpPr/>
          <p:nvPr/>
        </p:nvSpPr>
        <p:spPr>
          <a:xfrm>
            <a:off x="4526280" y="4937760"/>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Multi cloud MLOps is structurally protected from hyperscaler substitution.</a:t>
            </a:r>
            <a:endParaRPr lang="en-US" sz="950" dirty="0"/>
          </a:p>
        </p:txBody>
      </p:sp>
      <p:sp>
        <p:nvSpPr>
          <p:cNvPr id="46" name="Shape 43"/>
          <p:cNvSpPr/>
          <p:nvPr/>
        </p:nvSpPr>
        <p:spPr>
          <a:xfrm>
            <a:off x="914400" y="914400"/>
            <a:ext cx="914400" cy="914400"/>
          </a:xfrm>
          <a:prstGeom prst="line">
            <a:avLst/>
          </a:prstGeom>
          <a:noFill/>
          <a:ln/>
        </p:spPr>
        <p:txBody>
          <a:bodyPr/>
          <a:lstStyle/>
          <a:p>
            <a:endParaRPr lang="en-US"/>
          </a:p>
        </p:txBody>
      </p:sp>
      <p:sp>
        <p:nvSpPr>
          <p:cNvPr id="47" name="Text 44"/>
          <p:cNvSpPr/>
          <p:nvPr/>
        </p:nvSpPr>
        <p:spPr>
          <a:xfrm>
            <a:off x="4526280" y="5266944"/>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No clear winner has emerged in inference optimization. The market is still open.</a:t>
            </a:r>
            <a:endParaRPr lang="en-US" sz="950" dirty="0"/>
          </a:p>
        </p:txBody>
      </p:sp>
      <p:sp>
        <p:nvSpPr>
          <p:cNvPr id="48" name="Shape 45"/>
          <p:cNvSpPr/>
          <p:nvPr/>
        </p:nvSpPr>
        <p:spPr>
          <a:xfrm>
            <a:off x="8019288" y="2148840"/>
            <a:ext cx="3657600" cy="342900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49" name="Shape 46"/>
          <p:cNvSpPr/>
          <p:nvPr/>
        </p:nvSpPr>
        <p:spPr>
          <a:xfrm>
            <a:off x="8019288" y="2148840"/>
            <a:ext cx="3657600" cy="54864"/>
          </a:xfrm>
          <a:prstGeom prst="rect">
            <a:avLst/>
          </a:prstGeom>
          <a:solidFill>
            <a:srgbClr val="1F7A5C"/>
          </a:solidFill>
          <a:ln w="12700">
            <a:solidFill>
              <a:srgbClr val="1F7A5C"/>
            </a:solidFill>
            <a:prstDash val="solid"/>
          </a:ln>
        </p:spPr>
        <p:txBody>
          <a:bodyPr/>
          <a:lstStyle/>
          <a:p>
            <a:endParaRPr lang="en-US"/>
          </a:p>
        </p:txBody>
      </p:sp>
      <p:sp>
        <p:nvSpPr>
          <p:cNvPr id="50" name="Text 47"/>
          <p:cNvSpPr/>
          <p:nvPr/>
        </p:nvSpPr>
        <p:spPr>
          <a:xfrm>
            <a:off x="8183880" y="2240280"/>
            <a:ext cx="548640" cy="411480"/>
          </a:xfrm>
          <a:prstGeom prst="rect">
            <a:avLst/>
          </a:prstGeom>
          <a:noFill/>
          <a:ln/>
        </p:spPr>
        <p:txBody>
          <a:bodyPr wrap="square" lIns="0" tIns="0" rIns="0" bIns="0" rtlCol="0" anchor="ctr"/>
          <a:lstStyle/>
          <a:p>
            <a:pPr marL="0" indent="0">
              <a:buNone/>
            </a:pPr>
            <a:r>
              <a:rPr lang="en-US" sz="2600" b="1" dirty="0">
                <a:solidFill>
                  <a:srgbClr val="1F7A5C"/>
                </a:solidFill>
                <a:latin typeface="Calibri" pitchFamily="34" charset="0"/>
                <a:ea typeface="Calibri" pitchFamily="34" charset="-122"/>
                <a:cs typeface="Calibri" pitchFamily="34" charset="-120"/>
              </a:rPr>
              <a:t>03</a:t>
            </a:r>
            <a:endParaRPr lang="en-US" sz="2600" dirty="0"/>
          </a:p>
        </p:txBody>
      </p:sp>
      <p:sp>
        <p:nvSpPr>
          <p:cNvPr id="51" name="Text 48"/>
          <p:cNvSpPr/>
          <p:nvPr/>
        </p:nvSpPr>
        <p:spPr>
          <a:xfrm>
            <a:off x="8183880" y="2651760"/>
            <a:ext cx="3328416" cy="566928"/>
          </a:xfrm>
          <a:prstGeom prst="rect">
            <a:avLst/>
          </a:prstGeom>
          <a:noFill/>
          <a:ln/>
        </p:spPr>
        <p:txBody>
          <a:bodyPr wrap="square" lIns="0" tIns="0" rIns="0" bIns="0" rtlCol="0" anchor="ctr"/>
          <a:lstStyle/>
          <a:p>
            <a:pPr marL="0" indent="0">
              <a:buNone/>
            </a:pPr>
            <a:r>
              <a:rPr lang="en-US" sz="1200" b="1" dirty="0">
                <a:solidFill>
                  <a:srgbClr val="0F1E30"/>
                </a:solidFill>
                <a:latin typeface="Calibri" pitchFamily="34" charset="0"/>
                <a:ea typeface="Calibri" pitchFamily="34" charset="-122"/>
                <a:cs typeface="Calibri" pitchFamily="34" charset="-120"/>
              </a:rPr>
              <a:t>Zero Trust and AI Compliance Automation</a:t>
            </a:r>
            <a:endParaRPr lang="en-US" sz="1200" dirty="0"/>
          </a:p>
        </p:txBody>
      </p:sp>
      <p:sp>
        <p:nvSpPr>
          <p:cNvPr id="52" name="Text 49"/>
          <p:cNvSpPr/>
          <p:nvPr/>
        </p:nvSpPr>
        <p:spPr>
          <a:xfrm>
            <a:off x="8183880" y="3246120"/>
            <a:ext cx="3328416" cy="237744"/>
          </a:xfrm>
          <a:prstGeom prst="rect">
            <a:avLst/>
          </a:prstGeom>
          <a:noFill/>
          <a:ln/>
        </p:spPr>
        <p:txBody>
          <a:bodyPr wrap="square" lIns="0" tIns="0" rIns="0" bIns="0" rtlCol="0" anchor="ctr"/>
          <a:lstStyle/>
          <a:p>
            <a:pPr marL="0" indent="0">
              <a:buNone/>
            </a:pPr>
            <a:r>
              <a:rPr lang="en-US" sz="950" i="1" dirty="0">
                <a:solidFill>
                  <a:srgbClr val="1F7A5C"/>
                </a:solidFill>
                <a:latin typeface="Calibri" pitchFamily="34" charset="0"/>
                <a:ea typeface="Calibri" pitchFamily="34" charset="-122"/>
                <a:cs typeface="Calibri" pitchFamily="34" charset="-120"/>
              </a:rPr>
              <a:t>Seed to Series A</a:t>
            </a:r>
            <a:endParaRPr lang="en-US" sz="950" dirty="0"/>
          </a:p>
        </p:txBody>
      </p:sp>
      <p:sp>
        <p:nvSpPr>
          <p:cNvPr id="53" name="Shape 50"/>
          <p:cNvSpPr/>
          <p:nvPr/>
        </p:nvSpPr>
        <p:spPr>
          <a:xfrm>
            <a:off x="8183880" y="3520440"/>
            <a:ext cx="3328416" cy="27432"/>
          </a:xfrm>
          <a:prstGeom prst="rect">
            <a:avLst/>
          </a:prstGeom>
          <a:solidFill>
            <a:srgbClr val="D0DAE4"/>
          </a:solidFill>
          <a:ln w="12700">
            <a:solidFill>
              <a:srgbClr val="D0DAE4"/>
            </a:solidFill>
            <a:prstDash val="solid"/>
          </a:ln>
        </p:spPr>
        <p:txBody>
          <a:bodyPr/>
          <a:lstStyle/>
          <a:p>
            <a:endParaRPr lang="en-US"/>
          </a:p>
        </p:txBody>
      </p:sp>
      <p:sp>
        <p:nvSpPr>
          <p:cNvPr id="54" name="Shape 51"/>
          <p:cNvSpPr/>
          <p:nvPr/>
        </p:nvSpPr>
        <p:spPr>
          <a:xfrm>
            <a:off x="914400" y="914400"/>
            <a:ext cx="914400" cy="914400"/>
          </a:xfrm>
          <a:prstGeom prst="line">
            <a:avLst/>
          </a:prstGeom>
          <a:noFill/>
          <a:ln/>
        </p:spPr>
        <p:txBody>
          <a:bodyPr/>
          <a:lstStyle/>
          <a:p>
            <a:endParaRPr lang="en-US"/>
          </a:p>
        </p:txBody>
      </p:sp>
      <p:sp>
        <p:nvSpPr>
          <p:cNvPr id="55" name="Text 52"/>
          <p:cNvSpPr/>
          <p:nvPr/>
        </p:nvSpPr>
        <p:spPr>
          <a:xfrm>
            <a:off x="8330184" y="3621024"/>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Data center security market at $17.9B in 2025 growing at 11.9% CAGR.</a:t>
            </a:r>
            <a:endParaRPr lang="en-US" sz="950" dirty="0"/>
          </a:p>
        </p:txBody>
      </p:sp>
      <p:sp>
        <p:nvSpPr>
          <p:cNvPr id="56" name="Shape 53"/>
          <p:cNvSpPr/>
          <p:nvPr/>
        </p:nvSpPr>
        <p:spPr>
          <a:xfrm>
            <a:off x="914400" y="914400"/>
            <a:ext cx="914400" cy="914400"/>
          </a:xfrm>
          <a:prstGeom prst="line">
            <a:avLst/>
          </a:prstGeom>
          <a:noFill/>
          <a:ln/>
        </p:spPr>
        <p:txBody>
          <a:bodyPr/>
          <a:lstStyle/>
          <a:p>
            <a:endParaRPr lang="en-US"/>
          </a:p>
        </p:txBody>
      </p:sp>
      <p:sp>
        <p:nvSpPr>
          <p:cNvPr id="57" name="Text 54"/>
          <p:cNvSpPr/>
          <p:nvPr/>
        </p:nvSpPr>
        <p:spPr>
          <a:xfrm>
            <a:off x="8330184" y="3950208"/>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EU AI Act full enforcement began 2025. Compliance spend is now mandatory, not optional.</a:t>
            </a:r>
            <a:endParaRPr lang="en-US" sz="950" dirty="0"/>
          </a:p>
        </p:txBody>
      </p:sp>
      <p:sp>
        <p:nvSpPr>
          <p:cNvPr id="58" name="Shape 55"/>
          <p:cNvSpPr/>
          <p:nvPr/>
        </p:nvSpPr>
        <p:spPr>
          <a:xfrm>
            <a:off x="914400" y="914400"/>
            <a:ext cx="914400" cy="914400"/>
          </a:xfrm>
          <a:prstGeom prst="line">
            <a:avLst/>
          </a:prstGeom>
          <a:noFill/>
          <a:ln/>
        </p:spPr>
        <p:txBody>
          <a:bodyPr/>
          <a:lstStyle/>
          <a:p>
            <a:endParaRPr lang="en-US"/>
          </a:p>
        </p:txBody>
      </p:sp>
      <p:sp>
        <p:nvSpPr>
          <p:cNvPr id="59" name="Text 56"/>
          <p:cNvSpPr/>
          <p:nvPr/>
        </p:nvSpPr>
        <p:spPr>
          <a:xfrm>
            <a:off x="8330184" y="4279392"/>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No vendor has purpose built AI compliance modules. The sub segment has no published TAM.</a:t>
            </a:r>
            <a:endParaRPr lang="en-US" sz="950" dirty="0"/>
          </a:p>
        </p:txBody>
      </p:sp>
      <p:sp>
        <p:nvSpPr>
          <p:cNvPr id="60" name="Shape 57"/>
          <p:cNvSpPr/>
          <p:nvPr/>
        </p:nvSpPr>
        <p:spPr>
          <a:xfrm>
            <a:off x="914400" y="914400"/>
            <a:ext cx="914400" cy="914400"/>
          </a:xfrm>
          <a:prstGeom prst="line">
            <a:avLst/>
          </a:prstGeom>
          <a:noFill/>
          <a:ln/>
        </p:spPr>
        <p:txBody>
          <a:bodyPr/>
          <a:lstStyle/>
          <a:p>
            <a:endParaRPr lang="en-US"/>
          </a:p>
        </p:txBody>
      </p:sp>
      <p:sp>
        <p:nvSpPr>
          <p:cNvPr id="61" name="Text 58"/>
          <p:cNvSpPr/>
          <p:nvPr/>
        </p:nvSpPr>
        <p:spPr>
          <a:xfrm>
            <a:off x="8330184" y="4608576"/>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Cyber insurers now require AI audit capabilities, creating a second independent demand driver.</a:t>
            </a:r>
            <a:endParaRPr lang="en-US" sz="950" dirty="0"/>
          </a:p>
        </p:txBody>
      </p:sp>
      <p:sp>
        <p:nvSpPr>
          <p:cNvPr id="62" name="Shape 59"/>
          <p:cNvSpPr/>
          <p:nvPr/>
        </p:nvSpPr>
        <p:spPr>
          <a:xfrm>
            <a:off x="914400" y="914400"/>
            <a:ext cx="914400" cy="914400"/>
          </a:xfrm>
          <a:prstGeom prst="line">
            <a:avLst/>
          </a:prstGeom>
          <a:noFill/>
          <a:ln/>
        </p:spPr>
        <p:txBody>
          <a:bodyPr/>
          <a:lstStyle/>
          <a:p>
            <a:endParaRPr lang="en-US"/>
          </a:p>
        </p:txBody>
      </p:sp>
      <p:sp>
        <p:nvSpPr>
          <p:cNvPr id="63" name="Text 60"/>
          <p:cNvSpPr/>
          <p:nvPr/>
        </p:nvSpPr>
        <p:spPr>
          <a:xfrm>
            <a:off x="8330184" y="4937760"/>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Very strong net revenue retention profile once embedded in a customer’s operations.</a:t>
            </a:r>
            <a:endParaRPr lang="en-US" sz="950" dirty="0"/>
          </a:p>
        </p:txBody>
      </p:sp>
      <p:sp>
        <p:nvSpPr>
          <p:cNvPr id="64" name="Shape 61"/>
          <p:cNvSpPr/>
          <p:nvPr/>
        </p:nvSpPr>
        <p:spPr>
          <a:xfrm>
            <a:off x="914400" y="914400"/>
            <a:ext cx="914400" cy="914400"/>
          </a:xfrm>
          <a:prstGeom prst="line">
            <a:avLst/>
          </a:prstGeom>
          <a:noFill/>
          <a:ln/>
        </p:spPr>
        <p:txBody>
          <a:bodyPr/>
          <a:lstStyle/>
          <a:p>
            <a:endParaRPr lang="en-US"/>
          </a:p>
        </p:txBody>
      </p:sp>
      <p:sp>
        <p:nvSpPr>
          <p:cNvPr id="65" name="Text 62"/>
          <p:cNvSpPr/>
          <p:nvPr/>
        </p:nvSpPr>
        <p:spPr>
          <a:xfrm>
            <a:off x="8330184" y="5266944"/>
            <a:ext cx="3182112" cy="310896"/>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Regulation driven lock in from AI Act and NIS2 creates durable, defensible revenue.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75488"/>
          </a:xfrm>
          <a:prstGeom prst="rect">
            <a:avLst/>
          </a:prstGeom>
          <a:solidFill>
            <a:srgbClr val="1B3A5C"/>
          </a:solidFill>
          <a:ln w="12700">
            <a:solidFill>
              <a:srgbClr val="1B3A5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28600" y="45720"/>
            <a:ext cx="1600200" cy="384048"/>
          </a:xfrm>
          <a:prstGeom prst="rect">
            <a:avLst/>
          </a:prstGeom>
        </p:spPr>
      </p:pic>
      <p:sp>
        <p:nvSpPr>
          <p:cNvPr id="4" name="Text 1"/>
          <p:cNvSpPr/>
          <p:nvPr/>
        </p:nvSpPr>
        <p:spPr>
          <a:xfrm>
            <a:off x="2103120" y="91440"/>
            <a:ext cx="8686800" cy="292608"/>
          </a:xfrm>
          <a:prstGeom prst="rect">
            <a:avLst/>
          </a:prstGeom>
          <a:noFill/>
          <a:ln/>
        </p:spPr>
        <p:txBody>
          <a:bodyPr wrap="square" lIns="0" tIns="0" rIns="0" bIns="0" rtlCol="0" anchor="ctr"/>
          <a:lstStyle/>
          <a:p>
            <a:pPr marL="0" indent="0">
              <a:buNone/>
            </a:pPr>
            <a:r>
              <a:rPr lang="en-US" sz="850" kern="0" spc="250" dirty="0">
                <a:solidFill>
                  <a:srgbClr val="D0DAE4"/>
                </a:solidFill>
                <a:latin typeface="Calibri" pitchFamily="34" charset="0"/>
                <a:ea typeface="Calibri" pitchFamily="34" charset="-122"/>
                <a:cs typeface="Calibri" pitchFamily="34" charset="-120"/>
              </a:rPr>
              <a:t>SILICON AND ACCELERATORS  ·  YABES</a:t>
            </a:r>
            <a:endParaRPr lang="en-US" sz="850" dirty="0"/>
          </a:p>
        </p:txBody>
      </p:sp>
      <p:sp>
        <p:nvSpPr>
          <p:cNvPr id="5" name="Text 2"/>
          <p:cNvSpPr/>
          <p:nvPr/>
        </p:nvSpPr>
        <p:spPr>
          <a:xfrm>
            <a:off x="11064240" y="91440"/>
            <a:ext cx="914400" cy="292608"/>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07 / 17</a:t>
            </a:r>
            <a:endParaRPr lang="en-US" sz="850" dirty="0"/>
          </a:p>
        </p:txBody>
      </p:sp>
      <p:sp>
        <p:nvSpPr>
          <p:cNvPr id="6" name="Shape 3"/>
          <p:cNvSpPr/>
          <p:nvPr/>
        </p:nvSpPr>
        <p:spPr>
          <a:xfrm>
            <a:off x="0" y="6537960"/>
            <a:ext cx="12188952" cy="320040"/>
          </a:xfrm>
          <a:prstGeom prst="rect">
            <a:avLst/>
          </a:prstGeom>
          <a:solidFill>
            <a:srgbClr val="F2F6FA"/>
          </a:solidFill>
          <a:ln w="12700">
            <a:solidFill>
              <a:srgbClr val="D0DAE4"/>
            </a:solidFill>
            <a:prstDash val="solid"/>
          </a:ln>
        </p:spPr>
        <p:txBody>
          <a:bodyPr/>
          <a:lstStyle/>
          <a:p>
            <a:endParaRPr lang="en-US"/>
          </a:p>
        </p:txBody>
      </p:sp>
      <p:sp>
        <p:nvSpPr>
          <p:cNvPr id="7" name="Text 4"/>
          <p:cNvSpPr/>
          <p:nvPr/>
        </p:nvSpPr>
        <p:spPr>
          <a:xfrm>
            <a:off x="274320" y="6565392"/>
            <a:ext cx="6400800" cy="256032"/>
          </a:xfrm>
          <a:prstGeom prst="rect">
            <a:avLst/>
          </a:prstGeom>
          <a:noFill/>
          <a:ln/>
        </p:spPr>
        <p:txBody>
          <a:bodyPr wrap="square" lIns="0" tIns="0" rIns="0" bIns="0" rtlCol="0" anchor="ctr"/>
          <a:lstStyle/>
          <a:p>
            <a:pPr marL="0" indent="0">
              <a:buNone/>
            </a:pPr>
            <a:r>
              <a:rPr lang="en-US" sz="750" dirty="0">
                <a:solidFill>
                  <a:srgbClr val="7B90A6"/>
                </a:solidFill>
                <a:latin typeface="Calibri" pitchFamily="34" charset="0"/>
                <a:ea typeface="Calibri" pitchFamily="34" charset="-122"/>
                <a:cs typeface="Calibri" pitchFamily="34" charset="-120"/>
              </a:rPr>
              <a:t>ClearVision Ventures  ·  Confidential  ·  April 2026</a:t>
            </a:r>
            <a:endParaRPr lang="en-US" sz="750" dirty="0"/>
          </a:p>
        </p:txBody>
      </p:sp>
      <p:sp>
        <p:nvSpPr>
          <p:cNvPr id="8" name="Text 5"/>
          <p:cNvSpPr/>
          <p:nvPr/>
        </p:nvSpPr>
        <p:spPr>
          <a:xfrm>
            <a:off x="411480" y="594360"/>
            <a:ext cx="10972800" cy="228600"/>
          </a:xfrm>
          <a:prstGeom prst="rect">
            <a:avLst/>
          </a:prstGeom>
          <a:noFill/>
          <a:ln/>
        </p:spPr>
        <p:txBody>
          <a:bodyPr wrap="square" lIns="0" tIns="0" rIns="0" bIns="0" rtlCol="0" anchor="ctr"/>
          <a:lstStyle/>
          <a:p>
            <a:pPr marL="0" indent="0">
              <a:buNone/>
            </a:pPr>
            <a:r>
              <a:rPr lang="en-US" sz="850" b="1" kern="0" spc="300" dirty="0">
                <a:solidFill>
                  <a:srgbClr val="2E6DA4"/>
                </a:solidFill>
                <a:latin typeface="Calibri" pitchFamily="34" charset="0"/>
                <a:ea typeface="Calibri" pitchFamily="34" charset="-122"/>
                <a:cs typeface="Calibri" pitchFamily="34" charset="-120"/>
              </a:rPr>
              <a:t>THE SILICON LAYER</a:t>
            </a:r>
            <a:endParaRPr lang="en-US" sz="850" dirty="0"/>
          </a:p>
        </p:txBody>
      </p:sp>
      <p:sp>
        <p:nvSpPr>
          <p:cNvPr id="9" name="Text 6"/>
          <p:cNvSpPr/>
          <p:nvPr/>
        </p:nvSpPr>
        <p:spPr>
          <a:xfrm>
            <a:off x="411480" y="822960"/>
            <a:ext cx="11338560" cy="713232"/>
          </a:xfrm>
          <a:prstGeom prst="rect">
            <a:avLst/>
          </a:prstGeom>
          <a:noFill/>
          <a:ln/>
        </p:spPr>
        <p:txBody>
          <a:bodyPr wrap="square" lIns="0" tIns="0" rIns="0" bIns="0" rtlCol="0" anchor="ctr"/>
          <a:lstStyle/>
          <a:p>
            <a:pPr marL="0" indent="0">
              <a:buNone/>
            </a:pPr>
            <a:r>
              <a:rPr lang="en-US" sz="2800" b="1" dirty="0">
                <a:solidFill>
                  <a:srgbClr val="0F1E30"/>
                </a:solidFill>
                <a:latin typeface="Calibri" pitchFamily="34" charset="0"/>
                <a:ea typeface="Calibri" pitchFamily="34" charset="-122"/>
                <a:cs typeface="Calibri" pitchFamily="34" charset="-120"/>
              </a:rPr>
              <a:t>The GPU Is Not the Story. The Interconnect Is.</a:t>
            </a:r>
            <a:endParaRPr lang="en-US" sz="2800" dirty="0"/>
          </a:p>
        </p:txBody>
      </p:sp>
      <p:sp>
        <p:nvSpPr>
          <p:cNvPr id="10" name="Shape 7"/>
          <p:cNvSpPr/>
          <p:nvPr/>
        </p:nvSpPr>
        <p:spPr>
          <a:xfrm>
            <a:off x="411480" y="1536192"/>
            <a:ext cx="1005840" cy="41148"/>
          </a:xfrm>
          <a:prstGeom prst="rect">
            <a:avLst/>
          </a:prstGeom>
          <a:solidFill>
            <a:srgbClr val="2E6DA4"/>
          </a:solidFill>
          <a:ln w="12700">
            <a:solidFill>
              <a:srgbClr val="2E6DA4"/>
            </a:solidFill>
            <a:prstDash val="solid"/>
          </a:ln>
        </p:spPr>
        <p:txBody>
          <a:bodyPr/>
          <a:lstStyle/>
          <a:p>
            <a:endParaRPr lang="en-US"/>
          </a:p>
        </p:txBody>
      </p:sp>
      <p:sp>
        <p:nvSpPr>
          <p:cNvPr id="11" name="Text 8"/>
          <p:cNvSpPr/>
          <p:nvPr/>
        </p:nvSpPr>
        <p:spPr>
          <a:xfrm>
            <a:off x="411480" y="1627632"/>
            <a:ext cx="7772400" cy="475488"/>
          </a:xfrm>
          <a:prstGeom prst="rect">
            <a:avLst/>
          </a:prstGeom>
          <a:noFill/>
          <a:ln/>
        </p:spPr>
        <p:txBody>
          <a:bodyPr wrap="square" lIns="0" tIns="0" rIns="0" bIns="0" rtlCol="0" anchor="ctr"/>
          <a:lstStyle/>
          <a:p>
            <a:pPr marL="0" indent="0">
              <a:buNone/>
            </a:pPr>
            <a:r>
              <a:rPr lang="en-US" sz="1150" i="1" dirty="0">
                <a:solidFill>
                  <a:srgbClr val="2C3E50"/>
                </a:solidFill>
                <a:latin typeface="Calibri" pitchFamily="34" charset="0"/>
                <a:ea typeface="Calibri" pitchFamily="34" charset="-122"/>
                <a:cs typeface="Calibri" pitchFamily="34" charset="-120"/>
              </a:rPr>
              <a:t>Silicon accelerators hold 60 to 70% of AI server bill of materials. But the real ceiling is no longer transistor count. It is bandwidth, thermals, and power delivery. Whoever relieves those constraints captures the value.</a:t>
            </a:r>
            <a:endParaRPr lang="en-US" sz="1150" dirty="0"/>
          </a:p>
        </p:txBody>
      </p:sp>
      <p:sp>
        <p:nvSpPr>
          <p:cNvPr id="12" name="Shape 9"/>
          <p:cNvSpPr/>
          <p:nvPr/>
        </p:nvSpPr>
        <p:spPr>
          <a:xfrm>
            <a:off x="411480" y="2176272"/>
            <a:ext cx="1828800" cy="118872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3" name="Shape 10"/>
          <p:cNvSpPr/>
          <p:nvPr/>
        </p:nvSpPr>
        <p:spPr>
          <a:xfrm>
            <a:off x="411480" y="2176272"/>
            <a:ext cx="1828800" cy="50292"/>
          </a:xfrm>
          <a:prstGeom prst="rect">
            <a:avLst/>
          </a:prstGeom>
          <a:solidFill>
            <a:srgbClr val="1B3A5C"/>
          </a:solidFill>
          <a:ln w="12700">
            <a:solidFill>
              <a:srgbClr val="1B3A5C"/>
            </a:solidFill>
            <a:prstDash val="solid"/>
          </a:ln>
        </p:spPr>
        <p:txBody>
          <a:bodyPr/>
          <a:lstStyle/>
          <a:p>
            <a:endParaRPr lang="en-US"/>
          </a:p>
        </p:txBody>
      </p:sp>
      <p:sp>
        <p:nvSpPr>
          <p:cNvPr id="14" name="Text 11"/>
          <p:cNvSpPr/>
          <p:nvPr/>
        </p:nvSpPr>
        <p:spPr>
          <a:xfrm>
            <a:off x="502920" y="2313432"/>
            <a:ext cx="1645920" cy="512064"/>
          </a:xfrm>
          <a:prstGeom prst="rect">
            <a:avLst/>
          </a:prstGeom>
          <a:noFill/>
          <a:ln/>
        </p:spPr>
        <p:txBody>
          <a:bodyPr wrap="square" lIns="0" tIns="0" rIns="0" bIns="0" rtlCol="0" anchor="ctr"/>
          <a:lstStyle/>
          <a:p>
            <a:pPr marL="0" indent="0" algn="ctr">
              <a:buNone/>
            </a:pPr>
            <a:r>
              <a:rPr lang="en-US" sz="2500" b="1" dirty="0">
                <a:solidFill>
                  <a:srgbClr val="1B3A5C"/>
                </a:solidFill>
                <a:latin typeface="Calibri" pitchFamily="34" charset="0"/>
                <a:ea typeface="Calibri" pitchFamily="34" charset="-122"/>
                <a:cs typeface="Calibri" pitchFamily="34" charset="-120"/>
              </a:rPr>
              <a:t>$650B</a:t>
            </a:r>
            <a:endParaRPr lang="en-US" sz="2500" dirty="0"/>
          </a:p>
        </p:txBody>
      </p:sp>
      <p:sp>
        <p:nvSpPr>
          <p:cNvPr id="15" name="Text 12"/>
          <p:cNvSpPr/>
          <p:nvPr/>
        </p:nvSpPr>
        <p:spPr>
          <a:xfrm>
            <a:off x="502920" y="2834640"/>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Global DC capex by 2030, 2.5 times 2023</a:t>
            </a:r>
            <a:endParaRPr lang="en-US" sz="900" dirty="0"/>
          </a:p>
        </p:txBody>
      </p:sp>
      <p:sp>
        <p:nvSpPr>
          <p:cNvPr id="16" name="Shape 13"/>
          <p:cNvSpPr/>
          <p:nvPr/>
        </p:nvSpPr>
        <p:spPr>
          <a:xfrm>
            <a:off x="2423160" y="2176272"/>
            <a:ext cx="1828800" cy="118872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7" name="Shape 14"/>
          <p:cNvSpPr/>
          <p:nvPr/>
        </p:nvSpPr>
        <p:spPr>
          <a:xfrm>
            <a:off x="2423160" y="2176272"/>
            <a:ext cx="1828800" cy="50292"/>
          </a:xfrm>
          <a:prstGeom prst="rect">
            <a:avLst/>
          </a:prstGeom>
          <a:solidFill>
            <a:srgbClr val="2E6DA4"/>
          </a:solidFill>
          <a:ln w="12700">
            <a:solidFill>
              <a:srgbClr val="2E6DA4"/>
            </a:solidFill>
            <a:prstDash val="solid"/>
          </a:ln>
        </p:spPr>
        <p:txBody>
          <a:bodyPr/>
          <a:lstStyle/>
          <a:p>
            <a:endParaRPr lang="en-US"/>
          </a:p>
        </p:txBody>
      </p:sp>
      <p:sp>
        <p:nvSpPr>
          <p:cNvPr id="18" name="Text 15"/>
          <p:cNvSpPr/>
          <p:nvPr/>
        </p:nvSpPr>
        <p:spPr>
          <a:xfrm>
            <a:off x="2514600" y="2313432"/>
            <a:ext cx="1645920" cy="512064"/>
          </a:xfrm>
          <a:prstGeom prst="rect">
            <a:avLst/>
          </a:prstGeom>
          <a:noFill/>
          <a:ln/>
        </p:spPr>
        <p:txBody>
          <a:bodyPr wrap="square" lIns="0" tIns="0" rIns="0" bIns="0" rtlCol="0" anchor="ctr"/>
          <a:lstStyle/>
          <a:p>
            <a:pPr marL="0" indent="0" algn="ctr">
              <a:buNone/>
            </a:pPr>
            <a:r>
              <a:rPr lang="en-US" sz="2500" b="1" dirty="0">
                <a:solidFill>
                  <a:srgbClr val="2E6DA4"/>
                </a:solidFill>
                <a:latin typeface="Calibri" pitchFamily="34" charset="0"/>
                <a:ea typeface="Calibri" pitchFamily="34" charset="-122"/>
                <a:cs typeface="Calibri" pitchFamily="34" charset="-120"/>
              </a:rPr>
              <a:t>35%+</a:t>
            </a:r>
            <a:endParaRPr lang="en-US" sz="2500" dirty="0"/>
          </a:p>
        </p:txBody>
      </p:sp>
      <p:sp>
        <p:nvSpPr>
          <p:cNvPr id="19" name="Text 16"/>
          <p:cNvSpPr/>
          <p:nvPr/>
        </p:nvSpPr>
        <p:spPr>
          <a:xfrm>
            <a:off x="2514600" y="2834640"/>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CAGR of AI accelerator spend through 2028</a:t>
            </a:r>
            <a:endParaRPr lang="en-US" sz="900" dirty="0"/>
          </a:p>
        </p:txBody>
      </p:sp>
      <p:sp>
        <p:nvSpPr>
          <p:cNvPr id="20" name="Shape 17"/>
          <p:cNvSpPr/>
          <p:nvPr/>
        </p:nvSpPr>
        <p:spPr>
          <a:xfrm>
            <a:off x="4434840" y="2176272"/>
            <a:ext cx="1828800" cy="118872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1" name="Shape 18"/>
          <p:cNvSpPr/>
          <p:nvPr/>
        </p:nvSpPr>
        <p:spPr>
          <a:xfrm>
            <a:off x="4434840" y="2176272"/>
            <a:ext cx="1828800" cy="50292"/>
          </a:xfrm>
          <a:prstGeom prst="rect">
            <a:avLst/>
          </a:prstGeom>
          <a:solidFill>
            <a:srgbClr val="5096CC"/>
          </a:solidFill>
          <a:ln w="12700">
            <a:solidFill>
              <a:srgbClr val="5096CC"/>
            </a:solidFill>
            <a:prstDash val="solid"/>
          </a:ln>
        </p:spPr>
        <p:txBody>
          <a:bodyPr/>
          <a:lstStyle/>
          <a:p>
            <a:endParaRPr lang="en-US"/>
          </a:p>
        </p:txBody>
      </p:sp>
      <p:sp>
        <p:nvSpPr>
          <p:cNvPr id="22" name="Text 19"/>
          <p:cNvSpPr/>
          <p:nvPr/>
        </p:nvSpPr>
        <p:spPr>
          <a:xfrm>
            <a:off x="4526280" y="2313432"/>
            <a:ext cx="1645920" cy="512064"/>
          </a:xfrm>
          <a:prstGeom prst="rect">
            <a:avLst/>
          </a:prstGeom>
          <a:noFill/>
          <a:ln/>
        </p:spPr>
        <p:txBody>
          <a:bodyPr wrap="square" lIns="0" tIns="0" rIns="0" bIns="0" rtlCol="0" anchor="ctr"/>
          <a:lstStyle/>
          <a:p>
            <a:pPr marL="0" indent="0" algn="ctr">
              <a:buNone/>
            </a:pPr>
            <a:r>
              <a:rPr lang="en-US" sz="2500" b="1" dirty="0">
                <a:solidFill>
                  <a:srgbClr val="5096CC"/>
                </a:solidFill>
                <a:latin typeface="Calibri" pitchFamily="34" charset="0"/>
                <a:ea typeface="Calibri" pitchFamily="34" charset="-122"/>
                <a:cs typeface="Calibri" pitchFamily="34" charset="-120"/>
              </a:rPr>
              <a:t>60 to 70%</a:t>
            </a:r>
            <a:endParaRPr lang="en-US" sz="2500" dirty="0"/>
          </a:p>
        </p:txBody>
      </p:sp>
      <p:sp>
        <p:nvSpPr>
          <p:cNvPr id="23" name="Text 20"/>
          <p:cNvSpPr/>
          <p:nvPr/>
        </p:nvSpPr>
        <p:spPr>
          <a:xfrm>
            <a:off x="4526280" y="2834640"/>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Share of AI server BOM held by silicon</a:t>
            </a:r>
            <a:endParaRPr lang="en-US" sz="900" dirty="0"/>
          </a:p>
        </p:txBody>
      </p:sp>
      <p:sp>
        <p:nvSpPr>
          <p:cNvPr id="24" name="Shape 21"/>
          <p:cNvSpPr/>
          <p:nvPr/>
        </p:nvSpPr>
        <p:spPr>
          <a:xfrm>
            <a:off x="6446520" y="2176272"/>
            <a:ext cx="1828800" cy="118872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5" name="Shape 22"/>
          <p:cNvSpPr/>
          <p:nvPr/>
        </p:nvSpPr>
        <p:spPr>
          <a:xfrm>
            <a:off x="6446520" y="2176272"/>
            <a:ext cx="1828800" cy="50292"/>
          </a:xfrm>
          <a:prstGeom prst="rect">
            <a:avLst/>
          </a:prstGeom>
          <a:solidFill>
            <a:srgbClr val="C8922A"/>
          </a:solidFill>
          <a:ln w="12700">
            <a:solidFill>
              <a:srgbClr val="C8922A"/>
            </a:solidFill>
            <a:prstDash val="solid"/>
          </a:ln>
        </p:spPr>
        <p:txBody>
          <a:bodyPr/>
          <a:lstStyle/>
          <a:p>
            <a:endParaRPr lang="en-US"/>
          </a:p>
        </p:txBody>
      </p:sp>
      <p:sp>
        <p:nvSpPr>
          <p:cNvPr id="26" name="Text 23"/>
          <p:cNvSpPr/>
          <p:nvPr/>
        </p:nvSpPr>
        <p:spPr>
          <a:xfrm>
            <a:off x="6537960" y="2313432"/>
            <a:ext cx="1645920" cy="512064"/>
          </a:xfrm>
          <a:prstGeom prst="rect">
            <a:avLst/>
          </a:prstGeom>
          <a:noFill/>
          <a:ln/>
        </p:spPr>
        <p:txBody>
          <a:bodyPr wrap="square" lIns="0" tIns="0" rIns="0" bIns="0" rtlCol="0" anchor="ctr"/>
          <a:lstStyle/>
          <a:p>
            <a:pPr marL="0" indent="0" algn="ctr">
              <a:buNone/>
            </a:pPr>
            <a:r>
              <a:rPr lang="en-US" sz="2500" b="1" dirty="0">
                <a:solidFill>
                  <a:srgbClr val="C8922A"/>
                </a:solidFill>
                <a:latin typeface="Calibri" pitchFamily="34" charset="0"/>
                <a:ea typeface="Calibri" pitchFamily="34" charset="-122"/>
                <a:cs typeface="Calibri" pitchFamily="34" charset="-120"/>
              </a:rPr>
              <a:t>2x</a:t>
            </a:r>
            <a:endParaRPr lang="en-US" sz="2500" dirty="0"/>
          </a:p>
        </p:txBody>
      </p:sp>
      <p:sp>
        <p:nvSpPr>
          <p:cNvPr id="27" name="Text 24"/>
          <p:cNvSpPr/>
          <p:nvPr/>
        </p:nvSpPr>
        <p:spPr>
          <a:xfrm>
            <a:off x="6537960" y="2834640"/>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Power density per rack versus 2020, the real ceiling</a:t>
            </a:r>
            <a:endParaRPr lang="en-US" sz="900" dirty="0"/>
          </a:p>
        </p:txBody>
      </p:sp>
      <p:sp>
        <p:nvSpPr>
          <p:cNvPr id="28" name="Shape 25"/>
          <p:cNvSpPr/>
          <p:nvPr/>
        </p:nvSpPr>
        <p:spPr>
          <a:xfrm>
            <a:off x="411480" y="3547872"/>
            <a:ext cx="50292" cy="594360"/>
          </a:xfrm>
          <a:prstGeom prst="rect">
            <a:avLst/>
          </a:prstGeom>
          <a:solidFill>
            <a:srgbClr val="2E6DA4"/>
          </a:solidFill>
          <a:ln w="12700">
            <a:solidFill>
              <a:srgbClr val="2E6DA4"/>
            </a:solidFill>
            <a:prstDash val="solid"/>
          </a:ln>
        </p:spPr>
        <p:txBody>
          <a:bodyPr/>
          <a:lstStyle/>
          <a:p>
            <a:endParaRPr lang="en-US"/>
          </a:p>
        </p:txBody>
      </p:sp>
      <p:sp>
        <p:nvSpPr>
          <p:cNvPr id="29" name="Text 26"/>
          <p:cNvSpPr/>
          <p:nvPr/>
        </p:nvSpPr>
        <p:spPr>
          <a:xfrm>
            <a:off x="576072" y="3566160"/>
            <a:ext cx="7589520" cy="256032"/>
          </a:xfrm>
          <a:prstGeom prst="rect">
            <a:avLst/>
          </a:prstGeom>
          <a:noFill/>
          <a:ln/>
        </p:spPr>
        <p:txBody>
          <a:bodyPr wrap="square" lIns="0" tIns="0" rIns="0" bIns="0" rtlCol="0" anchor="ctr"/>
          <a:lstStyle/>
          <a:p>
            <a:pPr marL="0" indent="0">
              <a:buNone/>
            </a:pPr>
            <a:r>
              <a:rPr lang="en-US" sz="1200" b="1" dirty="0">
                <a:solidFill>
                  <a:srgbClr val="0F1E30"/>
                </a:solidFill>
                <a:latin typeface="Calibri" pitchFamily="34" charset="0"/>
                <a:ea typeface="Calibri" pitchFamily="34" charset="-122"/>
                <a:cs typeface="Calibri" pitchFamily="34" charset="-120"/>
              </a:rPr>
              <a:t>Moore’s Law Did Not Die. It Moved.</a:t>
            </a:r>
            <a:endParaRPr lang="en-US" sz="1200" dirty="0"/>
          </a:p>
        </p:txBody>
      </p:sp>
      <p:sp>
        <p:nvSpPr>
          <p:cNvPr id="30" name="Text 27"/>
          <p:cNvSpPr/>
          <p:nvPr/>
        </p:nvSpPr>
        <p:spPr>
          <a:xfrm>
            <a:off x="576072" y="3822192"/>
            <a:ext cx="7589520" cy="54864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Transistor count is no longer the constraint. Power, interconnect bandwidth, and thermal density now define competitive position. The data center companies that understand this distinction will spend their capex correctly. The ones that do not will build infrastructure that is obsolete before it opens.</a:t>
            </a:r>
            <a:endParaRPr lang="en-US" sz="950" dirty="0"/>
          </a:p>
        </p:txBody>
      </p:sp>
      <p:sp>
        <p:nvSpPr>
          <p:cNvPr id="31" name="Shape 28"/>
          <p:cNvSpPr/>
          <p:nvPr/>
        </p:nvSpPr>
        <p:spPr>
          <a:xfrm>
            <a:off x="411480" y="4434840"/>
            <a:ext cx="50292" cy="594360"/>
          </a:xfrm>
          <a:prstGeom prst="rect">
            <a:avLst/>
          </a:prstGeom>
          <a:solidFill>
            <a:srgbClr val="2E6DA4"/>
          </a:solidFill>
          <a:ln w="12700">
            <a:solidFill>
              <a:srgbClr val="2E6DA4"/>
            </a:solidFill>
            <a:prstDash val="solid"/>
          </a:ln>
        </p:spPr>
        <p:txBody>
          <a:bodyPr/>
          <a:lstStyle/>
          <a:p>
            <a:endParaRPr lang="en-US"/>
          </a:p>
        </p:txBody>
      </p:sp>
      <p:sp>
        <p:nvSpPr>
          <p:cNvPr id="32" name="Text 29"/>
          <p:cNvSpPr/>
          <p:nvPr/>
        </p:nvSpPr>
        <p:spPr>
          <a:xfrm>
            <a:off x="576072" y="4453128"/>
            <a:ext cx="7589520" cy="256032"/>
          </a:xfrm>
          <a:prstGeom prst="rect">
            <a:avLst/>
          </a:prstGeom>
          <a:noFill/>
          <a:ln/>
        </p:spPr>
        <p:txBody>
          <a:bodyPr wrap="square" lIns="0" tIns="0" rIns="0" bIns="0" rtlCol="0" anchor="ctr"/>
          <a:lstStyle/>
          <a:p>
            <a:pPr marL="0" indent="0">
              <a:buNone/>
            </a:pPr>
            <a:r>
              <a:rPr lang="en-US" sz="1200" b="1" dirty="0">
                <a:solidFill>
                  <a:srgbClr val="0F1E30"/>
                </a:solidFill>
                <a:latin typeface="Calibri" pitchFamily="34" charset="0"/>
                <a:ea typeface="Calibri" pitchFamily="34" charset="-122"/>
                <a:cs typeface="Calibri" pitchFamily="34" charset="-120"/>
              </a:rPr>
              <a:t>Hyperscalers Are Spending Correctly</a:t>
            </a:r>
            <a:endParaRPr lang="en-US" sz="1200" dirty="0"/>
          </a:p>
        </p:txBody>
      </p:sp>
      <p:sp>
        <p:nvSpPr>
          <p:cNvPr id="33" name="Text 30"/>
          <p:cNvSpPr/>
          <p:nvPr/>
        </p:nvSpPr>
        <p:spPr>
          <a:xfrm>
            <a:off x="576072" y="4709160"/>
            <a:ext cx="7589520" cy="54864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Over $200B of 2025 hyperscaler capex flows directly into silicon and silicon adjacent infrastructure. Google TPU, Amazon Trainium, Microsoft Maia, and Meta MTIA are not chip programs. They are power and interconnect optimization programs wearing silicon as a costume.</a:t>
            </a:r>
            <a:endParaRPr lang="en-US" sz="950" dirty="0"/>
          </a:p>
        </p:txBody>
      </p:sp>
      <p:sp>
        <p:nvSpPr>
          <p:cNvPr id="34" name="Shape 31"/>
          <p:cNvSpPr/>
          <p:nvPr/>
        </p:nvSpPr>
        <p:spPr>
          <a:xfrm>
            <a:off x="411480" y="5321808"/>
            <a:ext cx="50292" cy="594360"/>
          </a:xfrm>
          <a:prstGeom prst="rect">
            <a:avLst/>
          </a:prstGeom>
          <a:solidFill>
            <a:srgbClr val="2E6DA4"/>
          </a:solidFill>
          <a:ln w="12700">
            <a:solidFill>
              <a:srgbClr val="2E6DA4"/>
            </a:solidFill>
            <a:prstDash val="solid"/>
          </a:ln>
        </p:spPr>
        <p:txBody>
          <a:bodyPr/>
          <a:lstStyle/>
          <a:p>
            <a:endParaRPr lang="en-US"/>
          </a:p>
        </p:txBody>
      </p:sp>
      <p:sp>
        <p:nvSpPr>
          <p:cNvPr id="35" name="Text 32"/>
          <p:cNvSpPr/>
          <p:nvPr/>
        </p:nvSpPr>
        <p:spPr>
          <a:xfrm>
            <a:off x="576072" y="5340096"/>
            <a:ext cx="7589520" cy="256032"/>
          </a:xfrm>
          <a:prstGeom prst="rect">
            <a:avLst/>
          </a:prstGeom>
          <a:noFill/>
          <a:ln/>
        </p:spPr>
        <p:txBody>
          <a:bodyPr wrap="square" lIns="0" tIns="0" rIns="0" bIns="0" rtlCol="0" anchor="ctr"/>
          <a:lstStyle/>
          <a:p>
            <a:pPr marL="0" indent="0">
              <a:buNone/>
            </a:pPr>
            <a:r>
              <a:rPr lang="en-US" sz="1200" b="1" dirty="0">
                <a:solidFill>
                  <a:srgbClr val="0F1E30"/>
                </a:solidFill>
                <a:latin typeface="Calibri" pitchFamily="34" charset="0"/>
                <a:ea typeface="Calibri" pitchFamily="34" charset="-122"/>
                <a:cs typeface="Calibri" pitchFamily="34" charset="-120"/>
              </a:rPr>
              <a:t>The Binding Constraint Is Bandwidth</a:t>
            </a:r>
            <a:endParaRPr lang="en-US" sz="1200" dirty="0"/>
          </a:p>
        </p:txBody>
      </p:sp>
      <p:sp>
        <p:nvSpPr>
          <p:cNvPr id="36" name="Text 33"/>
          <p:cNvSpPr/>
          <p:nvPr/>
        </p:nvSpPr>
        <p:spPr>
          <a:xfrm>
            <a:off x="576072" y="5596128"/>
            <a:ext cx="7589520" cy="548640"/>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Electrical interconnects at 224 Gbps cannot transmit data more than one meter without active signal regeneration. This is the skin effect and it is fundamental physics. At 18,000 GPU cluster scale, the retimer chips required to regenerate copper signals consume 480kW solely to move data between chips.</a:t>
            </a:r>
            <a:endParaRPr lang="en-US" sz="950" dirty="0"/>
          </a:p>
        </p:txBody>
      </p:sp>
      <p:sp>
        <p:nvSpPr>
          <p:cNvPr id="37" name="Shape 34"/>
          <p:cNvSpPr/>
          <p:nvPr/>
        </p:nvSpPr>
        <p:spPr>
          <a:xfrm>
            <a:off x="8705088" y="1627632"/>
            <a:ext cx="3072384" cy="4681728"/>
          </a:xfrm>
          <a:prstGeom prst="rect">
            <a:avLst/>
          </a:prstGeom>
          <a:solidFill>
            <a:srgbClr val="1B3A5C"/>
          </a:solidFill>
          <a:ln w="12700">
            <a:solidFill>
              <a:srgbClr val="1B3A5C"/>
            </a:solidFill>
            <a:prstDash val="solid"/>
          </a:ln>
          <a:effectLst>
            <a:outerShdw blurRad="88900" dist="25400" dir="8100000" algn="bl" rotWithShape="0">
              <a:srgbClr val="000000">
                <a:alpha val="11000"/>
              </a:srgbClr>
            </a:outerShdw>
          </a:effectLst>
        </p:spPr>
        <p:txBody>
          <a:bodyPr/>
          <a:lstStyle/>
          <a:p>
            <a:endParaRPr lang="en-US"/>
          </a:p>
        </p:txBody>
      </p:sp>
      <p:sp>
        <p:nvSpPr>
          <p:cNvPr id="38" name="Text 35"/>
          <p:cNvSpPr/>
          <p:nvPr/>
        </p:nvSpPr>
        <p:spPr>
          <a:xfrm>
            <a:off x="8887968" y="1755648"/>
            <a:ext cx="2706624" cy="292608"/>
          </a:xfrm>
          <a:prstGeom prst="rect">
            <a:avLst/>
          </a:prstGeom>
          <a:noFill/>
          <a:ln/>
        </p:spPr>
        <p:txBody>
          <a:bodyPr wrap="square" lIns="0" tIns="0" rIns="0" bIns="0" rtlCol="0" anchor="ctr"/>
          <a:lstStyle/>
          <a:p>
            <a:pPr marL="0" indent="0" algn="ctr">
              <a:buNone/>
            </a:pPr>
            <a:r>
              <a:rPr lang="en-US" sz="1000" b="1" dirty="0">
                <a:solidFill>
                  <a:srgbClr val="C8922A"/>
                </a:solidFill>
                <a:latin typeface="Calibri" pitchFamily="34" charset="0"/>
                <a:ea typeface="Calibri" pitchFamily="34" charset="-122"/>
                <a:cs typeface="Calibri" pitchFamily="34" charset="-120"/>
              </a:rPr>
              <a:t>The Investment Angle</a:t>
            </a:r>
            <a:endParaRPr lang="en-US" sz="1000" dirty="0"/>
          </a:p>
        </p:txBody>
      </p:sp>
      <p:sp>
        <p:nvSpPr>
          <p:cNvPr id="39" name="Shape 36"/>
          <p:cNvSpPr/>
          <p:nvPr/>
        </p:nvSpPr>
        <p:spPr>
          <a:xfrm>
            <a:off x="9070848" y="2103120"/>
            <a:ext cx="2340864" cy="36576"/>
          </a:xfrm>
          <a:prstGeom prst="rect">
            <a:avLst/>
          </a:prstGeom>
          <a:solidFill>
            <a:srgbClr val="2E6DA4"/>
          </a:solidFill>
          <a:ln w="12700">
            <a:solidFill>
              <a:srgbClr val="2E6DA4"/>
            </a:solidFill>
            <a:prstDash val="solid"/>
          </a:ln>
        </p:spPr>
        <p:txBody>
          <a:bodyPr/>
          <a:lstStyle/>
          <a:p>
            <a:endParaRPr lang="en-US"/>
          </a:p>
        </p:txBody>
      </p:sp>
      <p:sp>
        <p:nvSpPr>
          <p:cNvPr id="40" name="Shape 37"/>
          <p:cNvSpPr/>
          <p:nvPr/>
        </p:nvSpPr>
        <p:spPr>
          <a:xfrm>
            <a:off x="8915400" y="2267712"/>
            <a:ext cx="41148" cy="41148"/>
          </a:xfrm>
          <a:prstGeom prst="rect">
            <a:avLst/>
          </a:prstGeom>
          <a:solidFill>
            <a:srgbClr val="C8922A"/>
          </a:solidFill>
          <a:ln w="12700">
            <a:solidFill>
              <a:srgbClr val="C8922A"/>
            </a:solidFill>
            <a:prstDash val="solid"/>
          </a:ln>
        </p:spPr>
        <p:txBody>
          <a:bodyPr/>
          <a:lstStyle/>
          <a:p>
            <a:endParaRPr lang="en-US"/>
          </a:p>
        </p:txBody>
      </p:sp>
      <p:sp>
        <p:nvSpPr>
          <p:cNvPr id="41" name="Text 38"/>
          <p:cNvSpPr/>
          <p:nvPr/>
        </p:nvSpPr>
        <p:spPr>
          <a:xfrm>
            <a:off x="9034272" y="2212848"/>
            <a:ext cx="2523744" cy="411480"/>
          </a:xfrm>
          <a:prstGeom prst="rect">
            <a:avLst/>
          </a:prstGeom>
          <a:noFill/>
          <a:ln/>
        </p:spPr>
        <p:txBody>
          <a:bodyPr wrap="square" lIns="0" tIns="0" rIns="0" bIns="0" rtlCol="0" anchor="ctr"/>
          <a:lstStyle/>
          <a:p>
            <a:pPr marL="0" indent="0">
              <a:buNone/>
            </a:pPr>
            <a:r>
              <a:rPr lang="en-US" sz="950" dirty="0">
                <a:solidFill>
                  <a:srgbClr val="F2F6FA"/>
                </a:solidFill>
                <a:latin typeface="Calibri" pitchFamily="34" charset="0"/>
                <a:ea typeface="Calibri" pitchFamily="34" charset="-122"/>
                <a:cs typeface="Calibri" pitchFamily="34" charset="-120"/>
              </a:rPr>
              <a:t>Lead a $40M Series B into a top tier silicon photonics startup.</a:t>
            </a:r>
            <a:endParaRPr lang="en-US" sz="950" dirty="0"/>
          </a:p>
        </p:txBody>
      </p:sp>
      <p:sp>
        <p:nvSpPr>
          <p:cNvPr id="42" name="Shape 39"/>
          <p:cNvSpPr/>
          <p:nvPr/>
        </p:nvSpPr>
        <p:spPr>
          <a:xfrm>
            <a:off x="8915400" y="2743200"/>
            <a:ext cx="41148" cy="41148"/>
          </a:xfrm>
          <a:prstGeom prst="rect">
            <a:avLst/>
          </a:prstGeom>
          <a:solidFill>
            <a:srgbClr val="C8922A"/>
          </a:solidFill>
          <a:ln w="12700">
            <a:solidFill>
              <a:srgbClr val="C8922A"/>
            </a:solidFill>
            <a:prstDash val="solid"/>
          </a:ln>
        </p:spPr>
        <p:txBody>
          <a:bodyPr/>
          <a:lstStyle/>
          <a:p>
            <a:endParaRPr lang="en-US"/>
          </a:p>
        </p:txBody>
      </p:sp>
      <p:sp>
        <p:nvSpPr>
          <p:cNvPr id="43" name="Text 40"/>
          <p:cNvSpPr/>
          <p:nvPr/>
        </p:nvSpPr>
        <p:spPr>
          <a:xfrm>
            <a:off x="9034272" y="2688336"/>
            <a:ext cx="2523744" cy="411480"/>
          </a:xfrm>
          <a:prstGeom prst="rect">
            <a:avLst/>
          </a:prstGeom>
          <a:noFill/>
          <a:ln/>
        </p:spPr>
        <p:txBody>
          <a:bodyPr wrap="square" lIns="0" tIns="0" rIns="0" bIns="0" rtlCol="0" anchor="ctr"/>
          <a:lstStyle/>
          <a:p>
            <a:pPr marL="0" indent="0">
              <a:buNone/>
            </a:pPr>
            <a:r>
              <a:rPr lang="en-US" sz="950" dirty="0">
                <a:solidFill>
                  <a:srgbClr val="F2F6FA"/>
                </a:solidFill>
                <a:latin typeface="Calibri" pitchFamily="34" charset="0"/>
                <a:ea typeface="Calibri" pitchFamily="34" charset="-122"/>
                <a:cs typeface="Calibri" pitchFamily="34" charset="-120"/>
              </a:rPr>
              <a:t>Entry at approximately $180M pre money valuation.</a:t>
            </a:r>
            <a:endParaRPr lang="en-US" sz="950" dirty="0"/>
          </a:p>
        </p:txBody>
      </p:sp>
      <p:sp>
        <p:nvSpPr>
          <p:cNvPr id="44" name="Shape 41"/>
          <p:cNvSpPr/>
          <p:nvPr/>
        </p:nvSpPr>
        <p:spPr>
          <a:xfrm>
            <a:off x="8915400" y="3218688"/>
            <a:ext cx="41148" cy="41148"/>
          </a:xfrm>
          <a:prstGeom prst="rect">
            <a:avLst/>
          </a:prstGeom>
          <a:solidFill>
            <a:srgbClr val="C8922A"/>
          </a:solidFill>
          <a:ln w="12700">
            <a:solidFill>
              <a:srgbClr val="C8922A"/>
            </a:solidFill>
            <a:prstDash val="solid"/>
          </a:ln>
        </p:spPr>
        <p:txBody>
          <a:bodyPr/>
          <a:lstStyle/>
          <a:p>
            <a:endParaRPr lang="en-US"/>
          </a:p>
        </p:txBody>
      </p:sp>
      <p:sp>
        <p:nvSpPr>
          <p:cNvPr id="45" name="Text 42"/>
          <p:cNvSpPr/>
          <p:nvPr/>
        </p:nvSpPr>
        <p:spPr>
          <a:xfrm>
            <a:off x="9034272" y="3163824"/>
            <a:ext cx="2523744" cy="411480"/>
          </a:xfrm>
          <a:prstGeom prst="rect">
            <a:avLst/>
          </a:prstGeom>
          <a:noFill/>
          <a:ln/>
        </p:spPr>
        <p:txBody>
          <a:bodyPr wrap="square" lIns="0" tIns="0" rIns="0" bIns="0" rtlCol="0" anchor="ctr"/>
          <a:lstStyle/>
          <a:p>
            <a:pPr marL="0" indent="0">
              <a:buNone/>
            </a:pPr>
            <a:r>
              <a:rPr lang="en-US" sz="950" dirty="0">
                <a:solidFill>
                  <a:srgbClr val="F2F6FA"/>
                </a:solidFill>
                <a:latin typeface="Calibri" pitchFamily="34" charset="0"/>
                <a:ea typeface="Calibri" pitchFamily="34" charset="-122"/>
                <a:cs typeface="Calibri" pitchFamily="34" charset="-120"/>
              </a:rPr>
              <a:t>TAM of $15 to $20B by 2030 at roughly 30% CAGR.</a:t>
            </a:r>
            <a:endParaRPr lang="en-US" sz="950" dirty="0"/>
          </a:p>
        </p:txBody>
      </p:sp>
      <p:sp>
        <p:nvSpPr>
          <p:cNvPr id="46" name="Shape 43"/>
          <p:cNvSpPr/>
          <p:nvPr/>
        </p:nvSpPr>
        <p:spPr>
          <a:xfrm>
            <a:off x="8915400" y="3694176"/>
            <a:ext cx="41148" cy="41148"/>
          </a:xfrm>
          <a:prstGeom prst="rect">
            <a:avLst/>
          </a:prstGeom>
          <a:solidFill>
            <a:srgbClr val="C8922A"/>
          </a:solidFill>
          <a:ln w="12700">
            <a:solidFill>
              <a:srgbClr val="C8922A"/>
            </a:solidFill>
            <a:prstDash val="solid"/>
          </a:ln>
        </p:spPr>
        <p:txBody>
          <a:bodyPr/>
          <a:lstStyle/>
          <a:p>
            <a:endParaRPr lang="en-US"/>
          </a:p>
        </p:txBody>
      </p:sp>
      <p:sp>
        <p:nvSpPr>
          <p:cNvPr id="47" name="Text 44"/>
          <p:cNvSpPr/>
          <p:nvPr/>
        </p:nvSpPr>
        <p:spPr>
          <a:xfrm>
            <a:off x="9034272" y="3639312"/>
            <a:ext cx="2523744" cy="411480"/>
          </a:xfrm>
          <a:prstGeom prst="rect">
            <a:avLst/>
          </a:prstGeom>
          <a:noFill/>
          <a:ln/>
        </p:spPr>
        <p:txBody>
          <a:bodyPr wrap="square" lIns="0" tIns="0" rIns="0" bIns="0" rtlCol="0" anchor="ctr"/>
          <a:lstStyle/>
          <a:p>
            <a:pPr marL="0" indent="0">
              <a:buNone/>
            </a:pPr>
            <a:r>
              <a:rPr lang="en-US" sz="950" dirty="0">
                <a:solidFill>
                  <a:srgbClr val="F2F6FA"/>
                </a:solidFill>
                <a:latin typeface="Calibri" pitchFamily="34" charset="0"/>
                <a:ea typeface="Calibri" pitchFamily="34" charset="-122"/>
                <a:cs typeface="Calibri" pitchFamily="34" charset="-120"/>
              </a:rPr>
              <a:t>Target 6 to 8 times MOIC over 5 to 7 years.</a:t>
            </a:r>
            <a:endParaRPr lang="en-US" sz="950" dirty="0"/>
          </a:p>
        </p:txBody>
      </p:sp>
      <p:sp>
        <p:nvSpPr>
          <p:cNvPr id="48" name="Shape 45"/>
          <p:cNvSpPr/>
          <p:nvPr/>
        </p:nvSpPr>
        <p:spPr>
          <a:xfrm>
            <a:off x="8915400" y="4169664"/>
            <a:ext cx="41148" cy="41148"/>
          </a:xfrm>
          <a:prstGeom prst="rect">
            <a:avLst/>
          </a:prstGeom>
          <a:solidFill>
            <a:srgbClr val="C8922A"/>
          </a:solidFill>
          <a:ln w="12700">
            <a:solidFill>
              <a:srgbClr val="C8922A"/>
            </a:solidFill>
            <a:prstDash val="solid"/>
          </a:ln>
        </p:spPr>
        <p:txBody>
          <a:bodyPr/>
          <a:lstStyle/>
          <a:p>
            <a:endParaRPr lang="en-US"/>
          </a:p>
        </p:txBody>
      </p:sp>
      <p:sp>
        <p:nvSpPr>
          <p:cNvPr id="49" name="Text 46"/>
          <p:cNvSpPr/>
          <p:nvPr/>
        </p:nvSpPr>
        <p:spPr>
          <a:xfrm>
            <a:off x="9034272" y="4114800"/>
            <a:ext cx="2523744" cy="411480"/>
          </a:xfrm>
          <a:prstGeom prst="rect">
            <a:avLst/>
          </a:prstGeom>
          <a:noFill/>
          <a:ln/>
        </p:spPr>
        <p:txBody>
          <a:bodyPr wrap="square" lIns="0" tIns="0" rIns="0" bIns="0" rtlCol="0" anchor="ctr"/>
          <a:lstStyle/>
          <a:p>
            <a:pPr marL="0" indent="0">
              <a:buNone/>
            </a:pPr>
            <a:r>
              <a:rPr lang="en-US" sz="950" dirty="0">
                <a:solidFill>
                  <a:srgbClr val="F2F6FA"/>
                </a:solidFill>
                <a:latin typeface="Calibri" pitchFamily="34" charset="0"/>
                <a:ea typeface="Calibri" pitchFamily="34" charset="-122"/>
                <a:cs typeface="Calibri" pitchFamily="34" charset="-120"/>
              </a:rPr>
              <a:t>Exit through strategic M&amp;A from NVIDIA, Broadcom, Intel, or a late stage growth round.</a:t>
            </a:r>
            <a:endParaRPr lang="en-US" sz="950" dirty="0"/>
          </a:p>
        </p:txBody>
      </p:sp>
      <p:sp>
        <p:nvSpPr>
          <p:cNvPr id="50" name="Shape 47"/>
          <p:cNvSpPr/>
          <p:nvPr/>
        </p:nvSpPr>
        <p:spPr>
          <a:xfrm>
            <a:off x="8915400" y="4645152"/>
            <a:ext cx="41148" cy="41148"/>
          </a:xfrm>
          <a:prstGeom prst="rect">
            <a:avLst/>
          </a:prstGeom>
          <a:solidFill>
            <a:srgbClr val="C8922A"/>
          </a:solidFill>
          <a:ln w="12700">
            <a:solidFill>
              <a:srgbClr val="C8922A"/>
            </a:solidFill>
            <a:prstDash val="solid"/>
          </a:ln>
        </p:spPr>
        <p:txBody>
          <a:bodyPr/>
          <a:lstStyle/>
          <a:p>
            <a:endParaRPr lang="en-US"/>
          </a:p>
        </p:txBody>
      </p:sp>
      <p:sp>
        <p:nvSpPr>
          <p:cNvPr id="51" name="Text 48"/>
          <p:cNvSpPr/>
          <p:nvPr/>
        </p:nvSpPr>
        <p:spPr>
          <a:xfrm>
            <a:off x="9034272" y="4590288"/>
            <a:ext cx="2523744" cy="411480"/>
          </a:xfrm>
          <a:prstGeom prst="rect">
            <a:avLst/>
          </a:prstGeom>
          <a:noFill/>
          <a:ln/>
        </p:spPr>
        <p:txBody>
          <a:bodyPr wrap="square" lIns="0" tIns="0" rIns="0" bIns="0" rtlCol="0" anchor="ctr"/>
          <a:lstStyle/>
          <a:p>
            <a:pPr marL="0" indent="0">
              <a:buNone/>
            </a:pPr>
            <a:r>
              <a:rPr lang="en-US" sz="950" dirty="0">
                <a:solidFill>
                  <a:srgbClr val="F2F6FA"/>
                </a:solidFill>
                <a:latin typeface="Calibri" pitchFamily="34" charset="0"/>
                <a:ea typeface="Calibri" pitchFamily="34" charset="-122"/>
                <a:cs typeface="Calibri" pitchFamily="34" charset="-120"/>
              </a:rPr>
              <a:t>Every hyperscaler roadmap from 2026 onward assumes optical interconnects. Demand is pulled, not pushed.</a:t>
            </a:r>
            <a:endParaRPr lang="en-US" sz="950" dirty="0"/>
          </a:p>
        </p:txBody>
      </p:sp>
      <p:sp>
        <p:nvSpPr>
          <p:cNvPr id="52" name="Text 49"/>
          <p:cNvSpPr/>
          <p:nvPr/>
        </p:nvSpPr>
        <p:spPr>
          <a:xfrm>
            <a:off x="8887968" y="5166360"/>
            <a:ext cx="2706624" cy="640080"/>
          </a:xfrm>
          <a:prstGeom prst="rect">
            <a:avLst/>
          </a:prstGeom>
          <a:noFill/>
          <a:ln/>
        </p:spPr>
        <p:txBody>
          <a:bodyPr wrap="square" lIns="0" tIns="0" rIns="0" bIns="0" rtlCol="0" anchor="ctr"/>
          <a:lstStyle/>
          <a:p>
            <a:pPr marL="0" indent="0" algn="ctr">
              <a:buNone/>
            </a:pPr>
            <a:r>
              <a:rPr lang="en-US" sz="1000" b="1" dirty="0">
                <a:solidFill>
                  <a:srgbClr val="C8922A"/>
                </a:solidFill>
                <a:latin typeface="Calibri" pitchFamily="34" charset="0"/>
                <a:ea typeface="Calibri" pitchFamily="34" charset="-122"/>
                <a:cs typeface="Calibri" pitchFamily="34" charset="-120"/>
              </a:rPr>
              <a:t>ClearVision can own the bandwidth layer while the rest of the market is still chasing compute.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75488"/>
          </a:xfrm>
          <a:prstGeom prst="rect">
            <a:avLst/>
          </a:prstGeom>
          <a:solidFill>
            <a:srgbClr val="1B3A5C"/>
          </a:solidFill>
          <a:ln w="12700">
            <a:solidFill>
              <a:srgbClr val="1B3A5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28600" y="45720"/>
            <a:ext cx="1600200" cy="384048"/>
          </a:xfrm>
          <a:prstGeom prst="rect">
            <a:avLst/>
          </a:prstGeom>
        </p:spPr>
      </p:pic>
      <p:sp>
        <p:nvSpPr>
          <p:cNvPr id="4" name="Text 1"/>
          <p:cNvSpPr/>
          <p:nvPr/>
        </p:nvSpPr>
        <p:spPr>
          <a:xfrm>
            <a:off x="2103120" y="91440"/>
            <a:ext cx="8686800" cy="292608"/>
          </a:xfrm>
          <a:prstGeom prst="rect">
            <a:avLst/>
          </a:prstGeom>
          <a:noFill/>
          <a:ln/>
        </p:spPr>
        <p:txBody>
          <a:bodyPr wrap="square" lIns="0" tIns="0" rIns="0" bIns="0" rtlCol="0" anchor="ctr"/>
          <a:lstStyle/>
          <a:p>
            <a:pPr marL="0" indent="0">
              <a:buNone/>
            </a:pPr>
            <a:r>
              <a:rPr lang="en-US" sz="850" kern="0" spc="250" dirty="0">
                <a:solidFill>
                  <a:srgbClr val="D0DAE4"/>
                </a:solidFill>
                <a:latin typeface="Calibri" pitchFamily="34" charset="0"/>
                <a:ea typeface="Calibri" pitchFamily="34" charset="-122"/>
                <a:cs typeface="Calibri" pitchFamily="34" charset="-120"/>
              </a:rPr>
              <a:t>SILICON AND ACCELERATORS  ·  YABES</a:t>
            </a:r>
            <a:endParaRPr lang="en-US" sz="850" dirty="0"/>
          </a:p>
        </p:txBody>
      </p:sp>
      <p:sp>
        <p:nvSpPr>
          <p:cNvPr id="5" name="Text 2"/>
          <p:cNvSpPr/>
          <p:nvPr/>
        </p:nvSpPr>
        <p:spPr>
          <a:xfrm>
            <a:off x="11064240" y="91440"/>
            <a:ext cx="914400" cy="292608"/>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08 / 17</a:t>
            </a:r>
            <a:endParaRPr lang="en-US" sz="850" dirty="0"/>
          </a:p>
        </p:txBody>
      </p:sp>
      <p:sp>
        <p:nvSpPr>
          <p:cNvPr id="6" name="Shape 3"/>
          <p:cNvSpPr/>
          <p:nvPr/>
        </p:nvSpPr>
        <p:spPr>
          <a:xfrm>
            <a:off x="0" y="6537960"/>
            <a:ext cx="12188952" cy="320040"/>
          </a:xfrm>
          <a:prstGeom prst="rect">
            <a:avLst/>
          </a:prstGeom>
          <a:solidFill>
            <a:srgbClr val="F2F6FA"/>
          </a:solidFill>
          <a:ln w="12700">
            <a:solidFill>
              <a:srgbClr val="D0DAE4"/>
            </a:solidFill>
            <a:prstDash val="solid"/>
          </a:ln>
        </p:spPr>
        <p:txBody>
          <a:bodyPr/>
          <a:lstStyle/>
          <a:p>
            <a:endParaRPr lang="en-US"/>
          </a:p>
        </p:txBody>
      </p:sp>
      <p:sp>
        <p:nvSpPr>
          <p:cNvPr id="7" name="Text 4"/>
          <p:cNvSpPr/>
          <p:nvPr/>
        </p:nvSpPr>
        <p:spPr>
          <a:xfrm>
            <a:off x="274320" y="6565392"/>
            <a:ext cx="6400800" cy="256032"/>
          </a:xfrm>
          <a:prstGeom prst="rect">
            <a:avLst/>
          </a:prstGeom>
          <a:noFill/>
          <a:ln/>
        </p:spPr>
        <p:txBody>
          <a:bodyPr wrap="square" lIns="0" tIns="0" rIns="0" bIns="0" rtlCol="0" anchor="ctr"/>
          <a:lstStyle/>
          <a:p>
            <a:pPr marL="0" indent="0">
              <a:buNone/>
            </a:pPr>
            <a:r>
              <a:rPr lang="en-US" sz="750" dirty="0">
                <a:solidFill>
                  <a:srgbClr val="7B90A6"/>
                </a:solidFill>
                <a:latin typeface="Calibri" pitchFamily="34" charset="0"/>
                <a:ea typeface="Calibri" pitchFamily="34" charset="-122"/>
                <a:cs typeface="Calibri" pitchFamily="34" charset="-120"/>
              </a:rPr>
              <a:t>ClearVision Ventures  ·  Confidential  ·  April 2026</a:t>
            </a:r>
            <a:endParaRPr lang="en-US" sz="750" dirty="0"/>
          </a:p>
        </p:txBody>
      </p:sp>
      <p:sp>
        <p:nvSpPr>
          <p:cNvPr id="8" name="Text 5"/>
          <p:cNvSpPr/>
          <p:nvPr/>
        </p:nvSpPr>
        <p:spPr>
          <a:xfrm>
            <a:off x="411480" y="594360"/>
            <a:ext cx="10972800" cy="228600"/>
          </a:xfrm>
          <a:prstGeom prst="rect">
            <a:avLst/>
          </a:prstGeom>
          <a:noFill/>
          <a:ln/>
        </p:spPr>
        <p:txBody>
          <a:bodyPr wrap="square" lIns="0" tIns="0" rIns="0" bIns="0" rtlCol="0" anchor="ctr"/>
          <a:lstStyle/>
          <a:p>
            <a:pPr marL="0" indent="0">
              <a:buNone/>
            </a:pPr>
            <a:r>
              <a:rPr lang="en-US" sz="850" b="1" kern="0" spc="300" dirty="0">
                <a:solidFill>
                  <a:srgbClr val="2E6DA4"/>
                </a:solidFill>
                <a:latin typeface="Calibri" pitchFamily="34" charset="0"/>
                <a:ea typeface="Calibri" pitchFamily="34" charset="-122"/>
                <a:cs typeface="Calibri" pitchFamily="34" charset="-120"/>
              </a:rPr>
              <a:t>INVESTMENT THESIS</a:t>
            </a:r>
            <a:endParaRPr lang="en-US" sz="850" dirty="0"/>
          </a:p>
        </p:txBody>
      </p:sp>
      <p:sp>
        <p:nvSpPr>
          <p:cNvPr id="9" name="Text 6"/>
          <p:cNvSpPr/>
          <p:nvPr/>
        </p:nvSpPr>
        <p:spPr>
          <a:xfrm>
            <a:off x="411480" y="822960"/>
            <a:ext cx="11338560" cy="713232"/>
          </a:xfrm>
          <a:prstGeom prst="rect">
            <a:avLst/>
          </a:prstGeom>
          <a:noFill/>
          <a:ln/>
        </p:spPr>
        <p:txBody>
          <a:bodyPr wrap="square" lIns="0" tIns="0" rIns="0" bIns="0" rtlCol="0" anchor="ctr"/>
          <a:lstStyle/>
          <a:p>
            <a:pPr marL="0" indent="0">
              <a:buNone/>
            </a:pPr>
            <a:r>
              <a:rPr lang="en-US" sz="2800" b="1" dirty="0">
                <a:solidFill>
                  <a:srgbClr val="0F1E30"/>
                </a:solidFill>
                <a:latin typeface="Calibri" pitchFamily="34" charset="0"/>
                <a:ea typeface="Calibri" pitchFamily="34" charset="-122"/>
                <a:cs typeface="Calibri" pitchFamily="34" charset="-120"/>
              </a:rPr>
              <a:t>Lead the $40M Silicon Photonics Round Before the Market Consensus Arrives</a:t>
            </a:r>
            <a:endParaRPr lang="en-US" sz="2800" dirty="0"/>
          </a:p>
        </p:txBody>
      </p:sp>
      <p:sp>
        <p:nvSpPr>
          <p:cNvPr id="10" name="Shape 7"/>
          <p:cNvSpPr/>
          <p:nvPr/>
        </p:nvSpPr>
        <p:spPr>
          <a:xfrm>
            <a:off x="411480" y="1536192"/>
            <a:ext cx="1005840" cy="41148"/>
          </a:xfrm>
          <a:prstGeom prst="rect">
            <a:avLst/>
          </a:prstGeom>
          <a:solidFill>
            <a:srgbClr val="2E6DA4"/>
          </a:solidFill>
          <a:ln w="12700">
            <a:solidFill>
              <a:srgbClr val="2E6DA4"/>
            </a:solidFill>
            <a:prstDash val="solid"/>
          </a:ln>
        </p:spPr>
        <p:txBody>
          <a:bodyPr/>
          <a:lstStyle/>
          <a:p>
            <a:endParaRPr lang="en-US"/>
          </a:p>
        </p:txBody>
      </p:sp>
      <p:sp>
        <p:nvSpPr>
          <p:cNvPr id="11" name="Text 8"/>
          <p:cNvSpPr/>
          <p:nvPr/>
        </p:nvSpPr>
        <p:spPr>
          <a:xfrm>
            <a:off x="411480" y="1627632"/>
            <a:ext cx="11338560" cy="402336"/>
          </a:xfrm>
          <a:prstGeom prst="rect">
            <a:avLst/>
          </a:prstGeom>
          <a:noFill/>
          <a:ln/>
        </p:spPr>
        <p:txBody>
          <a:bodyPr wrap="square" lIns="0" tIns="0" rIns="0" bIns="0" rtlCol="0" anchor="ctr"/>
          <a:lstStyle/>
          <a:p>
            <a:pPr marL="0" indent="0">
              <a:buNone/>
            </a:pPr>
            <a:r>
              <a:rPr lang="en-US" sz="1150" i="1" dirty="0">
                <a:solidFill>
                  <a:srgbClr val="2C3E50"/>
                </a:solidFill>
                <a:latin typeface="Calibri" pitchFamily="34" charset="0"/>
                <a:ea typeface="Calibri" pitchFamily="34" charset="-122"/>
                <a:cs typeface="Calibri" pitchFamily="34" charset="-120"/>
              </a:rPr>
              <a:t>Optical interconnects are the picks and shovels of the AI decade. Every GPU cluster from 2026 forward is designed around them. The physics moat is real and the exit market is already validated.</a:t>
            </a:r>
            <a:endParaRPr lang="en-US" sz="1150" dirty="0"/>
          </a:p>
        </p:txBody>
      </p:sp>
      <p:sp>
        <p:nvSpPr>
          <p:cNvPr id="12" name="Shape 9"/>
          <p:cNvSpPr/>
          <p:nvPr/>
        </p:nvSpPr>
        <p:spPr>
          <a:xfrm>
            <a:off x="411480" y="2148840"/>
            <a:ext cx="3657600" cy="1280160"/>
          </a:xfrm>
          <a:prstGeom prst="rect">
            <a:avLst/>
          </a:prstGeom>
          <a:solidFill>
            <a:srgbClr val="1B3A5C"/>
          </a:solidFill>
          <a:ln w="12700">
            <a:solidFill>
              <a:srgbClr val="1B3A5C"/>
            </a:solidFill>
            <a:prstDash val="solid"/>
          </a:ln>
          <a:effectLst>
            <a:outerShdw blurRad="50800" dist="12700" dir="8100000" algn="bl" rotWithShape="0">
              <a:srgbClr val="000000">
                <a:alpha val="9000"/>
              </a:srgbClr>
            </a:outerShdw>
          </a:effectLst>
        </p:spPr>
        <p:txBody>
          <a:bodyPr/>
          <a:lstStyle/>
          <a:p>
            <a:endParaRPr lang="en-US"/>
          </a:p>
        </p:txBody>
      </p:sp>
      <p:sp>
        <p:nvSpPr>
          <p:cNvPr id="13" name="Text 10"/>
          <p:cNvSpPr/>
          <p:nvPr/>
        </p:nvSpPr>
        <p:spPr>
          <a:xfrm>
            <a:off x="576072" y="2240280"/>
            <a:ext cx="3328416"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Entry</a:t>
            </a:r>
            <a:endParaRPr lang="en-US" sz="1400" dirty="0"/>
          </a:p>
        </p:txBody>
      </p:sp>
      <p:sp>
        <p:nvSpPr>
          <p:cNvPr id="14" name="Text 11"/>
          <p:cNvSpPr/>
          <p:nvPr/>
        </p:nvSpPr>
        <p:spPr>
          <a:xfrm>
            <a:off x="576072" y="2606040"/>
            <a:ext cx="3328416" cy="713232"/>
          </a:xfrm>
          <a:prstGeom prst="rect">
            <a:avLst/>
          </a:prstGeom>
          <a:noFill/>
          <a:ln/>
        </p:spPr>
        <p:txBody>
          <a:bodyPr wrap="square" lIns="0" tIns="0" rIns="0" bIns="0" rtlCol="0" anchor="ctr"/>
          <a:lstStyle/>
          <a:p>
            <a:pPr marL="0" indent="0">
              <a:buNone/>
            </a:pPr>
            <a:r>
              <a:rPr lang="en-US" sz="1000" dirty="0">
                <a:solidFill>
                  <a:srgbClr val="DDEEFF"/>
                </a:solidFill>
                <a:latin typeface="Calibri" pitchFamily="34" charset="0"/>
                <a:ea typeface="Calibri" pitchFamily="34" charset="-122"/>
                <a:cs typeface="Calibri" pitchFamily="34" charset="-120"/>
              </a:rPr>
              <a:t>$40M Series B at ~$180M pre money. Secure board seat and pro rata rights through Series C and D.</a:t>
            </a:r>
            <a:endParaRPr lang="en-US" sz="1000" dirty="0"/>
          </a:p>
        </p:txBody>
      </p:sp>
      <p:sp>
        <p:nvSpPr>
          <p:cNvPr id="15" name="Shape 12"/>
          <p:cNvSpPr/>
          <p:nvPr/>
        </p:nvSpPr>
        <p:spPr>
          <a:xfrm>
            <a:off x="4343400" y="2148840"/>
            <a:ext cx="3657600" cy="1280160"/>
          </a:xfrm>
          <a:prstGeom prst="rect">
            <a:avLst/>
          </a:prstGeom>
          <a:solidFill>
            <a:srgbClr val="2E6DA4"/>
          </a:solidFill>
          <a:ln w="12700">
            <a:solidFill>
              <a:srgbClr val="2E6DA4"/>
            </a:solidFill>
            <a:prstDash val="solid"/>
          </a:ln>
          <a:effectLst>
            <a:outerShdw blurRad="50800" dist="12700" dir="8100000" algn="bl" rotWithShape="0">
              <a:srgbClr val="000000">
                <a:alpha val="9000"/>
              </a:srgbClr>
            </a:outerShdw>
          </a:effectLst>
        </p:spPr>
        <p:txBody>
          <a:bodyPr/>
          <a:lstStyle/>
          <a:p>
            <a:endParaRPr lang="en-US"/>
          </a:p>
        </p:txBody>
      </p:sp>
      <p:sp>
        <p:nvSpPr>
          <p:cNvPr id="16" name="Text 13"/>
          <p:cNvSpPr/>
          <p:nvPr/>
        </p:nvSpPr>
        <p:spPr>
          <a:xfrm>
            <a:off x="4507992" y="2240280"/>
            <a:ext cx="3328416"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Market</a:t>
            </a:r>
            <a:endParaRPr lang="en-US" sz="1400" dirty="0"/>
          </a:p>
        </p:txBody>
      </p:sp>
      <p:sp>
        <p:nvSpPr>
          <p:cNvPr id="17" name="Text 14"/>
          <p:cNvSpPr/>
          <p:nvPr/>
        </p:nvSpPr>
        <p:spPr>
          <a:xfrm>
            <a:off x="4507992" y="2606040"/>
            <a:ext cx="3328416" cy="713232"/>
          </a:xfrm>
          <a:prstGeom prst="rect">
            <a:avLst/>
          </a:prstGeom>
          <a:noFill/>
          <a:ln/>
        </p:spPr>
        <p:txBody>
          <a:bodyPr wrap="square" lIns="0" tIns="0" rIns="0" bIns="0" rtlCol="0" anchor="ctr"/>
          <a:lstStyle/>
          <a:p>
            <a:pPr marL="0" indent="0">
              <a:buNone/>
            </a:pPr>
            <a:r>
              <a:rPr lang="en-US" sz="1000" dirty="0">
                <a:solidFill>
                  <a:srgbClr val="DDEEFF"/>
                </a:solidFill>
                <a:latin typeface="Calibri" pitchFamily="34" charset="0"/>
                <a:ea typeface="Calibri" pitchFamily="34" charset="-122"/>
                <a:cs typeface="Calibri" pitchFamily="34" charset="-120"/>
              </a:rPr>
              <a:t>TAM of $15 to $20B by 2030 at 30% CAGR. $36B combined scale up interconnect market by 2030 per 650 Group.</a:t>
            </a:r>
            <a:endParaRPr lang="en-US" sz="1000" dirty="0"/>
          </a:p>
        </p:txBody>
      </p:sp>
      <p:sp>
        <p:nvSpPr>
          <p:cNvPr id="18" name="Shape 15"/>
          <p:cNvSpPr/>
          <p:nvPr/>
        </p:nvSpPr>
        <p:spPr>
          <a:xfrm>
            <a:off x="8275320" y="2148840"/>
            <a:ext cx="3657600" cy="1280160"/>
          </a:xfrm>
          <a:prstGeom prst="rect">
            <a:avLst/>
          </a:prstGeom>
          <a:solidFill>
            <a:srgbClr val="5096CC"/>
          </a:solidFill>
          <a:ln w="12700">
            <a:solidFill>
              <a:srgbClr val="5096CC"/>
            </a:solidFill>
            <a:prstDash val="solid"/>
          </a:ln>
          <a:effectLst>
            <a:outerShdw blurRad="50800" dist="12700" dir="8100000" algn="bl" rotWithShape="0">
              <a:srgbClr val="000000">
                <a:alpha val="9000"/>
              </a:srgbClr>
            </a:outerShdw>
          </a:effectLst>
        </p:spPr>
        <p:txBody>
          <a:bodyPr/>
          <a:lstStyle/>
          <a:p>
            <a:endParaRPr lang="en-US"/>
          </a:p>
        </p:txBody>
      </p:sp>
      <p:sp>
        <p:nvSpPr>
          <p:cNvPr id="19" name="Text 16"/>
          <p:cNvSpPr/>
          <p:nvPr/>
        </p:nvSpPr>
        <p:spPr>
          <a:xfrm>
            <a:off x="8439912" y="2240280"/>
            <a:ext cx="3328416"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Return</a:t>
            </a:r>
            <a:endParaRPr lang="en-US" sz="1400" dirty="0"/>
          </a:p>
        </p:txBody>
      </p:sp>
      <p:sp>
        <p:nvSpPr>
          <p:cNvPr id="20" name="Text 17"/>
          <p:cNvSpPr/>
          <p:nvPr/>
        </p:nvSpPr>
        <p:spPr>
          <a:xfrm>
            <a:off x="8439912" y="2606040"/>
            <a:ext cx="3328416" cy="713232"/>
          </a:xfrm>
          <a:prstGeom prst="rect">
            <a:avLst/>
          </a:prstGeom>
          <a:noFill/>
          <a:ln/>
        </p:spPr>
        <p:txBody>
          <a:bodyPr wrap="square" lIns="0" tIns="0" rIns="0" bIns="0" rtlCol="0" anchor="ctr"/>
          <a:lstStyle/>
          <a:p>
            <a:pPr marL="0" indent="0">
              <a:buNone/>
            </a:pPr>
            <a:r>
              <a:rPr lang="en-US" sz="1000" dirty="0">
                <a:solidFill>
                  <a:srgbClr val="DDEEFF"/>
                </a:solidFill>
                <a:latin typeface="Calibri" pitchFamily="34" charset="0"/>
                <a:ea typeface="Calibri" pitchFamily="34" charset="-122"/>
                <a:cs typeface="Calibri" pitchFamily="34" charset="-120"/>
              </a:rPr>
              <a:t>6 to 8 times MOIC target over 5 to 7 years. Strategic M&amp;A from NVIDIA, Broadcom, or Intel as primary exit.</a:t>
            </a:r>
            <a:endParaRPr lang="en-US" sz="1000" dirty="0"/>
          </a:p>
        </p:txBody>
      </p:sp>
      <p:sp>
        <p:nvSpPr>
          <p:cNvPr id="21" name="Text 18"/>
          <p:cNvSpPr/>
          <p:nvPr/>
        </p:nvSpPr>
        <p:spPr>
          <a:xfrm>
            <a:off x="411480" y="3584448"/>
            <a:ext cx="5486400" cy="320040"/>
          </a:xfrm>
          <a:prstGeom prst="rect">
            <a:avLst/>
          </a:prstGeom>
          <a:noFill/>
          <a:ln/>
        </p:spPr>
        <p:txBody>
          <a:bodyPr wrap="square" lIns="0" tIns="0" rIns="0" bIns="0" rtlCol="0" anchor="ctr"/>
          <a:lstStyle/>
          <a:p>
            <a:pPr marL="0" indent="0">
              <a:buNone/>
            </a:pPr>
            <a:r>
              <a:rPr lang="en-US" sz="1300" b="1" dirty="0">
                <a:solidFill>
                  <a:srgbClr val="0F1E30"/>
                </a:solidFill>
                <a:latin typeface="Calibri" pitchFamily="34" charset="0"/>
                <a:ea typeface="Calibri" pitchFamily="34" charset="-122"/>
                <a:cs typeface="Calibri" pitchFamily="34" charset="-120"/>
              </a:rPr>
              <a:t>30 / 60 / 90 Day Action Plan</a:t>
            </a:r>
            <a:endParaRPr lang="en-US" sz="1300" dirty="0"/>
          </a:p>
        </p:txBody>
      </p:sp>
      <p:sp>
        <p:nvSpPr>
          <p:cNvPr id="22" name="Shape 19"/>
          <p:cNvSpPr/>
          <p:nvPr/>
        </p:nvSpPr>
        <p:spPr>
          <a:xfrm>
            <a:off x="411480" y="4005072"/>
            <a:ext cx="1078992" cy="475488"/>
          </a:xfrm>
          <a:prstGeom prst="rect">
            <a:avLst/>
          </a:prstGeom>
          <a:solidFill>
            <a:srgbClr val="1B3A5C"/>
          </a:solidFill>
          <a:ln w="12700">
            <a:solidFill>
              <a:srgbClr val="1B3A5C"/>
            </a:solidFill>
            <a:prstDash val="solid"/>
          </a:ln>
        </p:spPr>
        <p:txBody>
          <a:bodyPr/>
          <a:lstStyle/>
          <a:p>
            <a:endParaRPr lang="en-US"/>
          </a:p>
        </p:txBody>
      </p:sp>
      <p:sp>
        <p:nvSpPr>
          <p:cNvPr id="23" name="Text 20"/>
          <p:cNvSpPr/>
          <p:nvPr/>
        </p:nvSpPr>
        <p:spPr>
          <a:xfrm>
            <a:off x="475488" y="4078224"/>
            <a:ext cx="95097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30 Days</a:t>
            </a:r>
            <a:endParaRPr lang="en-US" sz="1100" dirty="0"/>
          </a:p>
        </p:txBody>
      </p:sp>
      <p:sp>
        <p:nvSpPr>
          <p:cNvPr id="24" name="Text 21"/>
          <p:cNvSpPr/>
          <p:nvPr/>
        </p:nvSpPr>
        <p:spPr>
          <a:xfrm>
            <a:off x="1627632" y="4050792"/>
            <a:ext cx="9692640" cy="457200"/>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Shortlist three leading silicon photonics candidates from the Ayar Labs, Lightmatter, and POET tier. Begin technical diligence on optical chip architecture and packaging yield data.</a:t>
            </a:r>
            <a:endParaRPr lang="en-US" sz="1000" dirty="0"/>
          </a:p>
        </p:txBody>
      </p:sp>
      <p:sp>
        <p:nvSpPr>
          <p:cNvPr id="25" name="Shape 22"/>
          <p:cNvSpPr/>
          <p:nvPr/>
        </p:nvSpPr>
        <p:spPr>
          <a:xfrm>
            <a:off x="411480" y="4663440"/>
            <a:ext cx="1078992" cy="475488"/>
          </a:xfrm>
          <a:prstGeom prst="rect">
            <a:avLst/>
          </a:prstGeom>
          <a:solidFill>
            <a:srgbClr val="1B3A5C"/>
          </a:solidFill>
          <a:ln w="12700">
            <a:solidFill>
              <a:srgbClr val="1B3A5C"/>
            </a:solidFill>
            <a:prstDash val="solid"/>
          </a:ln>
        </p:spPr>
        <p:txBody>
          <a:bodyPr/>
          <a:lstStyle/>
          <a:p>
            <a:endParaRPr lang="en-US"/>
          </a:p>
        </p:txBody>
      </p:sp>
      <p:sp>
        <p:nvSpPr>
          <p:cNvPr id="26" name="Text 23"/>
          <p:cNvSpPr/>
          <p:nvPr/>
        </p:nvSpPr>
        <p:spPr>
          <a:xfrm>
            <a:off x="475488" y="4736592"/>
            <a:ext cx="95097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60 Days</a:t>
            </a:r>
            <a:endParaRPr lang="en-US" sz="1100" dirty="0"/>
          </a:p>
        </p:txBody>
      </p:sp>
      <p:sp>
        <p:nvSpPr>
          <p:cNvPr id="27" name="Text 24"/>
          <p:cNvSpPr/>
          <p:nvPr/>
        </p:nvSpPr>
        <p:spPr>
          <a:xfrm>
            <a:off x="1627632" y="4709160"/>
            <a:ext cx="9692640" cy="457200"/>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Complete IP audit and confirm cross ecosystem compatibility with both NVLink Fusion and UALink 2.0. Require named hyperscaler design wins, not roadmap presentations.</a:t>
            </a:r>
            <a:endParaRPr lang="en-US" sz="1000" dirty="0"/>
          </a:p>
        </p:txBody>
      </p:sp>
      <p:sp>
        <p:nvSpPr>
          <p:cNvPr id="28" name="Shape 25"/>
          <p:cNvSpPr/>
          <p:nvPr/>
        </p:nvSpPr>
        <p:spPr>
          <a:xfrm>
            <a:off x="411480" y="5321808"/>
            <a:ext cx="1078992" cy="475488"/>
          </a:xfrm>
          <a:prstGeom prst="rect">
            <a:avLst/>
          </a:prstGeom>
          <a:solidFill>
            <a:srgbClr val="1B3A5C"/>
          </a:solidFill>
          <a:ln w="12700">
            <a:solidFill>
              <a:srgbClr val="1B3A5C"/>
            </a:solidFill>
            <a:prstDash val="solid"/>
          </a:ln>
        </p:spPr>
        <p:txBody>
          <a:bodyPr/>
          <a:lstStyle/>
          <a:p>
            <a:endParaRPr lang="en-US"/>
          </a:p>
        </p:txBody>
      </p:sp>
      <p:sp>
        <p:nvSpPr>
          <p:cNvPr id="29" name="Text 26"/>
          <p:cNvSpPr/>
          <p:nvPr/>
        </p:nvSpPr>
        <p:spPr>
          <a:xfrm>
            <a:off x="475488" y="5394960"/>
            <a:ext cx="95097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90 Days</a:t>
            </a:r>
            <a:endParaRPr lang="en-US" sz="1100" dirty="0"/>
          </a:p>
        </p:txBody>
      </p:sp>
      <p:sp>
        <p:nvSpPr>
          <p:cNvPr id="30" name="Text 27"/>
          <p:cNvSpPr/>
          <p:nvPr/>
        </p:nvSpPr>
        <p:spPr>
          <a:xfrm>
            <a:off x="1627632" y="5367528"/>
            <a:ext cx="9692640" cy="457200"/>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Issue term sheet and secure hyperscaler letter of intent. Confirm foundry booking at TSMC and second source packaging agreement before closing.</a:t>
            </a:r>
            <a:endParaRPr lang="en-US" sz="1000" dirty="0"/>
          </a:p>
        </p:txBody>
      </p:sp>
      <p:sp>
        <p:nvSpPr>
          <p:cNvPr id="31" name="Shape 28"/>
          <p:cNvSpPr/>
          <p:nvPr/>
        </p:nvSpPr>
        <p:spPr>
          <a:xfrm>
            <a:off x="411480" y="6016752"/>
            <a:ext cx="11365992" cy="621792"/>
          </a:xfrm>
          <a:prstGeom prst="rect">
            <a:avLst/>
          </a:prstGeom>
          <a:solidFill>
            <a:srgbClr val="F2F6FA"/>
          </a:solidFill>
          <a:ln w="12700">
            <a:solidFill>
              <a:srgbClr val="D0DAE4"/>
            </a:solidFill>
            <a:prstDash val="solid"/>
          </a:ln>
        </p:spPr>
        <p:txBody>
          <a:bodyPr/>
          <a:lstStyle/>
          <a:p>
            <a:endParaRPr lang="en-US"/>
          </a:p>
        </p:txBody>
      </p:sp>
      <p:sp>
        <p:nvSpPr>
          <p:cNvPr id="32" name="Text 29"/>
          <p:cNvSpPr/>
          <p:nvPr/>
        </p:nvSpPr>
        <p:spPr>
          <a:xfrm>
            <a:off x="594360" y="6080760"/>
            <a:ext cx="2286000" cy="237744"/>
          </a:xfrm>
          <a:prstGeom prst="rect">
            <a:avLst/>
          </a:prstGeom>
          <a:noFill/>
          <a:ln/>
        </p:spPr>
        <p:txBody>
          <a:bodyPr wrap="square" lIns="0" tIns="0" rIns="0" bIns="0" rtlCol="0" anchor="ctr"/>
          <a:lstStyle/>
          <a:p>
            <a:pPr marL="0" indent="0">
              <a:buNone/>
            </a:pPr>
            <a:r>
              <a:rPr lang="en-US" sz="950" b="1" dirty="0">
                <a:solidFill>
                  <a:srgbClr val="1B3A5C"/>
                </a:solidFill>
                <a:latin typeface="Calibri" pitchFamily="34" charset="0"/>
                <a:ea typeface="Calibri" pitchFamily="34" charset="-122"/>
                <a:cs typeface="Calibri" pitchFamily="34" charset="-120"/>
              </a:rPr>
              <a:t>Key Risks and Mitigation</a:t>
            </a:r>
            <a:endParaRPr lang="en-US" sz="950" dirty="0"/>
          </a:p>
        </p:txBody>
      </p:sp>
      <p:sp>
        <p:nvSpPr>
          <p:cNvPr id="33" name="Text 30"/>
          <p:cNvSpPr/>
          <p:nvPr/>
        </p:nvSpPr>
        <p:spPr>
          <a:xfrm>
            <a:off x="594360" y="6327648"/>
            <a:ext cx="10972800" cy="256032"/>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Long commercial cycles and hyperscaler insourcing risk are addressed through milestone tranching, strategic LP co invest, and requiring second source IP licensing as a condition of investment.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75488"/>
          </a:xfrm>
          <a:prstGeom prst="rect">
            <a:avLst/>
          </a:prstGeom>
          <a:solidFill>
            <a:srgbClr val="1B3A5C"/>
          </a:solidFill>
          <a:ln w="12700">
            <a:solidFill>
              <a:srgbClr val="1B3A5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28600" y="45720"/>
            <a:ext cx="1600200" cy="384048"/>
          </a:xfrm>
          <a:prstGeom prst="rect">
            <a:avLst/>
          </a:prstGeom>
        </p:spPr>
      </p:pic>
      <p:sp>
        <p:nvSpPr>
          <p:cNvPr id="4" name="Text 1"/>
          <p:cNvSpPr/>
          <p:nvPr/>
        </p:nvSpPr>
        <p:spPr>
          <a:xfrm>
            <a:off x="2103120" y="91440"/>
            <a:ext cx="8686800" cy="292608"/>
          </a:xfrm>
          <a:prstGeom prst="rect">
            <a:avLst/>
          </a:prstGeom>
          <a:noFill/>
          <a:ln/>
        </p:spPr>
        <p:txBody>
          <a:bodyPr wrap="square" lIns="0" tIns="0" rIns="0" bIns="0" rtlCol="0" anchor="ctr"/>
          <a:lstStyle/>
          <a:p>
            <a:pPr marL="0" indent="0">
              <a:buNone/>
            </a:pPr>
            <a:r>
              <a:rPr lang="en-US" sz="850" kern="0" spc="250" dirty="0">
                <a:solidFill>
                  <a:srgbClr val="D0DAE4"/>
                </a:solidFill>
                <a:latin typeface="Calibri" pitchFamily="34" charset="0"/>
                <a:ea typeface="Calibri" pitchFamily="34" charset="-122"/>
                <a:cs typeface="Calibri" pitchFamily="34" charset="-120"/>
              </a:rPr>
              <a:t>PHOTONIC INTERCONNECTS  ·  BLESSING</a:t>
            </a:r>
            <a:endParaRPr lang="en-US" sz="850" dirty="0"/>
          </a:p>
        </p:txBody>
      </p:sp>
      <p:sp>
        <p:nvSpPr>
          <p:cNvPr id="5" name="Text 2"/>
          <p:cNvSpPr/>
          <p:nvPr/>
        </p:nvSpPr>
        <p:spPr>
          <a:xfrm>
            <a:off x="11064240" y="91440"/>
            <a:ext cx="914400" cy="292608"/>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09 / 17</a:t>
            </a:r>
            <a:endParaRPr lang="en-US" sz="850" dirty="0"/>
          </a:p>
        </p:txBody>
      </p:sp>
      <p:sp>
        <p:nvSpPr>
          <p:cNvPr id="6" name="Shape 3"/>
          <p:cNvSpPr/>
          <p:nvPr/>
        </p:nvSpPr>
        <p:spPr>
          <a:xfrm>
            <a:off x="0" y="6537960"/>
            <a:ext cx="12188952" cy="320040"/>
          </a:xfrm>
          <a:prstGeom prst="rect">
            <a:avLst/>
          </a:prstGeom>
          <a:solidFill>
            <a:srgbClr val="F2F6FA"/>
          </a:solidFill>
          <a:ln w="12700">
            <a:solidFill>
              <a:srgbClr val="D0DAE4"/>
            </a:solidFill>
            <a:prstDash val="solid"/>
          </a:ln>
        </p:spPr>
        <p:txBody>
          <a:bodyPr/>
          <a:lstStyle/>
          <a:p>
            <a:endParaRPr lang="en-US"/>
          </a:p>
        </p:txBody>
      </p:sp>
      <p:sp>
        <p:nvSpPr>
          <p:cNvPr id="7" name="Text 4"/>
          <p:cNvSpPr/>
          <p:nvPr/>
        </p:nvSpPr>
        <p:spPr>
          <a:xfrm>
            <a:off x="274320" y="6565392"/>
            <a:ext cx="6400800" cy="256032"/>
          </a:xfrm>
          <a:prstGeom prst="rect">
            <a:avLst/>
          </a:prstGeom>
          <a:noFill/>
          <a:ln/>
        </p:spPr>
        <p:txBody>
          <a:bodyPr wrap="square" lIns="0" tIns="0" rIns="0" bIns="0" rtlCol="0" anchor="ctr"/>
          <a:lstStyle/>
          <a:p>
            <a:pPr marL="0" indent="0">
              <a:buNone/>
            </a:pPr>
            <a:r>
              <a:rPr lang="en-US" sz="750" dirty="0">
                <a:solidFill>
                  <a:srgbClr val="7B90A6"/>
                </a:solidFill>
                <a:latin typeface="Calibri" pitchFamily="34" charset="0"/>
                <a:ea typeface="Calibri" pitchFamily="34" charset="-122"/>
                <a:cs typeface="Calibri" pitchFamily="34" charset="-120"/>
              </a:rPr>
              <a:t>ClearVision Ventures  ·  Confidential  ·  April 2026</a:t>
            </a:r>
            <a:endParaRPr lang="en-US" sz="750" dirty="0"/>
          </a:p>
        </p:txBody>
      </p:sp>
      <p:sp>
        <p:nvSpPr>
          <p:cNvPr id="8" name="Text 5"/>
          <p:cNvSpPr/>
          <p:nvPr/>
        </p:nvSpPr>
        <p:spPr>
          <a:xfrm>
            <a:off x="411480" y="594360"/>
            <a:ext cx="10972800" cy="228600"/>
          </a:xfrm>
          <a:prstGeom prst="rect">
            <a:avLst/>
          </a:prstGeom>
          <a:noFill/>
          <a:ln/>
        </p:spPr>
        <p:txBody>
          <a:bodyPr wrap="square" lIns="0" tIns="0" rIns="0" bIns="0" rtlCol="0" anchor="ctr"/>
          <a:lstStyle/>
          <a:p>
            <a:pPr marL="0" indent="0">
              <a:buNone/>
            </a:pPr>
            <a:r>
              <a:rPr lang="en-US" sz="850" b="1" kern="0" spc="300" dirty="0">
                <a:solidFill>
                  <a:srgbClr val="2E6DA4"/>
                </a:solidFill>
                <a:latin typeface="Calibri" pitchFamily="34" charset="0"/>
                <a:ea typeface="Calibri" pitchFamily="34" charset="-122"/>
                <a:cs typeface="Calibri" pitchFamily="34" charset="-120"/>
              </a:rPr>
              <a:t>THE PHYSICS OF COPPER FAILURE</a:t>
            </a:r>
            <a:endParaRPr lang="en-US" sz="850" dirty="0"/>
          </a:p>
        </p:txBody>
      </p:sp>
      <p:sp>
        <p:nvSpPr>
          <p:cNvPr id="9" name="Text 6"/>
          <p:cNvSpPr/>
          <p:nvPr/>
        </p:nvSpPr>
        <p:spPr>
          <a:xfrm>
            <a:off x="411480" y="822960"/>
            <a:ext cx="11338560" cy="713232"/>
          </a:xfrm>
          <a:prstGeom prst="rect">
            <a:avLst/>
          </a:prstGeom>
          <a:noFill/>
          <a:ln/>
        </p:spPr>
        <p:txBody>
          <a:bodyPr wrap="square" lIns="0" tIns="0" rIns="0" bIns="0" rtlCol="0" anchor="ctr"/>
          <a:lstStyle/>
          <a:p>
            <a:pPr marL="0" indent="0">
              <a:buNone/>
            </a:pPr>
            <a:r>
              <a:rPr lang="en-US" sz="2800" b="1" dirty="0">
                <a:solidFill>
                  <a:srgbClr val="0F1E30"/>
                </a:solidFill>
                <a:latin typeface="Calibri" pitchFamily="34" charset="0"/>
                <a:ea typeface="Calibri" pitchFamily="34" charset="-122"/>
                <a:cs typeface="Calibri" pitchFamily="34" charset="-120"/>
              </a:rPr>
              <a:t>Copper Has Not Approached Its Limits. It Has Exceeded Them.</a:t>
            </a:r>
            <a:endParaRPr lang="en-US" sz="2800" dirty="0"/>
          </a:p>
        </p:txBody>
      </p:sp>
      <p:sp>
        <p:nvSpPr>
          <p:cNvPr id="10" name="Shape 7"/>
          <p:cNvSpPr/>
          <p:nvPr/>
        </p:nvSpPr>
        <p:spPr>
          <a:xfrm>
            <a:off x="411480" y="1536192"/>
            <a:ext cx="1005840" cy="41148"/>
          </a:xfrm>
          <a:prstGeom prst="rect">
            <a:avLst/>
          </a:prstGeom>
          <a:solidFill>
            <a:srgbClr val="2E6DA4"/>
          </a:solidFill>
          <a:ln w="12700">
            <a:solidFill>
              <a:srgbClr val="2E6DA4"/>
            </a:solidFill>
            <a:prstDash val="solid"/>
          </a:ln>
        </p:spPr>
        <p:txBody>
          <a:bodyPr/>
          <a:lstStyle/>
          <a:p>
            <a:endParaRPr lang="en-US"/>
          </a:p>
        </p:txBody>
      </p:sp>
      <p:sp>
        <p:nvSpPr>
          <p:cNvPr id="11" name="Text 8"/>
          <p:cNvSpPr/>
          <p:nvPr/>
        </p:nvSpPr>
        <p:spPr>
          <a:xfrm>
            <a:off x="411480" y="1627632"/>
            <a:ext cx="7772400" cy="548640"/>
          </a:xfrm>
          <a:prstGeom prst="rect">
            <a:avLst/>
          </a:prstGeom>
          <a:noFill/>
          <a:ln/>
        </p:spPr>
        <p:txBody>
          <a:bodyPr wrap="square" lIns="0" tIns="0" rIns="0" bIns="0" rtlCol="0" anchor="ctr"/>
          <a:lstStyle/>
          <a:p>
            <a:pPr marL="0" indent="0">
              <a:buNone/>
            </a:pPr>
            <a:r>
              <a:rPr lang="en-US" sz="1150" i="1" dirty="0">
                <a:solidFill>
                  <a:srgbClr val="2C3E50"/>
                </a:solidFill>
                <a:latin typeface="Calibri" pitchFamily="34" charset="0"/>
                <a:ea typeface="Calibri" pitchFamily="34" charset="-122"/>
                <a:cs typeface="Calibri" pitchFamily="34" charset="-120"/>
              </a:rPr>
              <a:t>At 224 gigabits per second per lane, the speed required for modern AI interconnect, copper cannot transmit data more than one meter without active regeneration. This is not an engineering problem awaiting a clever solution. It is the skin effect: a fundamental property of electromagnetism.</a:t>
            </a:r>
            <a:endParaRPr lang="en-US" sz="1150" dirty="0"/>
          </a:p>
        </p:txBody>
      </p:sp>
      <p:sp>
        <p:nvSpPr>
          <p:cNvPr id="12" name="Shape 9"/>
          <p:cNvSpPr/>
          <p:nvPr/>
        </p:nvSpPr>
        <p:spPr>
          <a:xfrm>
            <a:off x="411480" y="2212848"/>
            <a:ext cx="1828800" cy="118872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3" name="Shape 10"/>
          <p:cNvSpPr/>
          <p:nvPr/>
        </p:nvSpPr>
        <p:spPr>
          <a:xfrm>
            <a:off x="411480" y="2212848"/>
            <a:ext cx="1828800" cy="50292"/>
          </a:xfrm>
          <a:prstGeom prst="rect">
            <a:avLst/>
          </a:prstGeom>
          <a:solidFill>
            <a:srgbClr val="1B3A5C"/>
          </a:solidFill>
          <a:ln w="12700">
            <a:solidFill>
              <a:srgbClr val="1B3A5C"/>
            </a:solidFill>
            <a:prstDash val="solid"/>
          </a:ln>
        </p:spPr>
        <p:txBody>
          <a:bodyPr/>
          <a:lstStyle/>
          <a:p>
            <a:endParaRPr lang="en-US"/>
          </a:p>
        </p:txBody>
      </p:sp>
      <p:sp>
        <p:nvSpPr>
          <p:cNvPr id="14" name="Text 11"/>
          <p:cNvSpPr/>
          <p:nvPr/>
        </p:nvSpPr>
        <p:spPr>
          <a:xfrm>
            <a:off x="502920" y="2350008"/>
            <a:ext cx="1645920" cy="512064"/>
          </a:xfrm>
          <a:prstGeom prst="rect">
            <a:avLst/>
          </a:prstGeom>
          <a:noFill/>
          <a:ln/>
        </p:spPr>
        <p:txBody>
          <a:bodyPr wrap="square" lIns="0" tIns="0" rIns="0" bIns="0" rtlCol="0" anchor="ctr"/>
          <a:lstStyle/>
          <a:p>
            <a:pPr marL="0" indent="0" algn="ctr">
              <a:buNone/>
            </a:pPr>
            <a:r>
              <a:rPr lang="en-US" sz="2500" b="1" dirty="0">
                <a:solidFill>
                  <a:srgbClr val="1B3A5C"/>
                </a:solidFill>
                <a:latin typeface="Calibri" pitchFamily="34" charset="0"/>
                <a:ea typeface="Calibri" pitchFamily="34" charset="-122"/>
                <a:cs typeface="Calibri" pitchFamily="34" charset="-120"/>
              </a:rPr>
              <a:t>480kW</a:t>
            </a:r>
            <a:endParaRPr lang="en-US" sz="2500" dirty="0"/>
          </a:p>
        </p:txBody>
      </p:sp>
      <p:sp>
        <p:nvSpPr>
          <p:cNvPr id="15" name="Text 12"/>
          <p:cNvSpPr/>
          <p:nvPr/>
        </p:nvSpPr>
        <p:spPr>
          <a:xfrm>
            <a:off x="502920" y="2871216"/>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Wasted in an 18,000 GPU cluster just to move data between chips</a:t>
            </a:r>
            <a:endParaRPr lang="en-US" sz="900" dirty="0"/>
          </a:p>
        </p:txBody>
      </p:sp>
      <p:sp>
        <p:nvSpPr>
          <p:cNvPr id="16" name="Shape 13"/>
          <p:cNvSpPr/>
          <p:nvPr/>
        </p:nvSpPr>
        <p:spPr>
          <a:xfrm>
            <a:off x="2423160" y="2212848"/>
            <a:ext cx="1828800" cy="118872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7" name="Shape 14"/>
          <p:cNvSpPr/>
          <p:nvPr/>
        </p:nvSpPr>
        <p:spPr>
          <a:xfrm>
            <a:off x="2423160" y="2212848"/>
            <a:ext cx="1828800" cy="50292"/>
          </a:xfrm>
          <a:prstGeom prst="rect">
            <a:avLst/>
          </a:prstGeom>
          <a:solidFill>
            <a:srgbClr val="2E6DA4"/>
          </a:solidFill>
          <a:ln w="12700">
            <a:solidFill>
              <a:srgbClr val="2E6DA4"/>
            </a:solidFill>
            <a:prstDash val="solid"/>
          </a:ln>
        </p:spPr>
        <p:txBody>
          <a:bodyPr/>
          <a:lstStyle/>
          <a:p>
            <a:endParaRPr lang="en-US"/>
          </a:p>
        </p:txBody>
      </p:sp>
      <p:sp>
        <p:nvSpPr>
          <p:cNvPr id="18" name="Text 15"/>
          <p:cNvSpPr/>
          <p:nvPr/>
        </p:nvSpPr>
        <p:spPr>
          <a:xfrm>
            <a:off x="2514600" y="2350008"/>
            <a:ext cx="1645920" cy="512064"/>
          </a:xfrm>
          <a:prstGeom prst="rect">
            <a:avLst/>
          </a:prstGeom>
          <a:noFill/>
          <a:ln/>
        </p:spPr>
        <p:txBody>
          <a:bodyPr wrap="square" lIns="0" tIns="0" rIns="0" bIns="0" rtlCol="0" anchor="ctr"/>
          <a:lstStyle/>
          <a:p>
            <a:pPr marL="0" indent="0" algn="ctr">
              <a:buNone/>
            </a:pPr>
            <a:r>
              <a:rPr lang="en-US" sz="2500" b="1" dirty="0">
                <a:solidFill>
                  <a:srgbClr val="2E6DA4"/>
                </a:solidFill>
                <a:latin typeface="Calibri" pitchFamily="34" charset="0"/>
                <a:ea typeface="Calibri" pitchFamily="34" charset="-122"/>
                <a:cs typeface="Calibri" pitchFamily="34" charset="-120"/>
              </a:rPr>
              <a:t>55pJ</a:t>
            </a:r>
            <a:endParaRPr lang="en-US" sz="2500" dirty="0"/>
          </a:p>
        </p:txBody>
      </p:sp>
      <p:sp>
        <p:nvSpPr>
          <p:cNvPr id="19" name="Text 16"/>
          <p:cNvSpPr/>
          <p:nvPr/>
        </p:nvSpPr>
        <p:spPr>
          <a:xfrm>
            <a:off x="2514600" y="2871216"/>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Energy per bit on copper vs under 5pJ on co packaged optics</a:t>
            </a:r>
            <a:endParaRPr lang="en-US" sz="900" dirty="0"/>
          </a:p>
        </p:txBody>
      </p:sp>
      <p:sp>
        <p:nvSpPr>
          <p:cNvPr id="20" name="Shape 17"/>
          <p:cNvSpPr/>
          <p:nvPr/>
        </p:nvSpPr>
        <p:spPr>
          <a:xfrm>
            <a:off x="4434840" y="2212848"/>
            <a:ext cx="1828800" cy="118872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1" name="Shape 18"/>
          <p:cNvSpPr/>
          <p:nvPr/>
        </p:nvSpPr>
        <p:spPr>
          <a:xfrm>
            <a:off x="4434840" y="2212848"/>
            <a:ext cx="1828800" cy="50292"/>
          </a:xfrm>
          <a:prstGeom prst="rect">
            <a:avLst/>
          </a:prstGeom>
          <a:solidFill>
            <a:srgbClr val="1F7A5C"/>
          </a:solidFill>
          <a:ln w="12700">
            <a:solidFill>
              <a:srgbClr val="1F7A5C"/>
            </a:solidFill>
            <a:prstDash val="solid"/>
          </a:ln>
        </p:spPr>
        <p:txBody>
          <a:bodyPr/>
          <a:lstStyle/>
          <a:p>
            <a:endParaRPr lang="en-US"/>
          </a:p>
        </p:txBody>
      </p:sp>
      <p:sp>
        <p:nvSpPr>
          <p:cNvPr id="22" name="Text 19"/>
          <p:cNvSpPr/>
          <p:nvPr/>
        </p:nvSpPr>
        <p:spPr>
          <a:xfrm>
            <a:off x="4526280" y="2350008"/>
            <a:ext cx="1645920" cy="512064"/>
          </a:xfrm>
          <a:prstGeom prst="rect">
            <a:avLst/>
          </a:prstGeom>
          <a:noFill/>
          <a:ln/>
        </p:spPr>
        <p:txBody>
          <a:bodyPr wrap="square" lIns="0" tIns="0" rIns="0" bIns="0" rtlCol="0" anchor="ctr"/>
          <a:lstStyle/>
          <a:p>
            <a:pPr marL="0" indent="0" algn="ctr">
              <a:buNone/>
            </a:pPr>
            <a:r>
              <a:rPr lang="en-US" sz="2500" b="1" dirty="0">
                <a:solidFill>
                  <a:srgbClr val="1F7A5C"/>
                </a:solidFill>
                <a:latin typeface="Calibri" pitchFamily="34" charset="0"/>
                <a:ea typeface="Calibri" pitchFamily="34" charset="-122"/>
                <a:cs typeface="Calibri" pitchFamily="34" charset="-120"/>
              </a:rPr>
              <a:t>$175M</a:t>
            </a:r>
            <a:endParaRPr lang="en-US" sz="2500" dirty="0"/>
          </a:p>
        </p:txBody>
      </p:sp>
      <p:sp>
        <p:nvSpPr>
          <p:cNvPr id="23" name="Text 20"/>
          <p:cNvSpPr/>
          <p:nvPr/>
        </p:nvSpPr>
        <p:spPr>
          <a:xfrm>
            <a:off x="4526280" y="2871216"/>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Annual electricity savings at hyperscale from photonic adoption</a:t>
            </a:r>
            <a:endParaRPr lang="en-US" sz="900" dirty="0"/>
          </a:p>
        </p:txBody>
      </p:sp>
      <p:sp>
        <p:nvSpPr>
          <p:cNvPr id="24" name="Shape 21"/>
          <p:cNvSpPr/>
          <p:nvPr/>
        </p:nvSpPr>
        <p:spPr>
          <a:xfrm>
            <a:off x="6446520" y="2212848"/>
            <a:ext cx="1828800" cy="118872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5" name="Shape 22"/>
          <p:cNvSpPr/>
          <p:nvPr/>
        </p:nvSpPr>
        <p:spPr>
          <a:xfrm>
            <a:off x="6446520" y="2212848"/>
            <a:ext cx="1828800" cy="50292"/>
          </a:xfrm>
          <a:prstGeom prst="rect">
            <a:avLst/>
          </a:prstGeom>
          <a:solidFill>
            <a:srgbClr val="C8922A"/>
          </a:solidFill>
          <a:ln w="12700">
            <a:solidFill>
              <a:srgbClr val="C8922A"/>
            </a:solidFill>
            <a:prstDash val="solid"/>
          </a:ln>
        </p:spPr>
        <p:txBody>
          <a:bodyPr/>
          <a:lstStyle/>
          <a:p>
            <a:endParaRPr lang="en-US"/>
          </a:p>
        </p:txBody>
      </p:sp>
      <p:sp>
        <p:nvSpPr>
          <p:cNvPr id="26" name="Text 23"/>
          <p:cNvSpPr/>
          <p:nvPr/>
        </p:nvSpPr>
        <p:spPr>
          <a:xfrm>
            <a:off x="6537960" y="2350008"/>
            <a:ext cx="1645920" cy="512064"/>
          </a:xfrm>
          <a:prstGeom prst="rect">
            <a:avLst/>
          </a:prstGeom>
          <a:noFill/>
          <a:ln/>
        </p:spPr>
        <p:txBody>
          <a:bodyPr wrap="square" lIns="0" tIns="0" rIns="0" bIns="0" rtlCol="0" anchor="ctr"/>
          <a:lstStyle/>
          <a:p>
            <a:pPr marL="0" indent="0" algn="ctr">
              <a:buNone/>
            </a:pPr>
            <a:r>
              <a:rPr lang="en-US" sz="2500" b="1" dirty="0">
                <a:solidFill>
                  <a:srgbClr val="C8922A"/>
                </a:solidFill>
                <a:latin typeface="Calibri" pitchFamily="34" charset="0"/>
                <a:ea typeface="Calibri" pitchFamily="34" charset="-122"/>
                <a:cs typeface="Calibri" pitchFamily="34" charset="-120"/>
              </a:rPr>
              <a:t>7 months</a:t>
            </a:r>
            <a:endParaRPr lang="en-US" sz="2500" dirty="0"/>
          </a:p>
        </p:txBody>
      </p:sp>
      <p:sp>
        <p:nvSpPr>
          <p:cNvPr id="27" name="Text 24"/>
          <p:cNvSpPr/>
          <p:nvPr/>
        </p:nvSpPr>
        <p:spPr>
          <a:xfrm>
            <a:off x="6537960" y="2871216"/>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Payback period on photonic premium from operating savings alone</a:t>
            </a:r>
            <a:endParaRPr lang="en-US" sz="900" dirty="0"/>
          </a:p>
        </p:txBody>
      </p:sp>
      <p:sp>
        <p:nvSpPr>
          <p:cNvPr id="28" name="Shape 25"/>
          <p:cNvSpPr/>
          <p:nvPr/>
        </p:nvSpPr>
        <p:spPr>
          <a:xfrm>
            <a:off x="411480" y="3566160"/>
            <a:ext cx="50292" cy="475488"/>
          </a:xfrm>
          <a:prstGeom prst="rect">
            <a:avLst/>
          </a:prstGeom>
          <a:solidFill>
            <a:srgbClr val="1F7A5C"/>
          </a:solidFill>
          <a:ln w="12700">
            <a:solidFill>
              <a:srgbClr val="1F7A5C"/>
            </a:solidFill>
            <a:prstDash val="solid"/>
          </a:ln>
        </p:spPr>
        <p:txBody>
          <a:bodyPr/>
          <a:lstStyle/>
          <a:p>
            <a:endParaRPr lang="en-US"/>
          </a:p>
        </p:txBody>
      </p:sp>
      <p:sp>
        <p:nvSpPr>
          <p:cNvPr id="29" name="Text 26"/>
          <p:cNvSpPr/>
          <p:nvPr/>
        </p:nvSpPr>
        <p:spPr>
          <a:xfrm>
            <a:off x="576072" y="3584448"/>
            <a:ext cx="7680960" cy="237744"/>
          </a:xfrm>
          <a:prstGeom prst="rect">
            <a:avLst/>
          </a:prstGeom>
          <a:noFill/>
          <a:ln/>
        </p:spPr>
        <p:txBody>
          <a:bodyPr wrap="square" lIns="0" tIns="0" rIns="0" bIns="0" rtlCol="0" anchor="ctr"/>
          <a:lstStyle/>
          <a:p>
            <a:pPr marL="0" indent="0">
              <a:buNone/>
            </a:pPr>
            <a:r>
              <a:rPr lang="en-US" sz="1150" b="1" dirty="0">
                <a:solidFill>
                  <a:srgbClr val="0F1E30"/>
                </a:solidFill>
                <a:latin typeface="Calibri" pitchFamily="34" charset="0"/>
                <a:ea typeface="Calibri" pitchFamily="34" charset="-122"/>
                <a:cs typeface="Calibri" pitchFamily="34" charset="-120"/>
              </a:rPr>
              <a:t>The Energy Case Is Positive on Operating Cost Alone</a:t>
            </a:r>
            <a:endParaRPr lang="en-US" sz="1150" dirty="0"/>
          </a:p>
        </p:txBody>
      </p:sp>
      <p:sp>
        <p:nvSpPr>
          <p:cNvPr id="30" name="Text 27"/>
          <p:cNvSpPr/>
          <p:nvPr/>
        </p:nvSpPr>
        <p:spPr>
          <a:xfrm>
            <a:off x="576072" y="3822192"/>
            <a:ext cx="7680960" cy="420624"/>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Copper at AI speeds consumes 55 picojoules per bit. Co packaged optics consume fewer than 5. At one million active data connections the annual electricity savings exceed $175M. The capital premium for photonic interconnect over copper is approximately 1.9% of total cluster cost. It pays for itself in seven months.</a:t>
            </a:r>
            <a:endParaRPr lang="en-US" sz="950" dirty="0"/>
          </a:p>
        </p:txBody>
      </p:sp>
      <p:sp>
        <p:nvSpPr>
          <p:cNvPr id="31" name="Shape 28"/>
          <p:cNvSpPr/>
          <p:nvPr/>
        </p:nvSpPr>
        <p:spPr>
          <a:xfrm>
            <a:off x="411480" y="4279392"/>
            <a:ext cx="50292" cy="475488"/>
          </a:xfrm>
          <a:prstGeom prst="rect">
            <a:avLst/>
          </a:prstGeom>
          <a:solidFill>
            <a:srgbClr val="1F7A5C"/>
          </a:solidFill>
          <a:ln w="12700">
            <a:solidFill>
              <a:srgbClr val="1F7A5C"/>
            </a:solidFill>
            <a:prstDash val="solid"/>
          </a:ln>
        </p:spPr>
        <p:txBody>
          <a:bodyPr/>
          <a:lstStyle/>
          <a:p>
            <a:endParaRPr lang="en-US"/>
          </a:p>
        </p:txBody>
      </p:sp>
      <p:sp>
        <p:nvSpPr>
          <p:cNvPr id="32" name="Text 29"/>
          <p:cNvSpPr/>
          <p:nvPr/>
        </p:nvSpPr>
        <p:spPr>
          <a:xfrm>
            <a:off x="576072" y="4297680"/>
            <a:ext cx="7680960" cy="237744"/>
          </a:xfrm>
          <a:prstGeom prst="rect">
            <a:avLst/>
          </a:prstGeom>
          <a:noFill/>
          <a:ln/>
        </p:spPr>
        <p:txBody>
          <a:bodyPr wrap="square" lIns="0" tIns="0" rIns="0" bIns="0" rtlCol="0" anchor="ctr"/>
          <a:lstStyle/>
          <a:p>
            <a:pPr marL="0" indent="0">
              <a:buNone/>
            </a:pPr>
            <a:r>
              <a:rPr lang="en-US" sz="1150" b="1" dirty="0">
                <a:solidFill>
                  <a:srgbClr val="0F1E30"/>
                </a:solidFill>
                <a:latin typeface="Calibri" pitchFamily="34" charset="0"/>
                <a:ea typeface="Calibri" pitchFamily="34" charset="-122"/>
                <a:cs typeface="Calibri" pitchFamily="34" charset="-120"/>
              </a:rPr>
              <a:t>The Supply Chain Constraint Creates Pricing Power</a:t>
            </a:r>
            <a:endParaRPr lang="en-US" sz="1150" dirty="0"/>
          </a:p>
        </p:txBody>
      </p:sp>
      <p:sp>
        <p:nvSpPr>
          <p:cNvPr id="33" name="Text 30"/>
          <p:cNvSpPr/>
          <p:nvPr/>
        </p:nvSpPr>
        <p:spPr>
          <a:xfrm>
            <a:off x="576072" y="4535424"/>
            <a:ext cx="7680960" cy="420624"/>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Global demand for indium phosphide devices reached 2 million units in 2025 while production capacity was only 600,000. A 70% supply demand gap. NVIDIA has pre allocated EML laser capacity at Lumentum and Coherent through 2027. Companies without a supply agreement face delays regardless of budget.</a:t>
            </a:r>
            <a:endParaRPr lang="en-US" sz="950" dirty="0"/>
          </a:p>
        </p:txBody>
      </p:sp>
      <p:sp>
        <p:nvSpPr>
          <p:cNvPr id="34" name="Shape 31"/>
          <p:cNvSpPr/>
          <p:nvPr/>
        </p:nvSpPr>
        <p:spPr>
          <a:xfrm>
            <a:off x="411480" y="4992624"/>
            <a:ext cx="50292" cy="475488"/>
          </a:xfrm>
          <a:prstGeom prst="rect">
            <a:avLst/>
          </a:prstGeom>
          <a:solidFill>
            <a:srgbClr val="1F7A5C"/>
          </a:solidFill>
          <a:ln w="12700">
            <a:solidFill>
              <a:srgbClr val="1F7A5C"/>
            </a:solidFill>
            <a:prstDash val="solid"/>
          </a:ln>
        </p:spPr>
        <p:txBody>
          <a:bodyPr/>
          <a:lstStyle/>
          <a:p>
            <a:endParaRPr lang="en-US"/>
          </a:p>
        </p:txBody>
      </p:sp>
      <p:sp>
        <p:nvSpPr>
          <p:cNvPr id="35" name="Text 32"/>
          <p:cNvSpPr/>
          <p:nvPr/>
        </p:nvSpPr>
        <p:spPr>
          <a:xfrm>
            <a:off x="576072" y="5010912"/>
            <a:ext cx="7680960" cy="237744"/>
          </a:xfrm>
          <a:prstGeom prst="rect">
            <a:avLst/>
          </a:prstGeom>
          <a:noFill/>
          <a:ln/>
        </p:spPr>
        <p:txBody>
          <a:bodyPr wrap="square" lIns="0" tIns="0" rIns="0" bIns="0" rtlCol="0" anchor="ctr"/>
          <a:lstStyle/>
          <a:p>
            <a:pPr marL="0" indent="0">
              <a:buNone/>
            </a:pPr>
            <a:r>
              <a:rPr lang="en-US" sz="1150" b="1" dirty="0">
                <a:solidFill>
                  <a:srgbClr val="0F1E30"/>
                </a:solidFill>
                <a:latin typeface="Calibri" pitchFamily="34" charset="0"/>
                <a:ea typeface="Calibri" pitchFamily="34" charset="-122"/>
                <a:cs typeface="Calibri" pitchFamily="34" charset="-120"/>
              </a:rPr>
              <a:t>The Exit Market Has Already Been Validated</a:t>
            </a:r>
            <a:endParaRPr lang="en-US" sz="1150" dirty="0"/>
          </a:p>
        </p:txBody>
      </p:sp>
      <p:sp>
        <p:nvSpPr>
          <p:cNvPr id="36" name="Text 33"/>
          <p:cNvSpPr/>
          <p:nvPr/>
        </p:nvSpPr>
        <p:spPr>
          <a:xfrm>
            <a:off x="576072" y="5248656"/>
            <a:ext cx="7680960" cy="420624"/>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Marvell acquired Celestial AI for $3.25B in February 2026. The acquisition occurred because hyperscalers were already designing with the technology. The next Celestial AI is being built now and the companies building it are still accessible at venture valuations.</a:t>
            </a:r>
            <a:endParaRPr lang="en-US" sz="950" dirty="0"/>
          </a:p>
        </p:txBody>
      </p:sp>
      <p:sp>
        <p:nvSpPr>
          <p:cNvPr id="37" name="Shape 34"/>
          <p:cNvSpPr/>
          <p:nvPr/>
        </p:nvSpPr>
        <p:spPr>
          <a:xfrm>
            <a:off x="411480" y="5705856"/>
            <a:ext cx="50292" cy="475488"/>
          </a:xfrm>
          <a:prstGeom prst="rect">
            <a:avLst/>
          </a:prstGeom>
          <a:solidFill>
            <a:srgbClr val="1F7A5C"/>
          </a:solidFill>
          <a:ln w="12700">
            <a:solidFill>
              <a:srgbClr val="1F7A5C"/>
            </a:solidFill>
            <a:prstDash val="solid"/>
          </a:ln>
        </p:spPr>
        <p:txBody>
          <a:bodyPr/>
          <a:lstStyle/>
          <a:p>
            <a:endParaRPr lang="en-US"/>
          </a:p>
        </p:txBody>
      </p:sp>
      <p:sp>
        <p:nvSpPr>
          <p:cNvPr id="38" name="Text 35"/>
          <p:cNvSpPr/>
          <p:nvPr/>
        </p:nvSpPr>
        <p:spPr>
          <a:xfrm>
            <a:off x="576072" y="5724144"/>
            <a:ext cx="7680960" cy="237744"/>
          </a:xfrm>
          <a:prstGeom prst="rect">
            <a:avLst/>
          </a:prstGeom>
          <a:noFill/>
          <a:ln/>
        </p:spPr>
        <p:txBody>
          <a:bodyPr wrap="square" lIns="0" tIns="0" rIns="0" bIns="0" rtlCol="0" anchor="ctr"/>
          <a:lstStyle/>
          <a:p>
            <a:pPr marL="0" indent="0">
              <a:buNone/>
            </a:pPr>
            <a:r>
              <a:rPr lang="en-US" sz="1150" b="1" dirty="0">
                <a:solidFill>
                  <a:srgbClr val="0F1E30"/>
                </a:solidFill>
                <a:latin typeface="Calibri" pitchFamily="34" charset="0"/>
                <a:ea typeface="Calibri" pitchFamily="34" charset="-122"/>
                <a:cs typeface="Calibri" pitchFamily="34" charset="-120"/>
              </a:rPr>
              <a:t>UALink 2.0 Opens a Second Market</a:t>
            </a:r>
            <a:endParaRPr lang="en-US" sz="1150" dirty="0"/>
          </a:p>
        </p:txBody>
      </p:sp>
      <p:sp>
        <p:nvSpPr>
          <p:cNvPr id="39" name="Text 36"/>
          <p:cNvSpPr/>
          <p:nvPr/>
        </p:nvSpPr>
        <p:spPr>
          <a:xfrm>
            <a:off x="576072" y="5961888"/>
            <a:ext cx="7680960" cy="420624"/>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The UALink Consortium, backed by AMD, Intel, Google, Microsoft, Meta, Amazon, and Broadcom, released version 2.0 on April 7 2026. This creates a distinct photonics market that did not exist before 2026. Photonic startups building interconnect agnostic optical engines gain access to this market without requiring customers to leave NVIDIA.</a:t>
            </a:r>
            <a:endParaRPr lang="en-US" sz="950" dirty="0"/>
          </a:p>
        </p:txBody>
      </p:sp>
      <p:sp>
        <p:nvSpPr>
          <p:cNvPr id="40" name="Shape 37"/>
          <p:cNvSpPr/>
          <p:nvPr/>
        </p:nvSpPr>
        <p:spPr>
          <a:xfrm>
            <a:off x="8705088" y="1627632"/>
            <a:ext cx="3072384" cy="4681728"/>
          </a:xfrm>
          <a:prstGeom prst="rect">
            <a:avLst/>
          </a:prstGeom>
          <a:solidFill>
            <a:srgbClr val="1B3A5C"/>
          </a:solidFill>
          <a:ln w="12700">
            <a:solidFill>
              <a:srgbClr val="1B3A5C"/>
            </a:solidFill>
            <a:prstDash val="solid"/>
          </a:ln>
          <a:effectLst>
            <a:outerShdw blurRad="88900" dist="25400" dir="8100000" algn="bl" rotWithShape="0">
              <a:srgbClr val="000000">
                <a:alpha val="11000"/>
              </a:srgbClr>
            </a:outerShdw>
          </a:effectLst>
        </p:spPr>
        <p:txBody>
          <a:bodyPr/>
          <a:lstStyle/>
          <a:p>
            <a:endParaRPr lang="en-US"/>
          </a:p>
        </p:txBody>
      </p:sp>
      <p:sp>
        <p:nvSpPr>
          <p:cNvPr id="41" name="Text 38"/>
          <p:cNvSpPr/>
          <p:nvPr/>
        </p:nvSpPr>
        <p:spPr>
          <a:xfrm>
            <a:off x="8887968" y="1755648"/>
            <a:ext cx="2706624" cy="292608"/>
          </a:xfrm>
          <a:prstGeom prst="rect">
            <a:avLst/>
          </a:prstGeom>
          <a:noFill/>
          <a:ln/>
        </p:spPr>
        <p:txBody>
          <a:bodyPr wrap="square" lIns="0" tIns="0" rIns="0" bIns="0" rtlCol="0" anchor="ctr"/>
          <a:lstStyle/>
          <a:p>
            <a:pPr marL="0" indent="0" algn="ctr">
              <a:buNone/>
            </a:pPr>
            <a:r>
              <a:rPr lang="en-US" sz="1000" b="1" dirty="0">
                <a:solidFill>
                  <a:srgbClr val="C8922A"/>
                </a:solidFill>
                <a:latin typeface="Calibri" pitchFamily="34" charset="0"/>
                <a:ea typeface="Calibri" pitchFamily="34" charset="-122"/>
                <a:cs typeface="Calibri" pitchFamily="34" charset="-120"/>
              </a:rPr>
              <a:t>Deployment Timeline</a:t>
            </a:r>
            <a:endParaRPr lang="en-US" sz="1000" dirty="0"/>
          </a:p>
        </p:txBody>
      </p:sp>
      <p:sp>
        <p:nvSpPr>
          <p:cNvPr id="42" name="Shape 39"/>
          <p:cNvSpPr/>
          <p:nvPr/>
        </p:nvSpPr>
        <p:spPr>
          <a:xfrm>
            <a:off x="8915400" y="2212848"/>
            <a:ext cx="594360" cy="274320"/>
          </a:xfrm>
          <a:prstGeom prst="rect">
            <a:avLst/>
          </a:prstGeom>
          <a:solidFill>
            <a:srgbClr val="2E6DA4"/>
          </a:solidFill>
          <a:ln w="12700">
            <a:solidFill>
              <a:srgbClr val="2E6DA4"/>
            </a:solidFill>
            <a:prstDash val="solid"/>
          </a:ln>
        </p:spPr>
        <p:txBody>
          <a:bodyPr/>
          <a:lstStyle/>
          <a:p>
            <a:endParaRPr lang="en-US"/>
          </a:p>
        </p:txBody>
      </p:sp>
      <p:sp>
        <p:nvSpPr>
          <p:cNvPr id="43" name="Text 40"/>
          <p:cNvSpPr/>
          <p:nvPr/>
        </p:nvSpPr>
        <p:spPr>
          <a:xfrm>
            <a:off x="8924544" y="2231136"/>
            <a:ext cx="576072" cy="24688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44" name="Text 41"/>
          <p:cNvSpPr/>
          <p:nvPr/>
        </p:nvSpPr>
        <p:spPr>
          <a:xfrm>
            <a:off x="9601200" y="2194560"/>
            <a:ext cx="2011680" cy="658368"/>
          </a:xfrm>
          <a:prstGeom prst="rect">
            <a:avLst/>
          </a:prstGeom>
          <a:noFill/>
          <a:ln/>
        </p:spPr>
        <p:txBody>
          <a:bodyPr wrap="square" lIns="0" tIns="0" rIns="0" bIns="0" rtlCol="0" anchor="t"/>
          <a:lstStyle/>
          <a:p>
            <a:pPr marL="0" indent="0">
              <a:buNone/>
            </a:pPr>
            <a:r>
              <a:rPr lang="en-US" sz="900" dirty="0">
                <a:solidFill>
                  <a:srgbClr val="D0DAE4"/>
                </a:solidFill>
                <a:latin typeface="Calibri" pitchFamily="34" charset="0"/>
                <a:ea typeface="Calibri" pitchFamily="34" charset="-122"/>
                <a:cs typeface="Calibri" pitchFamily="34" charset="-120"/>
              </a:rPr>
              <a:t>CPO in initial production at Broadcom and NVIDIA. UALink 2.0 released. InP shortage most acute.</a:t>
            </a:r>
            <a:endParaRPr lang="en-US" sz="900" dirty="0"/>
          </a:p>
        </p:txBody>
      </p:sp>
      <p:sp>
        <p:nvSpPr>
          <p:cNvPr id="45" name="Shape 42"/>
          <p:cNvSpPr/>
          <p:nvPr/>
        </p:nvSpPr>
        <p:spPr>
          <a:xfrm>
            <a:off x="8915400" y="3218688"/>
            <a:ext cx="594360" cy="274320"/>
          </a:xfrm>
          <a:prstGeom prst="rect">
            <a:avLst/>
          </a:prstGeom>
          <a:solidFill>
            <a:srgbClr val="2E6DA4"/>
          </a:solidFill>
          <a:ln w="12700">
            <a:solidFill>
              <a:srgbClr val="2E6DA4"/>
            </a:solidFill>
            <a:prstDash val="solid"/>
          </a:ln>
        </p:spPr>
        <p:txBody>
          <a:bodyPr/>
          <a:lstStyle/>
          <a:p>
            <a:endParaRPr lang="en-US"/>
          </a:p>
        </p:txBody>
      </p:sp>
      <p:sp>
        <p:nvSpPr>
          <p:cNvPr id="46" name="Text 43"/>
          <p:cNvSpPr/>
          <p:nvPr/>
        </p:nvSpPr>
        <p:spPr>
          <a:xfrm>
            <a:off x="8924544" y="3236976"/>
            <a:ext cx="576072" cy="24688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2027</a:t>
            </a:r>
            <a:endParaRPr lang="en-US" sz="900" dirty="0"/>
          </a:p>
        </p:txBody>
      </p:sp>
      <p:sp>
        <p:nvSpPr>
          <p:cNvPr id="47" name="Text 44"/>
          <p:cNvSpPr/>
          <p:nvPr/>
        </p:nvSpPr>
        <p:spPr>
          <a:xfrm>
            <a:off x="9601200" y="3200400"/>
            <a:ext cx="2011680" cy="658368"/>
          </a:xfrm>
          <a:prstGeom prst="rect">
            <a:avLst/>
          </a:prstGeom>
          <a:noFill/>
          <a:ln/>
        </p:spPr>
        <p:txBody>
          <a:bodyPr wrap="square" lIns="0" tIns="0" rIns="0" bIns="0" rtlCol="0" anchor="t"/>
          <a:lstStyle/>
          <a:p>
            <a:pPr marL="0" indent="0">
              <a:buNone/>
            </a:pPr>
            <a:r>
              <a:rPr lang="en-US" sz="900" dirty="0">
                <a:solidFill>
                  <a:srgbClr val="D0DAE4"/>
                </a:solidFill>
                <a:latin typeface="Calibri" pitchFamily="34" charset="0"/>
                <a:ea typeface="Calibri" pitchFamily="34" charset="-122"/>
                <a:cs typeface="Calibri" pitchFamily="34" charset="-120"/>
              </a:rPr>
              <a:t>UALink silicon in commercial production. CPO scaling to 30% of cluster interconnect. Laser supply beginning to ease.</a:t>
            </a:r>
            <a:endParaRPr lang="en-US" sz="900" dirty="0"/>
          </a:p>
        </p:txBody>
      </p:sp>
      <p:sp>
        <p:nvSpPr>
          <p:cNvPr id="48" name="Shape 45"/>
          <p:cNvSpPr/>
          <p:nvPr/>
        </p:nvSpPr>
        <p:spPr>
          <a:xfrm>
            <a:off x="8915400" y="4224528"/>
            <a:ext cx="594360" cy="274320"/>
          </a:xfrm>
          <a:prstGeom prst="rect">
            <a:avLst/>
          </a:prstGeom>
          <a:solidFill>
            <a:srgbClr val="2E6DA4"/>
          </a:solidFill>
          <a:ln w="12700">
            <a:solidFill>
              <a:srgbClr val="2E6DA4"/>
            </a:solidFill>
            <a:prstDash val="solid"/>
          </a:ln>
        </p:spPr>
        <p:txBody>
          <a:bodyPr/>
          <a:lstStyle/>
          <a:p>
            <a:endParaRPr lang="en-US"/>
          </a:p>
        </p:txBody>
      </p:sp>
      <p:sp>
        <p:nvSpPr>
          <p:cNvPr id="49" name="Text 46"/>
          <p:cNvSpPr/>
          <p:nvPr/>
        </p:nvSpPr>
        <p:spPr>
          <a:xfrm>
            <a:off x="8924544" y="4242816"/>
            <a:ext cx="576072" cy="24688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2028</a:t>
            </a:r>
            <a:endParaRPr lang="en-US" sz="900" dirty="0"/>
          </a:p>
        </p:txBody>
      </p:sp>
      <p:sp>
        <p:nvSpPr>
          <p:cNvPr id="50" name="Text 47"/>
          <p:cNvSpPr/>
          <p:nvPr/>
        </p:nvSpPr>
        <p:spPr>
          <a:xfrm>
            <a:off x="9601200" y="4206240"/>
            <a:ext cx="2011680" cy="658368"/>
          </a:xfrm>
          <a:prstGeom prst="rect">
            <a:avLst/>
          </a:prstGeom>
          <a:noFill/>
          <a:ln/>
        </p:spPr>
        <p:txBody>
          <a:bodyPr wrap="square" lIns="0" tIns="0" rIns="0" bIns="0" rtlCol="0" anchor="t"/>
          <a:lstStyle/>
          <a:p>
            <a:pPr marL="0" indent="0">
              <a:buNone/>
            </a:pPr>
            <a:r>
              <a:rPr lang="en-US" sz="900" dirty="0">
                <a:solidFill>
                  <a:srgbClr val="D0DAE4"/>
                </a:solidFill>
                <a:latin typeface="Calibri" pitchFamily="34" charset="0"/>
                <a:ea typeface="Calibri" pitchFamily="34" charset="-122"/>
                <a:cs typeface="Calibri" pitchFamily="34" charset="-120"/>
              </a:rPr>
              <a:t>Optical circuit switching entering production for building scale fabric. First fully optical AI training clusters.</a:t>
            </a:r>
            <a:endParaRPr lang="en-US" sz="900" dirty="0"/>
          </a:p>
        </p:txBody>
      </p:sp>
      <p:sp>
        <p:nvSpPr>
          <p:cNvPr id="51" name="Shape 48"/>
          <p:cNvSpPr/>
          <p:nvPr/>
        </p:nvSpPr>
        <p:spPr>
          <a:xfrm>
            <a:off x="8915400" y="5230368"/>
            <a:ext cx="594360" cy="274320"/>
          </a:xfrm>
          <a:prstGeom prst="rect">
            <a:avLst/>
          </a:prstGeom>
          <a:solidFill>
            <a:srgbClr val="2E6DA4"/>
          </a:solidFill>
          <a:ln w="12700">
            <a:solidFill>
              <a:srgbClr val="2E6DA4"/>
            </a:solidFill>
            <a:prstDash val="solid"/>
          </a:ln>
        </p:spPr>
        <p:txBody>
          <a:bodyPr/>
          <a:lstStyle/>
          <a:p>
            <a:endParaRPr lang="en-US"/>
          </a:p>
        </p:txBody>
      </p:sp>
      <p:sp>
        <p:nvSpPr>
          <p:cNvPr id="52" name="Text 49"/>
          <p:cNvSpPr/>
          <p:nvPr/>
        </p:nvSpPr>
        <p:spPr>
          <a:xfrm>
            <a:off x="8924544" y="5248656"/>
            <a:ext cx="576072" cy="24688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2030+</a:t>
            </a:r>
            <a:endParaRPr lang="en-US" sz="900" dirty="0"/>
          </a:p>
        </p:txBody>
      </p:sp>
      <p:sp>
        <p:nvSpPr>
          <p:cNvPr id="53" name="Text 50"/>
          <p:cNvSpPr/>
          <p:nvPr/>
        </p:nvSpPr>
        <p:spPr>
          <a:xfrm>
            <a:off x="9601200" y="5212080"/>
            <a:ext cx="2011680" cy="658368"/>
          </a:xfrm>
          <a:prstGeom prst="rect">
            <a:avLst/>
          </a:prstGeom>
          <a:noFill/>
          <a:ln/>
        </p:spPr>
        <p:txBody>
          <a:bodyPr wrap="square" lIns="0" tIns="0" rIns="0" bIns="0" rtlCol="0" anchor="t"/>
          <a:lstStyle/>
          <a:p>
            <a:pPr marL="0" indent="0">
              <a:buNone/>
            </a:pPr>
            <a:r>
              <a:rPr lang="en-US" sz="900" dirty="0">
                <a:solidFill>
                  <a:srgbClr val="D0DAE4"/>
                </a:solidFill>
                <a:latin typeface="Calibri" pitchFamily="34" charset="0"/>
                <a:ea typeface="Calibri" pitchFamily="34" charset="-122"/>
                <a:cs typeface="Calibri" pitchFamily="34" charset="-120"/>
              </a:rPr>
              <a:t>CPO as default interconnect for all new AI cluster builds. Energy per AI token down 70% from 2025 baseline.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75488"/>
          </a:xfrm>
          <a:prstGeom prst="rect">
            <a:avLst/>
          </a:prstGeom>
          <a:solidFill>
            <a:srgbClr val="1B3A5C"/>
          </a:solidFill>
          <a:ln w="12700">
            <a:solidFill>
              <a:srgbClr val="1B3A5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28600" y="45720"/>
            <a:ext cx="1600200" cy="384048"/>
          </a:xfrm>
          <a:prstGeom prst="rect">
            <a:avLst/>
          </a:prstGeom>
        </p:spPr>
      </p:pic>
      <p:sp>
        <p:nvSpPr>
          <p:cNvPr id="4" name="Text 1"/>
          <p:cNvSpPr/>
          <p:nvPr/>
        </p:nvSpPr>
        <p:spPr>
          <a:xfrm>
            <a:off x="2103120" y="91440"/>
            <a:ext cx="8686800" cy="292608"/>
          </a:xfrm>
          <a:prstGeom prst="rect">
            <a:avLst/>
          </a:prstGeom>
          <a:noFill/>
          <a:ln/>
        </p:spPr>
        <p:txBody>
          <a:bodyPr wrap="square" lIns="0" tIns="0" rIns="0" bIns="0" rtlCol="0" anchor="ctr"/>
          <a:lstStyle/>
          <a:p>
            <a:pPr marL="0" indent="0">
              <a:buNone/>
            </a:pPr>
            <a:r>
              <a:rPr lang="en-US" sz="850" kern="0" spc="250" dirty="0">
                <a:solidFill>
                  <a:srgbClr val="D0DAE4"/>
                </a:solidFill>
                <a:latin typeface="Calibri" pitchFamily="34" charset="0"/>
                <a:ea typeface="Calibri" pitchFamily="34" charset="-122"/>
                <a:cs typeface="Calibri" pitchFamily="34" charset="-120"/>
              </a:rPr>
              <a:t>PHOTONIC INTERCONNECTS  ·  BLESSING</a:t>
            </a:r>
            <a:endParaRPr lang="en-US" sz="850" dirty="0"/>
          </a:p>
        </p:txBody>
      </p:sp>
      <p:sp>
        <p:nvSpPr>
          <p:cNvPr id="5" name="Text 2"/>
          <p:cNvSpPr/>
          <p:nvPr/>
        </p:nvSpPr>
        <p:spPr>
          <a:xfrm>
            <a:off x="11064240" y="91440"/>
            <a:ext cx="914400" cy="292608"/>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10 / 17</a:t>
            </a:r>
            <a:endParaRPr lang="en-US" sz="850" dirty="0"/>
          </a:p>
        </p:txBody>
      </p:sp>
      <p:sp>
        <p:nvSpPr>
          <p:cNvPr id="6" name="Shape 3"/>
          <p:cNvSpPr/>
          <p:nvPr/>
        </p:nvSpPr>
        <p:spPr>
          <a:xfrm>
            <a:off x="0" y="6537960"/>
            <a:ext cx="12188952" cy="320040"/>
          </a:xfrm>
          <a:prstGeom prst="rect">
            <a:avLst/>
          </a:prstGeom>
          <a:solidFill>
            <a:srgbClr val="F2F6FA"/>
          </a:solidFill>
          <a:ln w="12700">
            <a:solidFill>
              <a:srgbClr val="D0DAE4"/>
            </a:solidFill>
            <a:prstDash val="solid"/>
          </a:ln>
        </p:spPr>
        <p:txBody>
          <a:bodyPr/>
          <a:lstStyle/>
          <a:p>
            <a:endParaRPr lang="en-US"/>
          </a:p>
        </p:txBody>
      </p:sp>
      <p:sp>
        <p:nvSpPr>
          <p:cNvPr id="7" name="Text 4"/>
          <p:cNvSpPr/>
          <p:nvPr/>
        </p:nvSpPr>
        <p:spPr>
          <a:xfrm>
            <a:off x="274320" y="6565392"/>
            <a:ext cx="6400800" cy="256032"/>
          </a:xfrm>
          <a:prstGeom prst="rect">
            <a:avLst/>
          </a:prstGeom>
          <a:noFill/>
          <a:ln/>
        </p:spPr>
        <p:txBody>
          <a:bodyPr wrap="square" lIns="0" tIns="0" rIns="0" bIns="0" rtlCol="0" anchor="ctr"/>
          <a:lstStyle/>
          <a:p>
            <a:pPr marL="0" indent="0">
              <a:buNone/>
            </a:pPr>
            <a:r>
              <a:rPr lang="en-US" sz="750" dirty="0">
                <a:solidFill>
                  <a:srgbClr val="7B90A6"/>
                </a:solidFill>
                <a:latin typeface="Calibri" pitchFamily="34" charset="0"/>
                <a:ea typeface="Calibri" pitchFamily="34" charset="-122"/>
                <a:cs typeface="Calibri" pitchFamily="34" charset="-120"/>
              </a:rPr>
              <a:t>ClearVision Ventures  ·  Confidential  ·  April 2026</a:t>
            </a:r>
            <a:endParaRPr lang="en-US" sz="750" dirty="0"/>
          </a:p>
        </p:txBody>
      </p:sp>
      <p:sp>
        <p:nvSpPr>
          <p:cNvPr id="8" name="Text 5"/>
          <p:cNvSpPr/>
          <p:nvPr/>
        </p:nvSpPr>
        <p:spPr>
          <a:xfrm>
            <a:off x="411480" y="594360"/>
            <a:ext cx="10972800" cy="228600"/>
          </a:xfrm>
          <a:prstGeom prst="rect">
            <a:avLst/>
          </a:prstGeom>
          <a:noFill/>
          <a:ln/>
        </p:spPr>
        <p:txBody>
          <a:bodyPr wrap="square" lIns="0" tIns="0" rIns="0" bIns="0" rtlCol="0" anchor="ctr"/>
          <a:lstStyle/>
          <a:p>
            <a:pPr marL="0" indent="0">
              <a:buNone/>
            </a:pPr>
            <a:r>
              <a:rPr lang="en-US" sz="850" b="1" kern="0" spc="300" dirty="0">
                <a:solidFill>
                  <a:srgbClr val="2E6DA4"/>
                </a:solidFill>
                <a:latin typeface="Calibri" pitchFamily="34" charset="0"/>
                <a:ea typeface="Calibri" pitchFamily="34" charset="-122"/>
                <a:cs typeface="Calibri" pitchFamily="34" charset="-120"/>
              </a:rPr>
              <a:t>WHERE TO INVEST IN PHOTONICS</a:t>
            </a:r>
            <a:endParaRPr lang="en-US" sz="850" dirty="0"/>
          </a:p>
        </p:txBody>
      </p:sp>
      <p:sp>
        <p:nvSpPr>
          <p:cNvPr id="9" name="Text 6"/>
          <p:cNvSpPr/>
          <p:nvPr/>
        </p:nvSpPr>
        <p:spPr>
          <a:xfrm>
            <a:off x="411480" y="822960"/>
            <a:ext cx="11338560" cy="713232"/>
          </a:xfrm>
          <a:prstGeom prst="rect">
            <a:avLst/>
          </a:prstGeom>
          <a:noFill/>
          <a:ln/>
        </p:spPr>
        <p:txBody>
          <a:bodyPr wrap="square" lIns="0" tIns="0" rIns="0" bIns="0" rtlCol="0" anchor="ctr"/>
          <a:lstStyle/>
          <a:p>
            <a:pPr marL="0" indent="0">
              <a:buNone/>
            </a:pPr>
            <a:r>
              <a:rPr lang="en-US" sz="2800" b="1" dirty="0">
                <a:solidFill>
                  <a:srgbClr val="0F1E30"/>
                </a:solidFill>
                <a:latin typeface="Calibri" pitchFamily="34" charset="0"/>
                <a:ea typeface="Calibri" pitchFamily="34" charset="-122"/>
                <a:cs typeface="Calibri" pitchFamily="34" charset="-120"/>
              </a:rPr>
              <a:t>Three Layers with the Highest Conviction</a:t>
            </a:r>
            <a:endParaRPr lang="en-US" sz="2800" dirty="0"/>
          </a:p>
        </p:txBody>
      </p:sp>
      <p:sp>
        <p:nvSpPr>
          <p:cNvPr id="10" name="Shape 7"/>
          <p:cNvSpPr/>
          <p:nvPr/>
        </p:nvSpPr>
        <p:spPr>
          <a:xfrm>
            <a:off x="411480" y="1536192"/>
            <a:ext cx="1005840" cy="41148"/>
          </a:xfrm>
          <a:prstGeom prst="rect">
            <a:avLst/>
          </a:prstGeom>
          <a:solidFill>
            <a:srgbClr val="2E6DA4"/>
          </a:solidFill>
          <a:ln w="12700">
            <a:solidFill>
              <a:srgbClr val="2E6DA4"/>
            </a:solidFill>
            <a:prstDash val="solid"/>
          </a:ln>
        </p:spPr>
        <p:txBody>
          <a:bodyPr/>
          <a:lstStyle/>
          <a:p>
            <a:endParaRPr lang="en-US"/>
          </a:p>
        </p:txBody>
      </p:sp>
      <p:sp>
        <p:nvSpPr>
          <p:cNvPr id="11" name="Text 8"/>
          <p:cNvSpPr/>
          <p:nvPr/>
        </p:nvSpPr>
        <p:spPr>
          <a:xfrm>
            <a:off x="411480" y="1627632"/>
            <a:ext cx="11338560" cy="384048"/>
          </a:xfrm>
          <a:prstGeom prst="rect">
            <a:avLst/>
          </a:prstGeom>
          <a:noFill/>
          <a:ln/>
        </p:spPr>
        <p:txBody>
          <a:bodyPr wrap="square" lIns="0" tIns="0" rIns="0" bIns="0" rtlCol="0" anchor="ctr"/>
          <a:lstStyle/>
          <a:p>
            <a:pPr marL="0" indent="0">
              <a:buNone/>
            </a:pPr>
            <a:r>
              <a:rPr lang="en-US" sz="1150" i="1" dirty="0">
                <a:solidFill>
                  <a:srgbClr val="2C3E50"/>
                </a:solidFill>
                <a:latin typeface="Calibri" pitchFamily="34" charset="0"/>
                <a:ea typeface="Calibri" pitchFamily="34" charset="-122"/>
                <a:cs typeface="Calibri" pitchFamily="34" charset="-120"/>
              </a:rPr>
              <a:t>The transition from copper to light is not a thesis requiring further validation. It is a deployment requiring capital. The three layers below are where the value concentrates.</a:t>
            </a:r>
            <a:endParaRPr lang="en-US" sz="1150" dirty="0"/>
          </a:p>
        </p:txBody>
      </p:sp>
      <p:sp>
        <p:nvSpPr>
          <p:cNvPr id="12" name="Shape 9"/>
          <p:cNvSpPr/>
          <p:nvPr/>
        </p:nvSpPr>
        <p:spPr>
          <a:xfrm>
            <a:off x="411480" y="2148840"/>
            <a:ext cx="3657600" cy="406908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3" name="Shape 10"/>
          <p:cNvSpPr/>
          <p:nvPr/>
        </p:nvSpPr>
        <p:spPr>
          <a:xfrm>
            <a:off x="411480" y="2148840"/>
            <a:ext cx="3657600" cy="54864"/>
          </a:xfrm>
          <a:prstGeom prst="rect">
            <a:avLst/>
          </a:prstGeom>
          <a:solidFill>
            <a:srgbClr val="1B3A5C"/>
          </a:solidFill>
          <a:ln w="12700">
            <a:solidFill>
              <a:srgbClr val="1B3A5C"/>
            </a:solidFill>
            <a:prstDash val="solid"/>
          </a:ln>
        </p:spPr>
        <p:txBody>
          <a:bodyPr/>
          <a:lstStyle/>
          <a:p>
            <a:endParaRPr lang="en-US"/>
          </a:p>
        </p:txBody>
      </p:sp>
      <p:sp>
        <p:nvSpPr>
          <p:cNvPr id="14" name="Text 11"/>
          <p:cNvSpPr/>
          <p:nvPr/>
        </p:nvSpPr>
        <p:spPr>
          <a:xfrm>
            <a:off x="576072" y="2240280"/>
            <a:ext cx="3328416" cy="274320"/>
          </a:xfrm>
          <a:prstGeom prst="rect">
            <a:avLst/>
          </a:prstGeom>
          <a:noFill/>
          <a:ln/>
        </p:spPr>
        <p:txBody>
          <a:bodyPr wrap="square" lIns="0" tIns="0" rIns="0" bIns="0" rtlCol="0" anchor="ctr"/>
          <a:lstStyle/>
          <a:p>
            <a:pPr marL="0" indent="0">
              <a:buNone/>
            </a:pPr>
            <a:r>
              <a:rPr lang="en-US" sz="950" b="1" kern="0" spc="200" dirty="0">
                <a:solidFill>
                  <a:srgbClr val="1B3A5C"/>
                </a:solidFill>
                <a:latin typeface="Calibri" pitchFamily="34" charset="0"/>
                <a:ea typeface="Calibri" pitchFamily="34" charset="-122"/>
                <a:cs typeface="Calibri" pitchFamily="34" charset="-120"/>
              </a:rPr>
              <a:t>Layer 2</a:t>
            </a:r>
            <a:endParaRPr lang="en-US" sz="950" dirty="0"/>
          </a:p>
        </p:txBody>
      </p:sp>
      <p:sp>
        <p:nvSpPr>
          <p:cNvPr id="15" name="Text 12"/>
          <p:cNvSpPr/>
          <p:nvPr/>
        </p:nvSpPr>
        <p:spPr>
          <a:xfrm>
            <a:off x="576072" y="2542032"/>
            <a:ext cx="3328416" cy="457200"/>
          </a:xfrm>
          <a:prstGeom prst="rect">
            <a:avLst/>
          </a:prstGeom>
          <a:noFill/>
          <a:ln/>
        </p:spPr>
        <p:txBody>
          <a:bodyPr wrap="square" lIns="0" tIns="0" rIns="0" bIns="0" rtlCol="0" anchor="ctr"/>
          <a:lstStyle/>
          <a:p>
            <a:pPr marL="0" indent="0">
              <a:buNone/>
            </a:pPr>
            <a:r>
              <a:rPr lang="en-US" sz="1350" b="1" dirty="0">
                <a:solidFill>
                  <a:srgbClr val="0F1E30"/>
                </a:solidFill>
                <a:latin typeface="Calibri" pitchFamily="34" charset="0"/>
                <a:ea typeface="Calibri" pitchFamily="34" charset="-122"/>
                <a:cs typeface="Calibri" pitchFamily="34" charset="-120"/>
              </a:rPr>
              <a:t>Photonic Chip Design</a:t>
            </a:r>
            <a:endParaRPr lang="en-US" sz="1350" dirty="0"/>
          </a:p>
        </p:txBody>
      </p:sp>
      <p:sp>
        <p:nvSpPr>
          <p:cNvPr id="16" name="Text 13"/>
          <p:cNvSpPr/>
          <p:nvPr/>
        </p:nvSpPr>
        <p:spPr>
          <a:xfrm>
            <a:off x="576072" y="3017520"/>
            <a:ext cx="3328416" cy="256032"/>
          </a:xfrm>
          <a:prstGeom prst="rect">
            <a:avLst/>
          </a:prstGeom>
          <a:noFill/>
          <a:ln/>
        </p:spPr>
        <p:txBody>
          <a:bodyPr wrap="square" lIns="0" tIns="0" rIns="0" bIns="0" rtlCol="0" anchor="ctr"/>
          <a:lstStyle/>
          <a:p>
            <a:pPr marL="0" indent="0">
              <a:buNone/>
            </a:pPr>
            <a:r>
              <a:rPr lang="en-US" sz="950" i="1" dirty="0">
                <a:solidFill>
                  <a:srgbClr val="1B3A5C"/>
                </a:solidFill>
                <a:latin typeface="Calibri" pitchFamily="34" charset="0"/>
                <a:ea typeface="Calibri" pitchFamily="34" charset="-122"/>
                <a:cs typeface="Calibri" pitchFamily="34" charset="-120"/>
              </a:rPr>
              <a:t>Venture Fit: Very High</a:t>
            </a:r>
            <a:endParaRPr lang="en-US" sz="950" dirty="0"/>
          </a:p>
        </p:txBody>
      </p:sp>
      <p:sp>
        <p:nvSpPr>
          <p:cNvPr id="17" name="Text 14"/>
          <p:cNvSpPr/>
          <p:nvPr/>
        </p:nvSpPr>
        <p:spPr>
          <a:xfrm>
            <a:off x="576072" y="3337560"/>
            <a:ext cx="3328416" cy="219456"/>
          </a:xfrm>
          <a:prstGeom prst="rect">
            <a:avLst/>
          </a:prstGeom>
          <a:noFill/>
          <a:ln/>
        </p:spPr>
        <p:txBody>
          <a:bodyPr wrap="square" lIns="0" tIns="0" rIns="0" bIns="0" rtlCol="0" anchor="ctr"/>
          <a:lstStyle/>
          <a:p>
            <a:pPr marL="0" indent="0">
              <a:buNone/>
            </a:pPr>
            <a:r>
              <a:rPr lang="en-US" sz="900" b="1" dirty="0">
                <a:solidFill>
                  <a:srgbClr val="7B90A6"/>
                </a:solidFill>
                <a:latin typeface="Calibri" pitchFamily="34" charset="0"/>
                <a:ea typeface="Calibri" pitchFamily="34" charset="-122"/>
                <a:cs typeface="Calibri" pitchFamily="34" charset="-120"/>
              </a:rPr>
              <a:t>Companies</a:t>
            </a:r>
            <a:endParaRPr lang="en-US" sz="900" dirty="0"/>
          </a:p>
        </p:txBody>
      </p:sp>
      <p:sp>
        <p:nvSpPr>
          <p:cNvPr id="18" name="Text 15"/>
          <p:cNvSpPr/>
          <p:nvPr/>
        </p:nvSpPr>
        <p:spPr>
          <a:xfrm>
            <a:off x="576072" y="3547872"/>
            <a:ext cx="3328416" cy="274320"/>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Lightmatter, Ayar Labs, POET Technologies</a:t>
            </a:r>
            <a:endParaRPr lang="en-US" sz="1000" dirty="0"/>
          </a:p>
        </p:txBody>
      </p:sp>
      <p:sp>
        <p:nvSpPr>
          <p:cNvPr id="19" name="Text 16"/>
          <p:cNvSpPr/>
          <p:nvPr/>
        </p:nvSpPr>
        <p:spPr>
          <a:xfrm>
            <a:off x="576072" y="3858768"/>
            <a:ext cx="3328416" cy="219456"/>
          </a:xfrm>
          <a:prstGeom prst="rect">
            <a:avLst/>
          </a:prstGeom>
          <a:noFill/>
          <a:ln/>
        </p:spPr>
        <p:txBody>
          <a:bodyPr wrap="square" lIns="0" tIns="0" rIns="0" bIns="0" rtlCol="0" anchor="ctr"/>
          <a:lstStyle/>
          <a:p>
            <a:pPr marL="0" indent="0">
              <a:buNone/>
            </a:pPr>
            <a:r>
              <a:rPr lang="en-US" sz="900" b="1" dirty="0">
                <a:solidFill>
                  <a:srgbClr val="7B90A6"/>
                </a:solidFill>
                <a:latin typeface="Calibri" pitchFamily="34" charset="0"/>
                <a:ea typeface="Calibri" pitchFamily="34" charset="-122"/>
                <a:cs typeface="Calibri" pitchFamily="34" charset="-120"/>
              </a:rPr>
              <a:t>Why</a:t>
            </a:r>
            <a:endParaRPr lang="en-US" sz="900" dirty="0"/>
          </a:p>
        </p:txBody>
      </p:sp>
      <p:sp>
        <p:nvSpPr>
          <p:cNvPr id="20" name="Text 17"/>
          <p:cNvSpPr/>
          <p:nvPr/>
        </p:nvSpPr>
        <p:spPr>
          <a:xfrm>
            <a:off x="576072" y="4069080"/>
            <a:ext cx="3328416" cy="658368"/>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Rarest engineering capability in the stack. Proprietary architectures with hyperscaler design wins command the highest acquisition premiums. The $3.25B Celestial AI exit is the benchmark.</a:t>
            </a:r>
            <a:endParaRPr lang="en-US" sz="950" dirty="0"/>
          </a:p>
        </p:txBody>
      </p:sp>
      <p:sp>
        <p:nvSpPr>
          <p:cNvPr id="21" name="Text 18"/>
          <p:cNvSpPr/>
          <p:nvPr/>
        </p:nvSpPr>
        <p:spPr>
          <a:xfrm>
            <a:off x="576072" y="4773168"/>
            <a:ext cx="3328416" cy="219456"/>
          </a:xfrm>
          <a:prstGeom prst="rect">
            <a:avLst/>
          </a:prstGeom>
          <a:noFill/>
          <a:ln/>
        </p:spPr>
        <p:txBody>
          <a:bodyPr wrap="square" lIns="0" tIns="0" rIns="0" bIns="0" rtlCol="0" anchor="ctr"/>
          <a:lstStyle/>
          <a:p>
            <a:pPr marL="0" indent="0">
              <a:buNone/>
            </a:pPr>
            <a:r>
              <a:rPr lang="en-US" sz="900" b="1" dirty="0">
                <a:solidFill>
                  <a:srgbClr val="7B90A6"/>
                </a:solidFill>
                <a:latin typeface="Calibri" pitchFamily="34" charset="0"/>
                <a:ea typeface="Calibri" pitchFamily="34" charset="-122"/>
                <a:cs typeface="Calibri" pitchFamily="34" charset="-120"/>
              </a:rPr>
              <a:t>How to Enter</a:t>
            </a:r>
            <a:endParaRPr lang="en-US" sz="900" dirty="0"/>
          </a:p>
        </p:txBody>
      </p:sp>
      <p:sp>
        <p:nvSpPr>
          <p:cNvPr id="22" name="Text 19"/>
          <p:cNvSpPr/>
          <p:nvPr/>
        </p:nvSpPr>
        <p:spPr>
          <a:xfrm>
            <a:off x="576072" y="4983480"/>
            <a:ext cx="3328416" cy="566928"/>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Require cross ecosystem compatibility with both NVLink Fusion and UALink. Companies locked to a single ecosystem address at most 70% of the available market.</a:t>
            </a:r>
            <a:endParaRPr lang="en-US" sz="950" dirty="0"/>
          </a:p>
        </p:txBody>
      </p:sp>
      <p:sp>
        <p:nvSpPr>
          <p:cNvPr id="23" name="Shape 20"/>
          <p:cNvSpPr/>
          <p:nvPr/>
        </p:nvSpPr>
        <p:spPr>
          <a:xfrm>
            <a:off x="4215384" y="2148840"/>
            <a:ext cx="3657600" cy="406908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4" name="Shape 21"/>
          <p:cNvSpPr/>
          <p:nvPr/>
        </p:nvSpPr>
        <p:spPr>
          <a:xfrm>
            <a:off x="4215384" y="2148840"/>
            <a:ext cx="3657600" cy="54864"/>
          </a:xfrm>
          <a:prstGeom prst="rect">
            <a:avLst/>
          </a:prstGeom>
          <a:solidFill>
            <a:srgbClr val="2E6DA4"/>
          </a:solidFill>
          <a:ln w="12700">
            <a:solidFill>
              <a:srgbClr val="2E6DA4"/>
            </a:solidFill>
            <a:prstDash val="solid"/>
          </a:ln>
        </p:spPr>
        <p:txBody>
          <a:bodyPr/>
          <a:lstStyle/>
          <a:p>
            <a:endParaRPr lang="en-US"/>
          </a:p>
        </p:txBody>
      </p:sp>
      <p:sp>
        <p:nvSpPr>
          <p:cNvPr id="25" name="Text 22"/>
          <p:cNvSpPr/>
          <p:nvPr/>
        </p:nvSpPr>
        <p:spPr>
          <a:xfrm>
            <a:off x="4379976" y="2240280"/>
            <a:ext cx="3328416" cy="274320"/>
          </a:xfrm>
          <a:prstGeom prst="rect">
            <a:avLst/>
          </a:prstGeom>
          <a:noFill/>
          <a:ln/>
        </p:spPr>
        <p:txBody>
          <a:bodyPr wrap="square" lIns="0" tIns="0" rIns="0" bIns="0" rtlCol="0" anchor="ctr"/>
          <a:lstStyle/>
          <a:p>
            <a:pPr marL="0" indent="0">
              <a:buNone/>
            </a:pPr>
            <a:r>
              <a:rPr lang="en-US" sz="950" b="1" kern="0" spc="200" dirty="0">
                <a:solidFill>
                  <a:srgbClr val="2E6DA4"/>
                </a:solidFill>
                <a:latin typeface="Calibri" pitchFamily="34" charset="0"/>
                <a:ea typeface="Calibri" pitchFamily="34" charset="-122"/>
                <a:cs typeface="Calibri" pitchFamily="34" charset="-120"/>
              </a:rPr>
              <a:t>Layer 4</a:t>
            </a:r>
            <a:endParaRPr lang="en-US" sz="950" dirty="0"/>
          </a:p>
        </p:txBody>
      </p:sp>
      <p:sp>
        <p:nvSpPr>
          <p:cNvPr id="26" name="Text 23"/>
          <p:cNvSpPr/>
          <p:nvPr/>
        </p:nvSpPr>
        <p:spPr>
          <a:xfrm>
            <a:off x="4379976" y="2542032"/>
            <a:ext cx="3328416" cy="457200"/>
          </a:xfrm>
          <a:prstGeom prst="rect">
            <a:avLst/>
          </a:prstGeom>
          <a:noFill/>
          <a:ln/>
        </p:spPr>
        <p:txBody>
          <a:bodyPr wrap="square" lIns="0" tIns="0" rIns="0" bIns="0" rtlCol="0" anchor="ctr"/>
          <a:lstStyle/>
          <a:p>
            <a:pPr marL="0" indent="0">
              <a:buNone/>
            </a:pPr>
            <a:r>
              <a:rPr lang="en-US" sz="1350" b="1" dirty="0">
                <a:solidFill>
                  <a:srgbClr val="0F1E30"/>
                </a:solidFill>
                <a:latin typeface="Calibri" pitchFamily="34" charset="0"/>
                <a:ea typeface="Calibri" pitchFamily="34" charset="-122"/>
                <a:cs typeface="Calibri" pitchFamily="34" charset="-120"/>
              </a:rPr>
              <a:t>Advanced Packaging and Integration</a:t>
            </a:r>
            <a:endParaRPr lang="en-US" sz="1350" dirty="0"/>
          </a:p>
        </p:txBody>
      </p:sp>
      <p:sp>
        <p:nvSpPr>
          <p:cNvPr id="27" name="Text 24"/>
          <p:cNvSpPr/>
          <p:nvPr/>
        </p:nvSpPr>
        <p:spPr>
          <a:xfrm>
            <a:off x="4379976" y="3017520"/>
            <a:ext cx="3328416" cy="256032"/>
          </a:xfrm>
          <a:prstGeom prst="rect">
            <a:avLst/>
          </a:prstGeom>
          <a:noFill/>
          <a:ln/>
        </p:spPr>
        <p:txBody>
          <a:bodyPr wrap="square" lIns="0" tIns="0" rIns="0" bIns="0" rtlCol="0" anchor="ctr"/>
          <a:lstStyle/>
          <a:p>
            <a:pPr marL="0" indent="0">
              <a:buNone/>
            </a:pPr>
            <a:r>
              <a:rPr lang="en-US" sz="950" i="1" dirty="0">
                <a:solidFill>
                  <a:srgbClr val="2E6DA4"/>
                </a:solidFill>
                <a:latin typeface="Calibri" pitchFamily="34" charset="0"/>
                <a:ea typeface="Calibri" pitchFamily="34" charset="-122"/>
                <a:cs typeface="Calibri" pitchFamily="34" charset="-120"/>
              </a:rPr>
              <a:t>Venture Fit: Very High</a:t>
            </a:r>
            <a:endParaRPr lang="en-US" sz="950" dirty="0"/>
          </a:p>
        </p:txBody>
      </p:sp>
      <p:sp>
        <p:nvSpPr>
          <p:cNvPr id="28" name="Text 25"/>
          <p:cNvSpPr/>
          <p:nvPr/>
        </p:nvSpPr>
        <p:spPr>
          <a:xfrm>
            <a:off x="4379976" y="3337560"/>
            <a:ext cx="3328416" cy="219456"/>
          </a:xfrm>
          <a:prstGeom prst="rect">
            <a:avLst/>
          </a:prstGeom>
          <a:noFill/>
          <a:ln/>
        </p:spPr>
        <p:txBody>
          <a:bodyPr wrap="square" lIns="0" tIns="0" rIns="0" bIns="0" rtlCol="0" anchor="ctr"/>
          <a:lstStyle/>
          <a:p>
            <a:pPr marL="0" indent="0">
              <a:buNone/>
            </a:pPr>
            <a:r>
              <a:rPr lang="en-US" sz="900" b="1" dirty="0">
                <a:solidFill>
                  <a:srgbClr val="7B90A6"/>
                </a:solidFill>
                <a:latin typeface="Calibri" pitchFamily="34" charset="0"/>
                <a:ea typeface="Calibri" pitchFamily="34" charset="-122"/>
                <a:cs typeface="Calibri" pitchFamily="34" charset="-120"/>
              </a:rPr>
              <a:t>Companies</a:t>
            </a:r>
            <a:endParaRPr lang="en-US" sz="900" dirty="0"/>
          </a:p>
        </p:txBody>
      </p:sp>
      <p:sp>
        <p:nvSpPr>
          <p:cNvPr id="29" name="Text 26"/>
          <p:cNvSpPr/>
          <p:nvPr/>
        </p:nvSpPr>
        <p:spPr>
          <a:xfrm>
            <a:off x="4379976" y="3547872"/>
            <a:ext cx="3328416" cy="274320"/>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Ayar Labs, Lightmatter, specialist packaging houses</a:t>
            </a:r>
            <a:endParaRPr lang="en-US" sz="1000" dirty="0"/>
          </a:p>
        </p:txBody>
      </p:sp>
      <p:sp>
        <p:nvSpPr>
          <p:cNvPr id="30" name="Text 27"/>
          <p:cNvSpPr/>
          <p:nvPr/>
        </p:nvSpPr>
        <p:spPr>
          <a:xfrm>
            <a:off x="4379976" y="3858768"/>
            <a:ext cx="3328416" cy="219456"/>
          </a:xfrm>
          <a:prstGeom prst="rect">
            <a:avLst/>
          </a:prstGeom>
          <a:noFill/>
          <a:ln/>
        </p:spPr>
        <p:txBody>
          <a:bodyPr wrap="square" lIns="0" tIns="0" rIns="0" bIns="0" rtlCol="0" anchor="ctr"/>
          <a:lstStyle/>
          <a:p>
            <a:pPr marL="0" indent="0">
              <a:buNone/>
            </a:pPr>
            <a:r>
              <a:rPr lang="en-US" sz="900" b="1" dirty="0">
                <a:solidFill>
                  <a:srgbClr val="7B90A6"/>
                </a:solidFill>
                <a:latin typeface="Calibri" pitchFamily="34" charset="0"/>
                <a:ea typeface="Calibri" pitchFamily="34" charset="-122"/>
                <a:cs typeface="Calibri" pitchFamily="34" charset="-120"/>
              </a:rPr>
              <a:t>Why</a:t>
            </a:r>
            <a:endParaRPr lang="en-US" sz="900" dirty="0"/>
          </a:p>
        </p:txBody>
      </p:sp>
      <p:sp>
        <p:nvSpPr>
          <p:cNvPr id="31" name="Text 28"/>
          <p:cNvSpPr/>
          <p:nvPr/>
        </p:nvSpPr>
        <p:spPr>
          <a:xfrm>
            <a:off x="4379976" y="4069080"/>
            <a:ext cx="3328416" cy="658368"/>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The hardest engineering problem in the full stack. Very few companies can do this at production yield. High switching cost once embedded in a customer supply chain makes churn nearly impossible.</a:t>
            </a:r>
            <a:endParaRPr lang="en-US" sz="950" dirty="0"/>
          </a:p>
        </p:txBody>
      </p:sp>
      <p:sp>
        <p:nvSpPr>
          <p:cNvPr id="32" name="Text 29"/>
          <p:cNvSpPr/>
          <p:nvPr/>
        </p:nvSpPr>
        <p:spPr>
          <a:xfrm>
            <a:off x="4379976" y="4773168"/>
            <a:ext cx="3328416" cy="219456"/>
          </a:xfrm>
          <a:prstGeom prst="rect">
            <a:avLst/>
          </a:prstGeom>
          <a:noFill/>
          <a:ln/>
        </p:spPr>
        <p:txBody>
          <a:bodyPr wrap="square" lIns="0" tIns="0" rIns="0" bIns="0" rtlCol="0" anchor="ctr"/>
          <a:lstStyle/>
          <a:p>
            <a:pPr marL="0" indent="0">
              <a:buNone/>
            </a:pPr>
            <a:r>
              <a:rPr lang="en-US" sz="900" b="1" dirty="0">
                <a:solidFill>
                  <a:srgbClr val="7B90A6"/>
                </a:solidFill>
                <a:latin typeface="Calibri" pitchFamily="34" charset="0"/>
                <a:ea typeface="Calibri" pitchFamily="34" charset="-122"/>
                <a:cs typeface="Calibri" pitchFamily="34" charset="-120"/>
              </a:rPr>
              <a:t>How to Enter</a:t>
            </a:r>
            <a:endParaRPr lang="en-US" sz="900" dirty="0"/>
          </a:p>
        </p:txBody>
      </p:sp>
      <p:sp>
        <p:nvSpPr>
          <p:cNvPr id="33" name="Text 30"/>
          <p:cNvSpPr/>
          <p:nvPr/>
        </p:nvSpPr>
        <p:spPr>
          <a:xfrm>
            <a:off x="4379976" y="4983480"/>
            <a:ext cx="3328416" cy="566928"/>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Require yield data from existing production runs. The gap between a working prototype and 90% yield production is where most photonic companies fail commercially.</a:t>
            </a:r>
            <a:endParaRPr lang="en-US" sz="950" dirty="0"/>
          </a:p>
        </p:txBody>
      </p:sp>
      <p:sp>
        <p:nvSpPr>
          <p:cNvPr id="34" name="Shape 31"/>
          <p:cNvSpPr/>
          <p:nvPr/>
        </p:nvSpPr>
        <p:spPr>
          <a:xfrm>
            <a:off x="8019288" y="2148840"/>
            <a:ext cx="3657600" cy="406908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35" name="Shape 32"/>
          <p:cNvSpPr/>
          <p:nvPr/>
        </p:nvSpPr>
        <p:spPr>
          <a:xfrm>
            <a:off x="8019288" y="2148840"/>
            <a:ext cx="3657600" cy="54864"/>
          </a:xfrm>
          <a:prstGeom prst="rect">
            <a:avLst/>
          </a:prstGeom>
          <a:solidFill>
            <a:srgbClr val="1F7A5C"/>
          </a:solidFill>
          <a:ln w="12700">
            <a:solidFill>
              <a:srgbClr val="1F7A5C"/>
            </a:solidFill>
            <a:prstDash val="solid"/>
          </a:ln>
        </p:spPr>
        <p:txBody>
          <a:bodyPr/>
          <a:lstStyle/>
          <a:p>
            <a:endParaRPr lang="en-US"/>
          </a:p>
        </p:txBody>
      </p:sp>
      <p:sp>
        <p:nvSpPr>
          <p:cNvPr id="36" name="Text 33"/>
          <p:cNvSpPr/>
          <p:nvPr/>
        </p:nvSpPr>
        <p:spPr>
          <a:xfrm>
            <a:off x="8183880" y="2240280"/>
            <a:ext cx="3328416" cy="274320"/>
          </a:xfrm>
          <a:prstGeom prst="rect">
            <a:avLst/>
          </a:prstGeom>
          <a:noFill/>
          <a:ln/>
        </p:spPr>
        <p:txBody>
          <a:bodyPr wrap="square" lIns="0" tIns="0" rIns="0" bIns="0" rtlCol="0" anchor="ctr"/>
          <a:lstStyle/>
          <a:p>
            <a:pPr marL="0" indent="0">
              <a:buNone/>
            </a:pPr>
            <a:r>
              <a:rPr lang="en-US" sz="950" b="1" kern="0" spc="200" dirty="0">
                <a:solidFill>
                  <a:srgbClr val="1F7A5C"/>
                </a:solidFill>
                <a:latin typeface="Calibri" pitchFamily="34" charset="0"/>
                <a:ea typeface="Calibri" pitchFamily="34" charset="-122"/>
                <a:cs typeface="Calibri" pitchFamily="34" charset="-120"/>
              </a:rPr>
              <a:t>Layer 1</a:t>
            </a:r>
            <a:endParaRPr lang="en-US" sz="950" dirty="0"/>
          </a:p>
        </p:txBody>
      </p:sp>
      <p:sp>
        <p:nvSpPr>
          <p:cNvPr id="37" name="Text 34"/>
          <p:cNvSpPr/>
          <p:nvPr/>
        </p:nvSpPr>
        <p:spPr>
          <a:xfrm>
            <a:off x="8183880" y="2542032"/>
            <a:ext cx="3328416" cy="457200"/>
          </a:xfrm>
          <a:prstGeom prst="rect">
            <a:avLst/>
          </a:prstGeom>
          <a:noFill/>
          <a:ln/>
        </p:spPr>
        <p:txBody>
          <a:bodyPr wrap="square" lIns="0" tIns="0" rIns="0" bIns="0" rtlCol="0" anchor="ctr"/>
          <a:lstStyle/>
          <a:p>
            <a:pPr marL="0" indent="0">
              <a:buNone/>
            </a:pPr>
            <a:r>
              <a:rPr lang="en-US" sz="1350" b="1" dirty="0">
                <a:solidFill>
                  <a:srgbClr val="0F1E30"/>
                </a:solidFill>
                <a:latin typeface="Calibri" pitchFamily="34" charset="0"/>
                <a:ea typeface="Calibri" pitchFamily="34" charset="-122"/>
                <a:cs typeface="Calibri" pitchFamily="34" charset="-120"/>
              </a:rPr>
              <a:t>Laser Materials Innovation</a:t>
            </a:r>
            <a:endParaRPr lang="en-US" sz="1350" dirty="0"/>
          </a:p>
        </p:txBody>
      </p:sp>
      <p:sp>
        <p:nvSpPr>
          <p:cNvPr id="38" name="Text 35"/>
          <p:cNvSpPr/>
          <p:nvPr/>
        </p:nvSpPr>
        <p:spPr>
          <a:xfrm>
            <a:off x="8183880" y="3017520"/>
            <a:ext cx="3328416" cy="256032"/>
          </a:xfrm>
          <a:prstGeom prst="rect">
            <a:avLst/>
          </a:prstGeom>
          <a:noFill/>
          <a:ln/>
        </p:spPr>
        <p:txBody>
          <a:bodyPr wrap="square" lIns="0" tIns="0" rIns="0" bIns="0" rtlCol="0" anchor="ctr"/>
          <a:lstStyle/>
          <a:p>
            <a:pPr marL="0" indent="0">
              <a:buNone/>
            </a:pPr>
            <a:r>
              <a:rPr lang="en-US" sz="950" i="1" dirty="0">
                <a:solidFill>
                  <a:srgbClr val="1F7A5C"/>
                </a:solidFill>
                <a:latin typeface="Calibri" pitchFamily="34" charset="0"/>
                <a:ea typeface="Calibri" pitchFamily="34" charset="-122"/>
                <a:cs typeface="Calibri" pitchFamily="34" charset="-120"/>
              </a:rPr>
              <a:t>Venture Fit: High</a:t>
            </a:r>
            <a:endParaRPr lang="en-US" sz="950" dirty="0"/>
          </a:p>
        </p:txBody>
      </p:sp>
      <p:sp>
        <p:nvSpPr>
          <p:cNvPr id="39" name="Text 36"/>
          <p:cNvSpPr/>
          <p:nvPr/>
        </p:nvSpPr>
        <p:spPr>
          <a:xfrm>
            <a:off x="8183880" y="3337560"/>
            <a:ext cx="3328416" cy="219456"/>
          </a:xfrm>
          <a:prstGeom prst="rect">
            <a:avLst/>
          </a:prstGeom>
          <a:noFill/>
          <a:ln/>
        </p:spPr>
        <p:txBody>
          <a:bodyPr wrap="square" lIns="0" tIns="0" rIns="0" bIns="0" rtlCol="0" anchor="ctr"/>
          <a:lstStyle/>
          <a:p>
            <a:pPr marL="0" indent="0">
              <a:buNone/>
            </a:pPr>
            <a:r>
              <a:rPr lang="en-US" sz="900" b="1" dirty="0">
                <a:solidFill>
                  <a:srgbClr val="7B90A6"/>
                </a:solidFill>
                <a:latin typeface="Calibri" pitchFamily="34" charset="0"/>
                <a:ea typeface="Calibri" pitchFamily="34" charset="-122"/>
                <a:cs typeface="Calibri" pitchFamily="34" charset="-120"/>
              </a:rPr>
              <a:t>Companies</a:t>
            </a:r>
            <a:endParaRPr lang="en-US" sz="900" dirty="0"/>
          </a:p>
        </p:txBody>
      </p:sp>
      <p:sp>
        <p:nvSpPr>
          <p:cNvPr id="40" name="Text 37"/>
          <p:cNvSpPr/>
          <p:nvPr/>
        </p:nvSpPr>
        <p:spPr>
          <a:xfrm>
            <a:off x="8183880" y="3547872"/>
            <a:ext cx="3328416" cy="274320"/>
          </a:xfrm>
          <a:prstGeom prst="rect">
            <a:avLst/>
          </a:prstGeom>
          <a:noFill/>
          <a:ln/>
        </p:spPr>
        <p:txBody>
          <a:bodyPr wrap="square" lIns="0" tIns="0" rIns="0" bIns="0" rtlCol="0" anchor="ctr"/>
          <a:lstStyle/>
          <a:p>
            <a:pPr marL="0" indent="0">
              <a:buNone/>
            </a:pPr>
            <a:r>
              <a:rPr lang="en-US" sz="1000" dirty="0">
                <a:solidFill>
                  <a:srgbClr val="2C3E50"/>
                </a:solidFill>
                <a:latin typeface="Calibri" pitchFamily="34" charset="0"/>
                <a:ea typeface="Calibri" pitchFamily="34" charset="-122"/>
                <a:cs typeface="Calibri" pitchFamily="34" charset="-120"/>
              </a:rPr>
              <a:t>POET Technologies, emerging III-V on silicon startups</a:t>
            </a:r>
            <a:endParaRPr lang="en-US" sz="1000" dirty="0"/>
          </a:p>
        </p:txBody>
      </p:sp>
      <p:sp>
        <p:nvSpPr>
          <p:cNvPr id="41" name="Text 38"/>
          <p:cNvSpPr/>
          <p:nvPr/>
        </p:nvSpPr>
        <p:spPr>
          <a:xfrm>
            <a:off x="8183880" y="3858768"/>
            <a:ext cx="3328416" cy="219456"/>
          </a:xfrm>
          <a:prstGeom prst="rect">
            <a:avLst/>
          </a:prstGeom>
          <a:noFill/>
          <a:ln/>
        </p:spPr>
        <p:txBody>
          <a:bodyPr wrap="square" lIns="0" tIns="0" rIns="0" bIns="0" rtlCol="0" anchor="ctr"/>
          <a:lstStyle/>
          <a:p>
            <a:pPr marL="0" indent="0">
              <a:buNone/>
            </a:pPr>
            <a:r>
              <a:rPr lang="en-US" sz="900" b="1" dirty="0">
                <a:solidFill>
                  <a:srgbClr val="7B90A6"/>
                </a:solidFill>
                <a:latin typeface="Calibri" pitchFamily="34" charset="0"/>
                <a:ea typeface="Calibri" pitchFamily="34" charset="-122"/>
                <a:cs typeface="Calibri" pitchFamily="34" charset="-120"/>
              </a:rPr>
              <a:t>Why</a:t>
            </a:r>
            <a:endParaRPr lang="en-US" sz="900" dirty="0"/>
          </a:p>
        </p:txBody>
      </p:sp>
      <p:sp>
        <p:nvSpPr>
          <p:cNvPr id="42" name="Text 39"/>
          <p:cNvSpPr/>
          <p:nvPr/>
        </p:nvSpPr>
        <p:spPr>
          <a:xfrm>
            <a:off x="8183880" y="4069080"/>
            <a:ext cx="3328416" cy="658368"/>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Deepest structural constraint in the full stack. Any startup solving the indium phosphide shortage addresses a bottleneck affecting every photonic product in the entire market simultaneously.</a:t>
            </a:r>
            <a:endParaRPr lang="en-US" sz="950" dirty="0"/>
          </a:p>
        </p:txBody>
      </p:sp>
      <p:sp>
        <p:nvSpPr>
          <p:cNvPr id="43" name="Text 40"/>
          <p:cNvSpPr/>
          <p:nvPr/>
        </p:nvSpPr>
        <p:spPr>
          <a:xfrm>
            <a:off x="8183880" y="4773168"/>
            <a:ext cx="3328416" cy="219456"/>
          </a:xfrm>
          <a:prstGeom prst="rect">
            <a:avLst/>
          </a:prstGeom>
          <a:noFill/>
          <a:ln/>
        </p:spPr>
        <p:txBody>
          <a:bodyPr wrap="square" lIns="0" tIns="0" rIns="0" bIns="0" rtlCol="0" anchor="ctr"/>
          <a:lstStyle/>
          <a:p>
            <a:pPr marL="0" indent="0">
              <a:buNone/>
            </a:pPr>
            <a:r>
              <a:rPr lang="en-US" sz="900" b="1" dirty="0">
                <a:solidFill>
                  <a:srgbClr val="7B90A6"/>
                </a:solidFill>
                <a:latin typeface="Calibri" pitchFamily="34" charset="0"/>
                <a:ea typeface="Calibri" pitchFamily="34" charset="-122"/>
                <a:cs typeface="Calibri" pitchFamily="34" charset="-120"/>
              </a:rPr>
              <a:t>How to Enter</a:t>
            </a:r>
            <a:endParaRPr lang="en-US" sz="900" dirty="0"/>
          </a:p>
        </p:txBody>
      </p:sp>
      <p:sp>
        <p:nvSpPr>
          <p:cNvPr id="44" name="Text 41"/>
          <p:cNvSpPr/>
          <p:nvPr/>
        </p:nvSpPr>
        <p:spPr>
          <a:xfrm>
            <a:off x="8183880" y="4983480"/>
            <a:ext cx="3328416" cy="566928"/>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Secure InP laser allocation with Coherent or Lumentum for 2027 to 2028 delivery on behalf of portfolio companies as a condition of investment. Budget alone will not secure supply.</a:t>
            </a:r>
            <a:endParaRPr lang="en-US" sz="950" dirty="0"/>
          </a:p>
        </p:txBody>
      </p:sp>
      <p:sp>
        <p:nvSpPr>
          <p:cNvPr id="45" name="Shape 42"/>
          <p:cNvSpPr/>
          <p:nvPr/>
        </p:nvSpPr>
        <p:spPr>
          <a:xfrm>
            <a:off x="411480" y="6355080"/>
            <a:ext cx="11365992" cy="658368"/>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46" name="Shape 43"/>
          <p:cNvSpPr/>
          <p:nvPr/>
        </p:nvSpPr>
        <p:spPr>
          <a:xfrm>
            <a:off x="411480" y="6355080"/>
            <a:ext cx="54864" cy="658368"/>
          </a:xfrm>
          <a:prstGeom prst="rect">
            <a:avLst/>
          </a:prstGeom>
          <a:solidFill>
            <a:srgbClr val="1B3A5C"/>
          </a:solidFill>
          <a:ln w="12700">
            <a:solidFill>
              <a:srgbClr val="1B3A5C"/>
            </a:solidFill>
            <a:prstDash val="solid"/>
          </a:ln>
        </p:spPr>
        <p:txBody>
          <a:bodyPr/>
          <a:lstStyle/>
          <a:p>
            <a:endParaRPr lang="en-US"/>
          </a:p>
        </p:txBody>
      </p:sp>
      <p:sp>
        <p:nvSpPr>
          <p:cNvPr id="47" name="Text 44"/>
          <p:cNvSpPr/>
          <p:nvPr/>
        </p:nvSpPr>
        <p:spPr>
          <a:xfrm>
            <a:off x="576072" y="6446520"/>
            <a:ext cx="11109960" cy="274320"/>
          </a:xfrm>
          <a:prstGeom prst="rect">
            <a:avLst/>
          </a:prstGeom>
          <a:noFill/>
          <a:ln/>
        </p:spPr>
        <p:txBody>
          <a:bodyPr wrap="square" lIns="0" tIns="0" rIns="0" bIns="0" rtlCol="0" anchor="ctr"/>
          <a:lstStyle/>
          <a:p>
            <a:pPr marL="0" indent="0">
              <a:buNone/>
            </a:pPr>
            <a:r>
              <a:rPr lang="en-US" sz="1100" b="1" dirty="0">
                <a:solidFill>
                  <a:srgbClr val="1B3A5C"/>
                </a:solidFill>
                <a:latin typeface="Calibri" pitchFamily="34" charset="0"/>
                <a:ea typeface="Calibri" pitchFamily="34" charset="-122"/>
                <a:cs typeface="Calibri" pitchFamily="34" charset="-120"/>
              </a:rPr>
              <a:t>What to Avoid</a:t>
            </a:r>
            <a:endParaRPr lang="en-US" sz="1100" dirty="0"/>
          </a:p>
        </p:txBody>
      </p:sp>
      <p:sp>
        <p:nvSpPr>
          <p:cNvPr id="48" name="Text 45"/>
          <p:cNvSpPr/>
          <p:nvPr/>
        </p:nvSpPr>
        <p:spPr>
          <a:xfrm>
            <a:off x="576072" y="6739128"/>
            <a:ext cx="11109960" cy="182880"/>
          </a:xfrm>
          <a:prstGeom prst="rect">
            <a:avLst/>
          </a:prstGeom>
          <a:noFill/>
          <a:ln/>
        </p:spPr>
        <p:txBody>
          <a:bodyPr wrap="square" lIns="0" tIns="0" rIns="0" bIns="0" rtlCol="0" anchor="t"/>
          <a:lstStyle/>
          <a:p>
            <a:pPr marL="0" indent="0">
              <a:buNone/>
            </a:pPr>
            <a:r>
              <a:rPr lang="en-US" sz="1000" dirty="0">
                <a:solidFill>
                  <a:srgbClr val="2C3E50"/>
                </a:solidFill>
                <a:latin typeface="Calibri" pitchFamily="34" charset="0"/>
                <a:ea typeface="Calibri" pitchFamily="34" charset="-122"/>
                <a:cs typeface="Calibri" pitchFamily="34" charset="-120"/>
              </a:rPr>
              <a:t>Do not invest in copper infrastructure or DSP based transceiver manufacturers. Do not accept roadmap slides without foundry booking confirmation and production yield data. Do not commit to a single CPO vendor before interoperability standards mature in 2027.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75488"/>
          </a:xfrm>
          <a:prstGeom prst="rect">
            <a:avLst/>
          </a:prstGeom>
          <a:solidFill>
            <a:srgbClr val="1B3A5C"/>
          </a:solidFill>
          <a:ln w="12700">
            <a:solidFill>
              <a:srgbClr val="1B3A5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28600" y="45720"/>
            <a:ext cx="1600200" cy="384048"/>
          </a:xfrm>
          <a:prstGeom prst="rect">
            <a:avLst/>
          </a:prstGeom>
        </p:spPr>
      </p:pic>
      <p:sp>
        <p:nvSpPr>
          <p:cNvPr id="4" name="Text 1"/>
          <p:cNvSpPr/>
          <p:nvPr/>
        </p:nvSpPr>
        <p:spPr>
          <a:xfrm>
            <a:off x="2103120" y="91440"/>
            <a:ext cx="8686800" cy="292608"/>
          </a:xfrm>
          <a:prstGeom prst="rect">
            <a:avLst/>
          </a:prstGeom>
          <a:noFill/>
          <a:ln/>
        </p:spPr>
        <p:txBody>
          <a:bodyPr wrap="square" lIns="0" tIns="0" rIns="0" bIns="0" rtlCol="0" anchor="ctr"/>
          <a:lstStyle/>
          <a:p>
            <a:pPr marL="0" indent="0">
              <a:buNone/>
            </a:pPr>
            <a:r>
              <a:rPr lang="en-US" sz="850" kern="0" spc="250" dirty="0">
                <a:solidFill>
                  <a:srgbClr val="D0DAE4"/>
                </a:solidFill>
                <a:latin typeface="Calibri" pitchFamily="34" charset="0"/>
                <a:ea typeface="Calibri" pitchFamily="34" charset="-122"/>
                <a:cs typeface="Calibri" pitchFamily="34" charset="-120"/>
              </a:rPr>
              <a:t>COOLING AND THERMAL SYSTEMS  ·  IREEN</a:t>
            </a:r>
            <a:endParaRPr lang="en-US" sz="850" dirty="0"/>
          </a:p>
        </p:txBody>
      </p:sp>
      <p:sp>
        <p:nvSpPr>
          <p:cNvPr id="5" name="Text 2"/>
          <p:cNvSpPr/>
          <p:nvPr/>
        </p:nvSpPr>
        <p:spPr>
          <a:xfrm>
            <a:off x="11064240" y="91440"/>
            <a:ext cx="914400" cy="292608"/>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11 / 17</a:t>
            </a:r>
            <a:endParaRPr lang="en-US" sz="850" dirty="0"/>
          </a:p>
        </p:txBody>
      </p:sp>
      <p:sp>
        <p:nvSpPr>
          <p:cNvPr id="6" name="Shape 3"/>
          <p:cNvSpPr/>
          <p:nvPr/>
        </p:nvSpPr>
        <p:spPr>
          <a:xfrm>
            <a:off x="0" y="6537960"/>
            <a:ext cx="12188952" cy="320040"/>
          </a:xfrm>
          <a:prstGeom prst="rect">
            <a:avLst/>
          </a:prstGeom>
          <a:solidFill>
            <a:srgbClr val="F2F6FA"/>
          </a:solidFill>
          <a:ln w="12700">
            <a:solidFill>
              <a:srgbClr val="D0DAE4"/>
            </a:solidFill>
            <a:prstDash val="solid"/>
          </a:ln>
        </p:spPr>
        <p:txBody>
          <a:bodyPr/>
          <a:lstStyle/>
          <a:p>
            <a:endParaRPr lang="en-US"/>
          </a:p>
        </p:txBody>
      </p:sp>
      <p:sp>
        <p:nvSpPr>
          <p:cNvPr id="7" name="Text 4"/>
          <p:cNvSpPr/>
          <p:nvPr/>
        </p:nvSpPr>
        <p:spPr>
          <a:xfrm>
            <a:off x="274320" y="6565392"/>
            <a:ext cx="6400800" cy="256032"/>
          </a:xfrm>
          <a:prstGeom prst="rect">
            <a:avLst/>
          </a:prstGeom>
          <a:noFill/>
          <a:ln/>
        </p:spPr>
        <p:txBody>
          <a:bodyPr wrap="square" lIns="0" tIns="0" rIns="0" bIns="0" rtlCol="0" anchor="ctr"/>
          <a:lstStyle/>
          <a:p>
            <a:pPr marL="0" indent="0">
              <a:buNone/>
            </a:pPr>
            <a:r>
              <a:rPr lang="en-US" sz="750" dirty="0">
                <a:solidFill>
                  <a:srgbClr val="7B90A6"/>
                </a:solidFill>
                <a:latin typeface="Calibri" pitchFamily="34" charset="0"/>
                <a:ea typeface="Calibri" pitchFamily="34" charset="-122"/>
                <a:cs typeface="Calibri" pitchFamily="34" charset="-120"/>
              </a:rPr>
              <a:t>ClearVision Ventures  ·  Confidential  ·  April 2026</a:t>
            </a:r>
            <a:endParaRPr lang="en-US" sz="750" dirty="0"/>
          </a:p>
        </p:txBody>
      </p:sp>
      <p:sp>
        <p:nvSpPr>
          <p:cNvPr id="8" name="Text 5"/>
          <p:cNvSpPr/>
          <p:nvPr/>
        </p:nvSpPr>
        <p:spPr>
          <a:xfrm>
            <a:off x="411480" y="594360"/>
            <a:ext cx="10972800" cy="228600"/>
          </a:xfrm>
          <a:prstGeom prst="rect">
            <a:avLst/>
          </a:prstGeom>
          <a:noFill/>
          <a:ln/>
        </p:spPr>
        <p:txBody>
          <a:bodyPr wrap="square" lIns="0" tIns="0" rIns="0" bIns="0" rtlCol="0" anchor="ctr"/>
          <a:lstStyle/>
          <a:p>
            <a:pPr marL="0" indent="0">
              <a:buNone/>
            </a:pPr>
            <a:r>
              <a:rPr lang="en-US" sz="850" b="1" kern="0" spc="300" dirty="0">
                <a:solidFill>
                  <a:srgbClr val="2E6DA4"/>
                </a:solidFill>
                <a:latin typeface="Calibri" pitchFamily="34" charset="0"/>
                <a:ea typeface="Calibri" pitchFamily="34" charset="-122"/>
                <a:cs typeface="Calibri" pitchFamily="34" charset="-120"/>
              </a:rPr>
              <a:t>THE THERMAL LAYER</a:t>
            </a:r>
            <a:endParaRPr lang="en-US" sz="850" dirty="0"/>
          </a:p>
        </p:txBody>
      </p:sp>
      <p:sp>
        <p:nvSpPr>
          <p:cNvPr id="9" name="Text 6"/>
          <p:cNvSpPr/>
          <p:nvPr/>
        </p:nvSpPr>
        <p:spPr>
          <a:xfrm>
            <a:off x="411480" y="822960"/>
            <a:ext cx="11338560" cy="713232"/>
          </a:xfrm>
          <a:prstGeom prst="rect">
            <a:avLst/>
          </a:prstGeom>
          <a:noFill/>
          <a:ln/>
        </p:spPr>
        <p:txBody>
          <a:bodyPr wrap="square" lIns="0" tIns="0" rIns="0" bIns="0" rtlCol="0" anchor="ctr"/>
          <a:lstStyle/>
          <a:p>
            <a:pPr marL="0" indent="0">
              <a:buNone/>
            </a:pPr>
            <a:r>
              <a:rPr lang="en-US" sz="2800" b="1" dirty="0">
                <a:solidFill>
                  <a:srgbClr val="0F1E30"/>
                </a:solidFill>
                <a:latin typeface="Calibri" pitchFamily="34" charset="0"/>
                <a:ea typeface="Calibri" pitchFamily="34" charset="-122"/>
                <a:cs typeface="Calibri" pitchFamily="34" charset="-120"/>
              </a:rPr>
              <a:t>Heat Is the Hidden Tax on Every Watt You Generate</a:t>
            </a:r>
            <a:endParaRPr lang="en-US" sz="2800" dirty="0"/>
          </a:p>
        </p:txBody>
      </p:sp>
      <p:sp>
        <p:nvSpPr>
          <p:cNvPr id="10" name="Shape 7"/>
          <p:cNvSpPr/>
          <p:nvPr/>
        </p:nvSpPr>
        <p:spPr>
          <a:xfrm>
            <a:off x="411480" y="1536192"/>
            <a:ext cx="1005840" cy="41148"/>
          </a:xfrm>
          <a:prstGeom prst="rect">
            <a:avLst/>
          </a:prstGeom>
          <a:solidFill>
            <a:srgbClr val="2E6DA4"/>
          </a:solidFill>
          <a:ln w="12700">
            <a:solidFill>
              <a:srgbClr val="2E6DA4"/>
            </a:solidFill>
            <a:prstDash val="solid"/>
          </a:ln>
        </p:spPr>
        <p:txBody>
          <a:bodyPr/>
          <a:lstStyle/>
          <a:p>
            <a:endParaRPr lang="en-US"/>
          </a:p>
        </p:txBody>
      </p:sp>
      <p:sp>
        <p:nvSpPr>
          <p:cNvPr id="11" name="Text 8"/>
          <p:cNvSpPr/>
          <p:nvPr/>
        </p:nvSpPr>
        <p:spPr>
          <a:xfrm>
            <a:off x="411480" y="1627632"/>
            <a:ext cx="7772400" cy="548640"/>
          </a:xfrm>
          <a:prstGeom prst="rect">
            <a:avLst/>
          </a:prstGeom>
          <a:noFill/>
          <a:ln/>
        </p:spPr>
        <p:txBody>
          <a:bodyPr wrap="square" lIns="0" tIns="0" rIns="0" bIns="0" rtlCol="0" anchor="ctr"/>
          <a:lstStyle/>
          <a:p>
            <a:pPr marL="0" indent="0">
              <a:buNone/>
            </a:pPr>
            <a:r>
              <a:rPr lang="en-US" sz="1150" i="1" dirty="0">
                <a:solidFill>
                  <a:srgbClr val="2C3E50"/>
                </a:solidFill>
                <a:latin typeface="Calibri" pitchFamily="34" charset="0"/>
                <a:ea typeface="Calibri" pitchFamily="34" charset="-122"/>
                <a:cs typeface="Calibri" pitchFamily="34" charset="-120"/>
              </a:rPr>
              <a:t>The AI era data center has transitioned from a demand driven system to a constraint driven one. Power, cooling, water usage, and permitting now define the boundaries of feasible expansion. Thermal management is no longer a cost center. It is a value creator.</a:t>
            </a:r>
            <a:endParaRPr lang="en-US" sz="1150" dirty="0"/>
          </a:p>
        </p:txBody>
      </p:sp>
      <p:sp>
        <p:nvSpPr>
          <p:cNvPr id="12" name="Shape 9"/>
          <p:cNvSpPr/>
          <p:nvPr/>
        </p:nvSpPr>
        <p:spPr>
          <a:xfrm>
            <a:off x="411480" y="2212848"/>
            <a:ext cx="1828800" cy="118872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3" name="Shape 10"/>
          <p:cNvSpPr/>
          <p:nvPr/>
        </p:nvSpPr>
        <p:spPr>
          <a:xfrm>
            <a:off x="411480" y="2212848"/>
            <a:ext cx="1828800" cy="50292"/>
          </a:xfrm>
          <a:prstGeom prst="rect">
            <a:avLst/>
          </a:prstGeom>
          <a:solidFill>
            <a:srgbClr val="1B3A5C"/>
          </a:solidFill>
          <a:ln w="12700">
            <a:solidFill>
              <a:srgbClr val="1B3A5C"/>
            </a:solidFill>
            <a:prstDash val="solid"/>
          </a:ln>
        </p:spPr>
        <p:txBody>
          <a:bodyPr/>
          <a:lstStyle/>
          <a:p>
            <a:endParaRPr lang="en-US"/>
          </a:p>
        </p:txBody>
      </p:sp>
      <p:sp>
        <p:nvSpPr>
          <p:cNvPr id="14" name="Text 11"/>
          <p:cNvSpPr/>
          <p:nvPr/>
        </p:nvSpPr>
        <p:spPr>
          <a:xfrm>
            <a:off x="502920" y="2350008"/>
            <a:ext cx="1645920" cy="512064"/>
          </a:xfrm>
          <a:prstGeom prst="rect">
            <a:avLst/>
          </a:prstGeom>
          <a:noFill/>
          <a:ln/>
        </p:spPr>
        <p:txBody>
          <a:bodyPr wrap="square" lIns="0" tIns="0" rIns="0" bIns="0" rtlCol="0" anchor="ctr"/>
          <a:lstStyle/>
          <a:p>
            <a:pPr marL="0" indent="0" algn="ctr">
              <a:buNone/>
            </a:pPr>
            <a:r>
              <a:rPr lang="en-US" sz="2500" b="1" dirty="0">
                <a:solidFill>
                  <a:srgbClr val="1B3A5C"/>
                </a:solidFill>
                <a:latin typeface="Calibri" pitchFamily="34" charset="0"/>
                <a:ea typeface="Calibri" pitchFamily="34" charset="-122"/>
                <a:cs typeface="Calibri" pitchFamily="34" charset="-120"/>
              </a:rPr>
              <a:t>20 to 25%</a:t>
            </a:r>
            <a:endParaRPr lang="en-US" sz="2500" dirty="0"/>
          </a:p>
        </p:txBody>
      </p:sp>
      <p:sp>
        <p:nvSpPr>
          <p:cNvPr id="15" name="Text 12"/>
          <p:cNvSpPr/>
          <p:nvPr/>
        </p:nvSpPr>
        <p:spPr>
          <a:xfrm>
            <a:off x="502920" y="2871216"/>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Of total facility power consumed by traditional air cooling systems</a:t>
            </a:r>
            <a:endParaRPr lang="en-US" sz="900" dirty="0"/>
          </a:p>
        </p:txBody>
      </p:sp>
      <p:sp>
        <p:nvSpPr>
          <p:cNvPr id="16" name="Shape 13"/>
          <p:cNvSpPr/>
          <p:nvPr/>
        </p:nvSpPr>
        <p:spPr>
          <a:xfrm>
            <a:off x="2423160" y="2212848"/>
            <a:ext cx="1828800" cy="118872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7" name="Shape 14"/>
          <p:cNvSpPr/>
          <p:nvPr/>
        </p:nvSpPr>
        <p:spPr>
          <a:xfrm>
            <a:off x="2423160" y="2212848"/>
            <a:ext cx="1828800" cy="50292"/>
          </a:xfrm>
          <a:prstGeom prst="rect">
            <a:avLst/>
          </a:prstGeom>
          <a:solidFill>
            <a:srgbClr val="2E6DA4"/>
          </a:solidFill>
          <a:ln w="12700">
            <a:solidFill>
              <a:srgbClr val="2E6DA4"/>
            </a:solidFill>
            <a:prstDash val="solid"/>
          </a:ln>
        </p:spPr>
        <p:txBody>
          <a:bodyPr/>
          <a:lstStyle/>
          <a:p>
            <a:endParaRPr lang="en-US"/>
          </a:p>
        </p:txBody>
      </p:sp>
      <p:sp>
        <p:nvSpPr>
          <p:cNvPr id="18" name="Text 15"/>
          <p:cNvSpPr/>
          <p:nvPr/>
        </p:nvSpPr>
        <p:spPr>
          <a:xfrm>
            <a:off x="2514600" y="2350008"/>
            <a:ext cx="1645920" cy="512064"/>
          </a:xfrm>
          <a:prstGeom prst="rect">
            <a:avLst/>
          </a:prstGeom>
          <a:noFill/>
          <a:ln/>
        </p:spPr>
        <p:txBody>
          <a:bodyPr wrap="square" lIns="0" tIns="0" rIns="0" bIns="0" rtlCol="0" anchor="ctr"/>
          <a:lstStyle/>
          <a:p>
            <a:pPr marL="0" indent="0" algn="ctr">
              <a:buNone/>
            </a:pPr>
            <a:r>
              <a:rPr lang="en-US" sz="2500" b="1" dirty="0">
                <a:solidFill>
                  <a:srgbClr val="2E6DA4"/>
                </a:solidFill>
                <a:latin typeface="Calibri" pitchFamily="34" charset="0"/>
                <a:ea typeface="Calibri" pitchFamily="34" charset="-122"/>
                <a:cs typeface="Calibri" pitchFamily="34" charset="-120"/>
              </a:rPr>
              <a:t>40%</a:t>
            </a:r>
            <a:endParaRPr lang="en-US" sz="2500" dirty="0"/>
          </a:p>
        </p:txBody>
      </p:sp>
      <p:sp>
        <p:nvSpPr>
          <p:cNvPr id="19" name="Text 16"/>
          <p:cNvSpPr/>
          <p:nvPr/>
        </p:nvSpPr>
        <p:spPr>
          <a:xfrm>
            <a:off x="2514600" y="2871216"/>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Cooling energy reduction from AI driven thermal optimization per Google DeepMind</a:t>
            </a:r>
            <a:endParaRPr lang="en-US" sz="900" dirty="0"/>
          </a:p>
        </p:txBody>
      </p:sp>
      <p:sp>
        <p:nvSpPr>
          <p:cNvPr id="20" name="Shape 17"/>
          <p:cNvSpPr/>
          <p:nvPr/>
        </p:nvSpPr>
        <p:spPr>
          <a:xfrm>
            <a:off x="4434840" y="2212848"/>
            <a:ext cx="1828800" cy="118872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1" name="Shape 18"/>
          <p:cNvSpPr/>
          <p:nvPr/>
        </p:nvSpPr>
        <p:spPr>
          <a:xfrm>
            <a:off x="4434840" y="2212848"/>
            <a:ext cx="1828800" cy="50292"/>
          </a:xfrm>
          <a:prstGeom prst="rect">
            <a:avLst/>
          </a:prstGeom>
          <a:solidFill>
            <a:srgbClr val="1F7A5C"/>
          </a:solidFill>
          <a:ln w="12700">
            <a:solidFill>
              <a:srgbClr val="1F7A5C"/>
            </a:solidFill>
            <a:prstDash val="solid"/>
          </a:ln>
        </p:spPr>
        <p:txBody>
          <a:bodyPr/>
          <a:lstStyle/>
          <a:p>
            <a:endParaRPr lang="en-US"/>
          </a:p>
        </p:txBody>
      </p:sp>
      <p:sp>
        <p:nvSpPr>
          <p:cNvPr id="22" name="Text 19"/>
          <p:cNvSpPr/>
          <p:nvPr/>
        </p:nvSpPr>
        <p:spPr>
          <a:xfrm>
            <a:off x="4526280" y="2350008"/>
            <a:ext cx="1645920" cy="512064"/>
          </a:xfrm>
          <a:prstGeom prst="rect">
            <a:avLst/>
          </a:prstGeom>
          <a:noFill/>
          <a:ln/>
        </p:spPr>
        <p:txBody>
          <a:bodyPr wrap="square" lIns="0" tIns="0" rIns="0" bIns="0" rtlCol="0" anchor="ctr"/>
          <a:lstStyle/>
          <a:p>
            <a:pPr marL="0" indent="0" algn="ctr">
              <a:buNone/>
            </a:pPr>
            <a:r>
              <a:rPr lang="en-US" sz="2500" b="1" dirty="0">
                <a:solidFill>
                  <a:srgbClr val="1F7A5C"/>
                </a:solidFill>
                <a:latin typeface="Calibri" pitchFamily="34" charset="0"/>
                <a:ea typeface="Calibri" pitchFamily="34" charset="-122"/>
                <a:cs typeface="Calibri" pitchFamily="34" charset="-120"/>
              </a:rPr>
              <a:t>15 to 21%</a:t>
            </a:r>
            <a:endParaRPr lang="en-US" sz="2500" dirty="0"/>
          </a:p>
        </p:txBody>
      </p:sp>
      <p:sp>
        <p:nvSpPr>
          <p:cNvPr id="23" name="Text 20"/>
          <p:cNvSpPr/>
          <p:nvPr/>
        </p:nvSpPr>
        <p:spPr>
          <a:xfrm>
            <a:off x="4526280" y="2871216"/>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Greenhouse gas reduction from liquid cooling plates per Microsoft Nature 2025</a:t>
            </a:r>
            <a:endParaRPr lang="en-US" sz="900" dirty="0"/>
          </a:p>
        </p:txBody>
      </p:sp>
      <p:sp>
        <p:nvSpPr>
          <p:cNvPr id="24" name="Shape 21"/>
          <p:cNvSpPr/>
          <p:nvPr/>
        </p:nvSpPr>
        <p:spPr>
          <a:xfrm>
            <a:off x="6446520" y="2212848"/>
            <a:ext cx="1828800" cy="1188720"/>
          </a:xfrm>
          <a:prstGeom prst="rect">
            <a:avLst/>
          </a:prstGeom>
          <a:solidFill>
            <a:srgbClr val="FFFFFF"/>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5" name="Shape 22"/>
          <p:cNvSpPr/>
          <p:nvPr/>
        </p:nvSpPr>
        <p:spPr>
          <a:xfrm>
            <a:off x="6446520" y="2212848"/>
            <a:ext cx="1828800" cy="50292"/>
          </a:xfrm>
          <a:prstGeom prst="rect">
            <a:avLst/>
          </a:prstGeom>
          <a:solidFill>
            <a:srgbClr val="C8922A"/>
          </a:solidFill>
          <a:ln w="12700">
            <a:solidFill>
              <a:srgbClr val="C8922A"/>
            </a:solidFill>
            <a:prstDash val="solid"/>
          </a:ln>
        </p:spPr>
        <p:txBody>
          <a:bodyPr/>
          <a:lstStyle/>
          <a:p>
            <a:endParaRPr lang="en-US"/>
          </a:p>
        </p:txBody>
      </p:sp>
      <p:sp>
        <p:nvSpPr>
          <p:cNvPr id="26" name="Text 23"/>
          <p:cNvSpPr/>
          <p:nvPr/>
        </p:nvSpPr>
        <p:spPr>
          <a:xfrm>
            <a:off x="6537960" y="2350008"/>
            <a:ext cx="1645920" cy="512064"/>
          </a:xfrm>
          <a:prstGeom prst="rect">
            <a:avLst/>
          </a:prstGeom>
          <a:noFill/>
          <a:ln/>
        </p:spPr>
        <p:txBody>
          <a:bodyPr wrap="square" lIns="0" tIns="0" rIns="0" bIns="0" rtlCol="0" anchor="ctr"/>
          <a:lstStyle/>
          <a:p>
            <a:pPr marL="0" indent="0" algn="ctr">
              <a:buNone/>
            </a:pPr>
            <a:r>
              <a:rPr lang="en-US" sz="2500" b="1" dirty="0">
                <a:solidFill>
                  <a:srgbClr val="C8922A"/>
                </a:solidFill>
                <a:latin typeface="Calibri" pitchFamily="34" charset="0"/>
                <a:ea typeface="Calibri" pitchFamily="34" charset="-122"/>
                <a:cs typeface="Calibri" pitchFamily="34" charset="-120"/>
              </a:rPr>
              <a:t>52%</a:t>
            </a:r>
            <a:endParaRPr lang="en-US" sz="2500" dirty="0"/>
          </a:p>
        </p:txBody>
      </p:sp>
      <p:sp>
        <p:nvSpPr>
          <p:cNvPr id="27" name="Text 24"/>
          <p:cNvSpPr/>
          <p:nvPr/>
        </p:nvSpPr>
        <p:spPr>
          <a:xfrm>
            <a:off x="6537960" y="2871216"/>
            <a:ext cx="1645920" cy="438912"/>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Water usage reduction with two phase immersion cooling per Microsoft 2025</a:t>
            </a:r>
            <a:endParaRPr lang="en-US" sz="900" dirty="0"/>
          </a:p>
        </p:txBody>
      </p:sp>
      <p:sp>
        <p:nvSpPr>
          <p:cNvPr id="28" name="Shape 25"/>
          <p:cNvSpPr/>
          <p:nvPr/>
        </p:nvSpPr>
        <p:spPr>
          <a:xfrm>
            <a:off x="411480" y="3566160"/>
            <a:ext cx="50292" cy="475488"/>
          </a:xfrm>
          <a:prstGeom prst="rect">
            <a:avLst/>
          </a:prstGeom>
          <a:solidFill>
            <a:srgbClr val="C8922A"/>
          </a:solidFill>
          <a:ln w="12700">
            <a:solidFill>
              <a:srgbClr val="C8922A"/>
            </a:solidFill>
            <a:prstDash val="solid"/>
          </a:ln>
        </p:spPr>
        <p:txBody>
          <a:bodyPr/>
          <a:lstStyle/>
          <a:p>
            <a:endParaRPr lang="en-US"/>
          </a:p>
        </p:txBody>
      </p:sp>
      <p:sp>
        <p:nvSpPr>
          <p:cNvPr id="29" name="Text 26"/>
          <p:cNvSpPr/>
          <p:nvPr/>
        </p:nvSpPr>
        <p:spPr>
          <a:xfrm>
            <a:off x="576072" y="3584448"/>
            <a:ext cx="7680960" cy="237744"/>
          </a:xfrm>
          <a:prstGeom prst="rect">
            <a:avLst/>
          </a:prstGeom>
          <a:noFill/>
          <a:ln/>
        </p:spPr>
        <p:txBody>
          <a:bodyPr wrap="square" lIns="0" tIns="0" rIns="0" bIns="0" rtlCol="0" anchor="ctr"/>
          <a:lstStyle/>
          <a:p>
            <a:pPr marL="0" indent="0">
              <a:buNone/>
            </a:pPr>
            <a:r>
              <a:rPr lang="en-US" sz="1150" b="1" dirty="0">
                <a:solidFill>
                  <a:srgbClr val="0F1E30"/>
                </a:solidFill>
                <a:latin typeface="Calibri" pitchFamily="34" charset="0"/>
                <a:ea typeface="Calibri" pitchFamily="34" charset="-122"/>
                <a:cs typeface="Calibri" pitchFamily="34" charset="-120"/>
              </a:rPr>
              <a:t>From Facility Level to Chip Level</a:t>
            </a:r>
            <a:endParaRPr lang="en-US" sz="1150" dirty="0"/>
          </a:p>
        </p:txBody>
      </p:sp>
      <p:sp>
        <p:nvSpPr>
          <p:cNvPr id="30" name="Text 27"/>
          <p:cNvSpPr/>
          <p:nvPr/>
        </p:nvSpPr>
        <p:spPr>
          <a:xfrm>
            <a:off x="576072" y="3822192"/>
            <a:ext cx="7680960" cy="420624"/>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Traditional air cooling manages heat at the room and rack level. At 300kW per rack, heat must now be addressed at the chip package level. Corintis Series B at approximately $53M is validated by hyperscale partnerships. This represents the directional shift from CRAC units to direct liquid to chip paths.</a:t>
            </a:r>
            <a:endParaRPr lang="en-US" sz="950" dirty="0"/>
          </a:p>
        </p:txBody>
      </p:sp>
      <p:sp>
        <p:nvSpPr>
          <p:cNvPr id="31" name="Shape 28"/>
          <p:cNvSpPr/>
          <p:nvPr/>
        </p:nvSpPr>
        <p:spPr>
          <a:xfrm>
            <a:off x="411480" y="4279392"/>
            <a:ext cx="50292" cy="475488"/>
          </a:xfrm>
          <a:prstGeom prst="rect">
            <a:avLst/>
          </a:prstGeom>
          <a:solidFill>
            <a:srgbClr val="C8922A"/>
          </a:solidFill>
          <a:ln w="12700">
            <a:solidFill>
              <a:srgbClr val="C8922A"/>
            </a:solidFill>
            <a:prstDash val="solid"/>
          </a:ln>
        </p:spPr>
        <p:txBody>
          <a:bodyPr/>
          <a:lstStyle/>
          <a:p>
            <a:endParaRPr lang="en-US"/>
          </a:p>
        </p:txBody>
      </p:sp>
      <p:sp>
        <p:nvSpPr>
          <p:cNvPr id="32" name="Text 29"/>
          <p:cNvSpPr/>
          <p:nvPr/>
        </p:nvSpPr>
        <p:spPr>
          <a:xfrm>
            <a:off x="576072" y="4297680"/>
            <a:ext cx="7680960" cy="237744"/>
          </a:xfrm>
          <a:prstGeom prst="rect">
            <a:avLst/>
          </a:prstGeom>
          <a:noFill/>
          <a:ln/>
        </p:spPr>
        <p:txBody>
          <a:bodyPr wrap="square" lIns="0" tIns="0" rIns="0" bIns="0" rtlCol="0" anchor="ctr"/>
          <a:lstStyle/>
          <a:p>
            <a:pPr marL="0" indent="0">
              <a:buNone/>
            </a:pPr>
            <a:r>
              <a:rPr lang="en-US" sz="1150" b="1" dirty="0">
                <a:solidFill>
                  <a:srgbClr val="0F1E30"/>
                </a:solidFill>
                <a:latin typeface="Calibri" pitchFamily="34" charset="0"/>
                <a:ea typeface="Calibri" pitchFamily="34" charset="-122"/>
                <a:cs typeface="Calibri" pitchFamily="34" charset="-120"/>
              </a:rPr>
              <a:t>Regulation Is Creating Non Discretionary Demand</a:t>
            </a:r>
            <a:endParaRPr lang="en-US" sz="1150" dirty="0"/>
          </a:p>
        </p:txBody>
      </p:sp>
      <p:sp>
        <p:nvSpPr>
          <p:cNvPr id="33" name="Text 30"/>
          <p:cNvSpPr/>
          <p:nvPr/>
        </p:nvSpPr>
        <p:spPr>
          <a:xfrm>
            <a:off x="576072" y="4535424"/>
            <a:ext cx="7680960" cy="420624"/>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European Energy Efficiency Directive mandates are transforming waste heat from an unmanaged byproduct into a required output. This is not a voluntary sustainability initiative. It is a compliance requirement with enforcement timelines. Companies that build waste heat recovery into new facilities now avoid costly retrofits later.</a:t>
            </a:r>
            <a:endParaRPr lang="en-US" sz="950" dirty="0"/>
          </a:p>
        </p:txBody>
      </p:sp>
      <p:sp>
        <p:nvSpPr>
          <p:cNvPr id="34" name="Shape 31"/>
          <p:cNvSpPr/>
          <p:nvPr/>
        </p:nvSpPr>
        <p:spPr>
          <a:xfrm>
            <a:off x="411480" y="4992624"/>
            <a:ext cx="50292" cy="475488"/>
          </a:xfrm>
          <a:prstGeom prst="rect">
            <a:avLst/>
          </a:prstGeom>
          <a:solidFill>
            <a:srgbClr val="C8922A"/>
          </a:solidFill>
          <a:ln w="12700">
            <a:solidFill>
              <a:srgbClr val="C8922A"/>
            </a:solidFill>
            <a:prstDash val="solid"/>
          </a:ln>
        </p:spPr>
        <p:txBody>
          <a:bodyPr/>
          <a:lstStyle/>
          <a:p>
            <a:endParaRPr lang="en-US"/>
          </a:p>
        </p:txBody>
      </p:sp>
      <p:sp>
        <p:nvSpPr>
          <p:cNvPr id="35" name="Text 32"/>
          <p:cNvSpPr/>
          <p:nvPr/>
        </p:nvSpPr>
        <p:spPr>
          <a:xfrm>
            <a:off x="576072" y="5010912"/>
            <a:ext cx="7680960" cy="237744"/>
          </a:xfrm>
          <a:prstGeom prst="rect">
            <a:avLst/>
          </a:prstGeom>
          <a:noFill/>
          <a:ln/>
        </p:spPr>
        <p:txBody>
          <a:bodyPr wrap="square" lIns="0" tIns="0" rIns="0" bIns="0" rtlCol="0" anchor="ctr"/>
          <a:lstStyle/>
          <a:p>
            <a:pPr marL="0" indent="0">
              <a:buNone/>
            </a:pPr>
            <a:r>
              <a:rPr lang="en-US" sz="1150" b="1" dirty="0">
                <a:solidFill>
                  <a:srgbClr val="0F1E30"/>
                </a:solidFill>
                <a:latin typeface="Calibri" pitchFamily="34" charset="0"/>
                <a:ea typeface="Calibri" pitchFamily="34" charset="-122"/>
                <a:cs typeface="Calibri" pitchFamily="34" charset="-120"/>
              </a:rPr>
              <a:t>Thermal Architecture Determines Power Efficiency</a:t>
            </a:r>
            <a:endParaRPr lang="en-US" sz="1150" dirty="0"/>
          </a:p>
        </p:txBody>
      </p:sp>
      <p:sp>
        <p:nvSpPr>
          <p:cNvPr id="36" name="Text 33"/>
          <p:cNvSpPr/>
          <p:nvPr/>
        </p:nvSpPr>
        <p:spPr>
          <a:xfrm>
            <a:off x="576072" y="5248656"/>
            <a:ext cx="7680960" cy="420624"/>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A data center’s PUE is largely determined by its thermal architecture. Google’s best in class PUE of 1.09 versus an industry average of 1.58 represents roughly 45% more usable compute per watt. At 945 TWh of projected global data center electricity by 2030, that gap is worth tens of billions annually.</a:t>
            </a:r>
            <a:endParaRPr lang="en-US" sz="950" dirty="0"/>
          </a:p>
        </p:txBody>
      </p:sp>
      <p:sp>
        <p:nvSpPr>
          <p:cNvPr id="37" name="Shape 34"/>
          <p:cNvSpPr/>
          <p:nvPr/>
        </p:nvSpPr>
        <p:spPr>
          <a:xfrm>
            <a:off x="411480" y="5705856"/>
            <a:ext cx="50292" cy="475488"/>
          </a:xfrm>
          <a:prstGeom prst="rect">
            <a:avLst/>
          </a:prstGeom>
          <a:solidFill>
            <a:srgbClr val="C8922A"/>
          </a:solidFill>
          <a:ln w="12700">
            <a:solidFill>
              <a:srgbClr val="C8922A"/>
            </a:solidFill>
            <a:prstDash val="solid"/>
          </a:ln>
        </p:spPr>
        <p:txBody>
          <a:bodyPr/>
          <a:lstStyle/>
          <a:p>
            <a:endParaRPr lang="en-US"/>
          </a:p>
        </p:txBody>
      </p:sp>
      <p:sp>
        <p:nvSpPr>
          <p:cNvPr id="38" name="Text 35"/>
          <p:cNvSpPr/>
          <p:nvPr/>
        </p:nvSpPr>
        <p:spPr>
          <a:xfrm>
            <a:off x="576072" y="5724144"/>
            <a:ext cx="7680960" cy="237744"/>
          </a:xfrm>
          <a:prstGeom prst="rect">
            <a:avLst/>
          </a:prstGeom>
          <a:noFill/>
          <a:ln/>
        </p:spPr>
        <p:txBody>
          <a:bodyPr wrap="square" lIns="0" tIns="0" rIns="0" bIns="0" rtlCol="0" anchor="ctr"/>
          <a:lstStyle/>
          <a:p>
            <a:pPr marL="0" indent="0">
              <a:buNone/>
            </a:pPr>
            <a:r>
              <a:rPr lang="en-US" sz="1150" b="1" dirty="0">
                <a:solidFill>
                  <a:srgbClr val="0F1E30"/>
                </a:solidFill>
                <a:latin typeface="Calibri" pitchFamily="34" charset="0"/>
                <a:ea typeface="Calibri" pitchFamily="34" charset="-122"/>
                <a:cs typeface="Calibri" pitchFamily="34" charset="-120"/>
              </a:rPr>
              <a:t>Modular Infrastructure Removes Deployment Bottlenecks</a:t>
            </a:r>
            <a:endParaRPr lang="en-US" sz="1150" dirty="0"/>
          </a:p>
        </p:txBody>
      </p:sp>
      <p:sp>
        <p:nvSpPr>
          <p:cNvPr id="39" name="Text 36"/>
          <p:cNvSpPr/>
          <p:nvPr/>
        </p:nvSpPr>
        <p:spPr>
          <a:xfrm>
            <a:off x="576072" y="5961888"/>
            <a:ext cx="7680960" cy="420624"/>
          </a:xfrm>
          <a:prstGeom prst="rect">
            <a:avLst/>
          </a:prstGeom>
          <a:noFill/>
          <a:ln/>
        </p:spPr>
        <p:txBody>
          <a:bodyPr wrap="square" lIns="0" tIns="0" rIns="0" bIns="0" rtlCol="0" anchor="ctr"/>
          <a:lstStyle/>
          <a:p>
            <a:pPr marL="0" indent="0">
              <a:buNone/>
            </a:pPr>
            <a:r>
              <a:rPr lang="en-US" sz="950" dirty="0">
                <a:solidFill>
                  <a:srgbClr val="2C3E50"/>
                </a:solidFill>
                <a:latin typeface="Calibri" pitchFamily="34" charset="0"/>
                <a:ea typeface="Calibri" pitchFamily="34" charset="-122"/>
                <a:cs typeface="Calibri" pitchFamily="34" charset="-120"/>
              </a:rPr>
              <a:t>Prefabricated power and cooling systems allow for faster capacity scaling and reduced construction complexity. Flexnode Series A in 2026 exemplifies this approach, offering integrated modular data halls with significant reductions in deployment lead time versus traditional construction.</a:t>
            </a:r>
            <a:endParaRPr lang="en-US" sz="950" dirty="0"/>
          </a:p>
        </p:txBody>
      </p:sp>
      <p:sp>
        <p:nvSpPr>
          <p:cNvPr id="40" name="Shape 37"/>
          <p:cNvSpPr/>
          <p:nvPr/>
        </p:nvSpPr>
        <p:spPr>
          <a:xfrm>
            <a:off x="8705088" y="1627632"/>
            <a:ext cx="3072384" cy="4681728"/>
          </a:xfrm>
          <a:prstGeom prst="rect">
            <a:avLst/>
          </a:prstGeom>
          <a:solidFill>
            <a:srgbClr val="1B3A5C"/>
          </a:solidFill>
          <a:ln w="12700">
            <a:solidFill>
              <a:srgbClr val="1B3A5C"/>
            </a:solidFill>
            <a:prstDash val="solid"/>
          </a:ln>
          <a:effectLst>
            <a:outerShdw blurRad="88900" dist="25400" dir="8100000" algn="bl" rotWithShape="0">
              <a:srgbClr val="000000">
                <a:alpha val="11000"/>
              </a:srgbClr>
            </a:outerShdw>
          </a:effectLst>
        </p:spPr>
        <p:txBody>
          <a:bodyPr/>
          <a:lstStyle/>
          <a:p>
            <a:endParaRPr lang="en-US"/>
          </a:p>
        </p:txBody>
      </p:sp>
      <p:sp>
        <p:nvSpPr>
          <p:cNvPr id="41" name="Text 38"/>
          <p:cNvSpPr/>
          <p:nvPr/>
        </p:nvSpPr>
        <p:spPr>
          <a:xfrm>
            <a:off x="8887968" y="1755648"/>
            <a:ext cx="2706624" cy="292608"/>
          </a:xfrm>
          <a:prstGeom prst="rect">
            <a:avLst/>
          </a:prstGeom>
          <a:noFill/>
          <a:ln/>
        </p:spPr>
        <p:txBody>
          <a:bodyPr wrap="square" lIns="0" tIns="0" rIns="0" bIns="0" rtlCol="0" anchor="ctr"/>
          <a:lstStyle/>
          <a:p>
            <a:pPr marL="0" indent="0" algn="ctr">
              <a:buNone/>
            </a:pPr>
            <a:r>
              <a:rPr lang="en-US" sz="1000" b="1" dirty="0">
                <a:solidFill>
                  <a:srgbClr val="C8922A"/>
                </a:solidFill>
                <a:latin typeface="Calibri" pitchFamily="34" charset="0"/>
                <a:ea typeface="Calibri" pitchFamily="34" charset="-122"/>
                <a:cs typeface="Calibri" pitchFamily="34" charset="-120"/>
              </a:rPr>
              <a:t>Why It Matters Now</a:t>
            </a:r>
            <a:endParaRPr lang="en-US" sz="1000" dirty="0"/>
          </a:p>
        </p:txBody>
      </p:sp>
      <p:sp>
        <p:nvSpPr>
          <p:cNvPr id="42" name="Shape 39"/>
          <p:cNvSpPr/>
          <p:nvPr/>
        </p:nvSpPr>
        <p:spPr>
          <a:xfrm>
            <a:off x="8915400" y="2267712"/>
            <a:ext cx="41148" cy="41148"/>
          </a:xfrm>
          <a:prstGeom prst="rect">
            <a:avLst/>
          </a:prstGeom>
          <a:solidFill>
            <a:srgbClr val="C8922A"/>
          </a:solidFill>
          <a:ln w="12700">
            <a:solidFill>
              <a:srgbClr val="C8922A"/>
            </a:solidFill>
            <a:prstDash val="solid"/>
          </a:ln>
        </p:spPr>
        <p:txBody>
          <a:bodyPr/>
          <a:lstStyle/>
          <a:p>
            <a:endParaRPr lang="en-US"/>
          </a:p>
        </p:txBody>
      </p:sp>
      <p:sp>
        <p:nvSpPr>
          <p:cNvPr id="43" name="Text 40"/>
          <p:cNvSpPr/>
          <p:nvPr/>
        </p:nvSpPr>
        <p:spPr>
          <a:xfrm>
            <a:off x="9034272" y="2212848"/>
            <a:ext cx="2523744" cy="566928"/>
          </a:xfrm>
          <a:prstGeom prst="rect">
            <a:avLst/>
          </a:prstGeom>
          <a:noFill/>
          <a:ln/>
        </p:spPr>
        <p:txBody>
          <a:bodyPr wrap="square" lIns="0" tIns="0" rIns="0" bIns="0" rtlCol="0" anchor="ctr"/>
          <a:lstStyle/>
          <a:p>
            <a:pPr marL="0" indent="0">
              <a:buNone/>
            </a:pPr>
            <a:r>
              <a:rPr lang="en-US" sz="950" dirty="0">
                <a:solidFill>
                  <a:srgbClr val="F2F6FA"/>
                </a:solidFill>
                <a:latin typeface="Calibri" pitchFamily="34" charset="0"/>
                <a:ea typeface="Calibri" pitchFamily="34" charset="-122"/>
                <a:cs typeface="Calibri" pitchFamily="34" charset="-120"/>
              </a:rPr>
              <a:t>AI racks exceeding 100kW make traditional air cooling physically incompatible, not just inefficient.</a:t>
            </a:r>
            <a:endParaRPr lang="en-US" sz="950" dirty="0"/>
          </a:p>
        </p:txBody>
      </p:sp>
      <p:sp>
        <p:nvSpPr>
          <p:cNvPr id="44" name="Shape 41"/>
          <p:cNvSpPr/>
          <p:nvPr/>
        </p:nvSpPr>
        <p:spPr>
          <a:xfrm>
            <a:off x="8915400" y="2889504"/>
            <a:ext cx="41148" cy="41148"/>
          </a:xfrm>
          <a:prstGeom prst="rect">
            <a:avLst/>
          </a:prstGeom>
          <a:solidFill>
            <a:srgbClr val="C8922A"/>
          </a:solidFill>
          <a:ln w="12700">
            <a:solidFill>
              <a:srgbClr val="C8922A"/>
            </a:solidFill>
            <a:prstDash val="solid"/>
          </a:ln>
        </p:spPr>
        <p:txBody>
          <a:bodyPr/>
          <a:lstStyle/>
          <a:p>
            <a:endParaRPr lang="en-US"/>
          </a:p>
        </p:txBody>
      </p:sp>
      <p:sp>
        <p:nvSpPr>
          <p:cNvPr id="45" name="Text 42"/>
          <p:cNvSpPr/>
          <p:nvPr/>
        </p:nvSpPr>
        <p:spPr>
          <a:xfrm>
            <a:off x="9034272" y="2834640"/>
            <a:ext cx="2523744" cy="566928"/>
          </a:xfrm>
          <a:prstGeom prst="rect">
            <a:avLst/>
          </a:prstGeom>
          <a:noFill/>
          <a:ln/>
        </p:spPr>
        <p:txBody>
          <a:bodyPr wrap="square" lIns="0" tIns="0" rIns="0" bIns="0" rtlCol="0" anchor="ctr"/>
          <a:lstStyle/>
          <a:p>
            <a:pPr marL="0" indent="0">
              <a:buNone/>
            </a:pPr>
            <a:r>
              <a:rPr lang="en-US" sz="950" dirty="0">
                <a:solidFill>
                  <a:srgbClr val="F2F6FA"/>
                </a:solidFill>
                <a:latin typeface="Calibri" pitchFamily="34" charset="0"/>
                <a:ea typeface="Calibri" pitchFamily="34" charset="-122"/>
                <a:cs typeface="Calibri" pitchFamily="34" charset="-120"/>
              </a:rPr>
              <a:t>EU EED mandates on waste heat recovery are enforcement stage. Not optional.</a:t>
            </a:r>
            <a:endParaRPr lang="en-US" sz="950" dirty="0"/>
          </a:p>
        </p:txBody>
      </p:sp>
      <p:sp>
        <p:nvSpPr>
          <p:cNvPr id="46" name="Shape 43"/>
          <p:cNvSpPr/>
          <p:nvPr/>
        </p:nvSpPr>
        <p:spPr>
          <a:xfrm>
            <a:off x="8915400" y="3511296"/>
            <a:ext cx="41148" cy="41148"/>
          </a:xfrm>
          <a:prstGeom prst="rect">
            <a:avLst/>
          </a:prstGeom>
          <a:solidFill>
            <a:srgbClr val="C8922A"/>
          </a:solidFill>
          <a:ln w="12700">
            <a:solidFill>
              <a:srgbClr val="C8922A"/>
            </a:solidFill>
            <a:prstDash val="solid"/>
          </a:ln>
        </p:spPr>
        <p:txBody>
          <a:bodyPr/>
          <a:lstStyle/>
          <a:p>
            <a:endParaRPr lang="en-US"/>
          </a:p>
        </p:txBody>
      </p:sp>
      <p:sp>
        <p:nvSpPr>
          <p:cNvPr id="47" name="Text 44"/>
          <p:cNvSpPr/>
          <p:nvPr/>
        </p:nvSpPr>
        <p:spPr>
          <a:xfrm>
            <a:off x="9034272" y="3456432"/>
            <a:ext cx="2523744" cy="566928"/>
          </a:xfrm>
          <a:prstGeom prst="rect">
            <a:avLst/>
          </a:prstGeom>
          <a:noFill/>
          <a:ln/>
        </p:spPr>
        <p:txBody>
          <a:bodyPr wrap="square" lIns="0" tIns="0" rIns="0" bIns="0" rtlCol="0" anchor="ctr"/>
          <a:lstStyle/>
          <a:p>
            <a:pPr marL="0" indent="0">
              <a:buNone/>
            </a:pPr>
            <a:r>
              <a:rPr lang="en-US" sz="950" dirty="0">
                <a:solidFill>
                  <a:srgbClr val="F2F6FA"/>
                </a:solidFill>
                <a:latin typeface="Calibri" pitchFamily="34" charset="0"/>
                <a:ea typeface="Calibri" pitchFamily="34" charset="-122"/>
                <a:cs typeface="Calibri" pitchFamily="34" charset="-120"/>
              </a:rPr>
              <a:t>Thermal management solutions compound with power and silicon efficiency gains across the full stack.</a:t>
            </a:r>
            <a:endParaRPr lang="en-US" sz="950" dirty="0"/>
          </a:p>
        </p:txBody>
      </p:sp>
      <p:sp>
        <p:nvSpPr>
          <p:cNvPr id="48" name="Shape 45"/>
          <p:cNvSpPr/>
          <p:nvPr/>
        </p:nvSpPr>
        <p:spPr>
          <a:xfrm>
            <a:off x="8915400" y="4133088"/>
            <a:ext cx="41148" cy="41148"/>
          </a:xfrm>
          <a:prstGeom prst="rect">
            <a:avLst/>
          </a:prstGeom>
          <a:solidFill>
            <a:srgbClr val="C8922A"/>
          </a:solidFill>
          <a:ln w="12700">
            <a:solidFill>
              <a:srgbClr val="C8922A"/>
            </a:solidFill>
            <a:prstDash val="solid"/>
          </a:ln>
        </p:spPr>
        <p:txBody>
          <a:bodyPr/>
          <a:lstStyle/>
          <a:p>
            <a:endParaRPr lang="en-US"/>
          </a:p>
        </p:txBody>
      </p:sp>
      <p:sp>
        <p:nvSpPr>
          <p:cNvPr id="49" name="Text 46"/>
          <p:cNvSpPr/>
          <p:nvPr/>
        </p:nvSpPr>
        <p:spPr>
          <a:xfrm>
            <a:off x="9034272" y="4078224"/>
            <a:ext cx="2523744" cy="566928"/>
          </a:xfrm>
          <a:prstGeom prst="rect">
            <a:avLst/>
          </a:prstGeom>
          <a:noFill/>
          <a:ln/>
        </p:spPr>
        <p:txBody>
          <a:bodyPr wrap="square" lIns="0" tIns="0" rIns="0" bIns="0" rtlCol="0" anchor="ctr"/>
          <a:lstStyle/>
          <a:p>
            <a:pPr marL="0" indent="0">
              <a:buNone/>
            </a:pPr>
            <a:r>
              <a:rPr lang="en-US" sz="950" dirty="0">
                <a:solidFill>
                  <a:srgbClr val="F2F6FA"/>
                </a:solidFill>
                <a:latin typeface="Calibri" pitchFamily="34" charset="0"/>
                <a:ea typeface="Calibri" pitchFamily="34" charset="-122"/>
                <a:cs typeface="Calibri" pitchFamily="34" charset="-120"/>
              </a:rPr>
              <a:t>PUE of 1.09 versus 1.58 industry average equals 45% more compute per watt. That is a structural cost advantage.</a:t>
            </a:r>
            <a:endParaRPr lang="en-US" sz="950" dirty="0"/>
          </a:p>
        </p:txBody>
      </p:sp>
      <p:sp>
        <p:nvSpPr>
          <p:cNvPr id="50" name="Shape 47"/>
          <p:cNvSpPr/>
          <p:nvPr/>
        </p:nvSpPr>
        <p:spPr>
          <a:xfrm>
            <a:off x="8915400" y="4754880"/>
            <a:ext cx="41148" cy="41148"/>
          </a:xfrm>
          <a:prstGeom prst="rect">
            <a:avLst/>
          </a:prstGeom>
          <a:solidFill>
            <a:srgbClr val="C8922A"/>
          </a:solidFill>
          <a:ln w="12700">
            <a:solidFill>
              <a:srgbClr val="C8922A"/>
            </a:solidFill>
            <a:prstDash val="solid"/>
          </a:ln>
        </p:spPr>
        <p:txBody>
          <a:bodyPr/>
          <a:lstStyle/>
          <a:p>
            <a:endParaRPr lang="en-US"/>
          </a:p>
        </p:txBody>
      </p:sp>
      <p:sp>
        <p:nvSpPr>
          <p:cNvPr id="51" name="Text 48"/>
          <p:cNvSpPr/>
          <p:nvPr/>
        </p:nvSpPr>
        <p:spPr>
          <a:xfrm>
            <a:off x="9034272" y="4700016"/>
            <a:ext cx="2523744" cy="566928"/>
          </a:xfrm>
          <a:prstGeom prst="rect">
            <a:avLst/>
          </a:prstGeom>
          <a:noFill/>
          <a:ln/>
        </p:spPr>
        <p:txBody>
          <a:bodyPr wrap="square" lIns="0" tIns="0" rIns="0" bIns="0" rtlCol="0" anchor="ctr"/>
          <a:lstStyle/>
          <a:p>
            <a:pPr marL="0" indent="0">
              <a:buNone/>
            </a:pPr>
            <a:r>
              <a:rPr lang="en-US" sz="950" dirty="0">
                <a:solidFill>
                  <a:srgbClr val="F2F6FA"/>
                </a:solidFill>
                <a:latin typeface="Calibri" pitchFamily="34" charset="0"/>
                <a:ea typeface="Calibri" pitchFamily="34" charset="-122"/>
                <a:cs typeface="Calibri" pitchFamily="34" charset="-120"/>
              </a:rPr>
              <a:t>Companies solving thermal at chip level will capture operating cost savings across every generation of future hardware.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75488"/>
          </a:xfrm>
          <a:prstGeom prst="rect">
            <a:avLst/>
          </a:prstGeom>
          <a:solidFill>
            <a:srgbClr val="1B3A5C"/>
          </a:solidFill>
          <a:ln w="12700">
            <a:solidFill>
              <a:srgbClr val="1B3A5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28600" y="45720"/>
            <a:ext cx="1600200" cy="384048"/>
          </a:xfrm>
          <a:prstGeom prst="rect">
            <a:avLst/>
          </a:prstGeom>
        </p:spPr>
      </p:pic>
      <p:sp>
        <p:nvSpPr>
          <p:cNvPr id="4" name="Text 1"/>
          <p:cNvSpPr/>
          <p:nvPr/>
        </p:nvSpPr>
        <p:spPr>
          <a:xfrm>
            <a:off x="2103120" y="91440"/>
            <a:ext cx="8686800" cy="292608"/>
          </a:xfrm>
          <a:prstGeom prst="rect">
            <a:avLst/>
          </a:prstGeom>
          <a:noFill/>
          <a:ln/>
        </p:spPr>
        <p:txBody>
          <a:bodyPr wrap="square" lIns="0" tIns="0" rIns="0" bIns="0" rtlCol="0" anchor="ctr"/>
          <a:lstStyle/>
          <a:p>
            <a:pPr marL="0" indent="0">
              <a:buNone/>
            </a:pPr>
            <a:r>
              <a:rPr lang="en-US" sz="850" kern="0" spc="250" dirty="0">
                <a:solidFill>
                  <a:srgbClr val="D0DAE4"/>
                </a:solidFill>
                <a:latin typeface="Calibri" pitchFamily="34" charset="0"/>
                <a:ea typeface="Calibri" pitchFamily="34" charset="-122"/>
                <a:cs typeface="Calibri" pitchFamily="34" charset="-120"/>
              </a:rPr>
              <a:t>COOLING AND THERMAL SYSTEMS  ·  IREEN</a:t>
            </a:r>
            <a:endParaRPr lang="en-US" sz="850" dirty="0"/>
          </a:p>
        </p:txBody>
      </p:sp>
      <p:sp>
        <p:nvSpPr>
          <p:cNvPr id="5" name="Text 2"/>
          <p:cNvSpPr/>
          <p:nvPr/>
        </p:nvSpPr>
        <p:spPr>
          <a:xfrm>
            <a:off x="11064240" y="91440"/>
            <a:ext cx="914400" cy="292608"/>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12 / 17</a:t>
            </a:r>
            <a:endParaRPr lang="en-US" sz="850" dirty="0"/>
          </a:p>
        </p:txBody>
      </p:sp>
      <p:sp>
        <p:nvSpPr>
          <p:cNvPr id="6" name="Shape 3"/>
          <p:cNvSpPr/>
          <p:nvPr/>
        </p:nvSpPr>
        <p:spPr>
          <a:xfrm>
            <a:off x="0" y="6537960"/>
            <a:ext cx="12188952" cy="320040"/>
          </a:xfrm>
          <a:prstGeom prst="rect">
            <a:avLst/>
          </a:prstGeom>
          <a:solidFill>
            <a:srgbClr val="F2F6FA"/>
          </a:solidFill>
          <a:ln w="12700">
            <a:solidFill>
              <a:srgbClr val="D0DAE4"/>
            </a:solidFill>
            <a:prstDash val="solid"/>
          </a:ln>
        </p:spPr>
        <p:txBody>
          <a:bodyPr/>
          <a:lstStyle/>
          <a:p>
            <a:endParaRPr lang="en-US"/>
          </a:p>
        </p:txBody>
      </p:sp>
      <p:sp>
        <p:nvSpPr>
          <p:cNvPr id="7" name="Text 4"/>
          <p:cNvSpPr/>
          <p:nvPr/>
        </p:nvSpPr>
        <p:spPr>
          <a:xfrm>
            <a:off x="274320" y="6565392"/>
            <a:ext cx="6400800" cy="256032"/>
          </a:xfrm>
          <a:prstGeom prst="rect">
            <a:avLst/>
          </a:prstGeom>
          <a:noFill/>
          <a:ln/>
        </p:spPr>
        <p:txBody>
          <a:bodyPr wrap="square" lIns="0" tIns="0" rIns="0" bIns="0" rtlCol="0" anchor="ctr"/>
          <a:lstStyle/>
          <a:p>
            <a:pPr marL="0" indent="0">
              <a:buNone/>
            </a:pPr>
            <a:r>
              <a:rPr lang="en-US" sz="750" dirty="0">
                <a:solidFill>
                  <a:srgbClr val="7B90A6"/>
                </a:solidFill>
                <a:latin typeface="Calibri" pitchFamily="34" charset="0"/>
                <a:ea typeface="Calibri" pitchFamily="34" charset="-122"/>
                <a:cs typeface="Calibri" pitchFamily="34" charset="-120"/>
              </a:rPr>
              <a:t>ClearVision Ventures  ·  Confidential  ·  April 2026</a:t>
            </a:r>
            <a:endParaRPr lang="en-US" sz="750" dirty="0"/>
          </a:p>
        </p:txBody>
      </p:sp>
      <p:sp>
        <p:nvSpPr>
          <p:cNvPr id="8" name="Text 5"/>
          <p:cNvSpPr/>
          <p:nvPr/>
        </p:nvSpPr>
        <p:spPr>
          <a:xfrm>
            <a:off x="411480" y="594360"/>
            <a:ext cx="10972800" cy="228600"/>
          </a:xfrm>
          <a:prstGeom prst="rect">
            <a:avLst/>
          </a:prstGeom>
          <a:noFill/>
          <a:ln/>
        </p:spPr>
        <p:txBody>
          <a:bodyPr wrap="square" lIns="0" tIns="0" rIns="0" bIns="0" rtlCol="0" anchor="ctr"/>
          <a:lstStyle/>
          <a:p>
            <a:pPr marL="0" indent="0">
              <a:buNone/>
            </a:pPr>
            <a:r>
              <a:rPr lang="en-US" sz="850" b="1" kern="0" spc="300" dirty="0">
                <a:solidFill>
                  <a:srgbClr val="2E6DA4"/>
                </a:solidFill>
                <a:latin typeface="Calibri" pitchFamily="34" charset="0"/>
                <a:ea typeface="Calibri" pitchFamily="34" charset="-122"/>
                <a:cs typeface="Calibri" pitchFamily="34" charset="-120"/>
              </a:rPr>
              <a:t>INVESTMENT CONVICTION</a:t>
            </a:r>
            <a:endParaRPr lang="en-US" sz="850" dirty="0"/>
          </a:p>
        </p:txBody>
      </p:sp>
      <p:sp>
        <p:nvSpPr>
          <p:cNvPr id="9" name="Text 6"/>
          <p:cNvSpPr/>
          <p:nvPr/>
        </p:nvSpPr>
        <p:spPr>
          <a:xfrm>
            <a:off x="411480" y="822960"/>
            <a:ext cx="11338560" cy="713232"/>
          </a:xfrm>
          <a:prstGeom prst="rect">
            <a:avLst/>
          </a:prstGeom>
          <a:noFill/>
          <a:ln/>
        </p:spPr>
        <p:txBody>
          <a:bodyPr wrap="square" lIns="0" tIns="0" rIns="0" bIns="0" rtlCol="0" anchor="ctr"/>
          <a:lstStyle/>
          <a:p>
            <a:pPr marL="0" indent="0">
              <a:buNone/>
            </a:pPr>
            <a:r>
              <a:rPr lang="en-US" sz="2800" b="1" dirty="0">
                <a:solidFill>
                  <a:srgbClr val="0F1E30"/>
                </a:solidFill>
                <a:latin typeface="Calibri" pitchFamily="34" charset="0"/>
                <a:ea typeface="Calibri" pitchFamily="34" charset="-122"/>
                <a:cs typeface="Calibri" pitchFamily="34" charset="-120"/>
              </a:rPr>
              <a:t>Four Thermal Investment Lanes Ranked by Urgency</a:t>
            </a:r>
            <a:endParaRPr lang="en-US" sz="2800" dirty="0"/>
          </a:p>
        </p:txBody>
      </p:sp>
      <p:sp>
        <p:nvSpPr>
          <p:cNvPr id="10" name="Shape 7"/>
          <p:cNvSpPr/>
          <p:nvPr/>
        </p:nvSpPr>
        <p:spPr>
          <a:xfrm>
            <a:off x="411480" y="1536192"/>
            <a:ext cx="1005840" cy="41148"/>
          </a:xfrm>
          <a:prstGeom prst="rect">
            <a:avLst/>
          </a:prstGeom>
          <a:solidFill>
            <a:srgbClr val="2E6DA4"/>
          </a:solidFill>
          <a:ln w="12700">
            <a:solidFill>
              <a:srgbClr val="2E6DA4"/>
            </a:solidFill>
            <a:prstDash val="solid"/>
          </a:ln>
        </p:spPr>
        <p:txBody>
          <a:bodyPr/>
          <a:lstStyle/>
          <a:p>
            <a:endParaRPr lang="en-US"/>
          </a:p>
        </p:txBody>
      </p:sp>
      <p:sp>
        <p:nvSpPr>
          <p:cNvPr id="11" name="Text 8"/>
          <p:cNvSpPr/>
          <p:nvPr/>
        </p:nvSpPr>
        <p:spPr>
          <a:xfrm>
            <a:off x="411480" y="1627632"/>
            <a:ext cx="11338560" cy="402336"/>
          </a:xfrm>
          <a:prstGeom prst="rect">
            <a:avLst/>
          </a:prstGeom>
          <a:noFill/>
          <a:ln/>
        </p:spPr>
        <p:txBody>
          <a:bodyPr wrap="square" lIns="0" tIns="0" rIns="0" bIns="0" rtlCol="0" anchor="ctr"/>
          <a:lstStyle/>
          <a:p>
            <a:pPr marL="0" indent="0">
              <a:buNone/>
            </a:pPr>
            <a:r>
              <a:rPr lang="en-US" sz="1150" i="1" dirty="0">
                <a:solidFill>
                  <a:srgbClr val="2C3E50"/>
                </a:solidFill>
                <a:latin typeface="Calibri" pitchFamily="34" charset="0"/>
                <a:ea typeface="Calibri" pitchFamily="34" charset="-122"/>
                <a:cs typeface="Calibri" pitchFamily="34" charset="-120"/>
              </a:rPr>
              <a:t>Thermal is the category where regulatory enforcement, technical necessity, and economic value creation converge at the same time. The lanes below are ordered by how soon capital should move.</a:t>
            </a:r>
            <a:endParaRPr lang="en-US" sz="1150" dirty="0"/>
          </a:p>
        </p:txBody>
      </p:sp>
      <p:sp>
        <p:nvSpPr>
          <p:cNvPr id="12" name="Shape 9"/>
          <p:cNvSpPr/>
          <p:nvPr/>
        </p:nvSpPr>
        <p:spPr>
          <a:xfrm>
            <a:off x="411480" y="2148840"/>
            <a:ext cx="2724912" cy="406908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3" name="Shape 10"/>
          <p:cNvSpPr/>
          <p:nvPr/>
        </p:nvSpPr>
        <p:spPr>
          <a:xfrm>
            <a:off x="411480" y="2148840"/>
            <a:ext cx="2724912" cy="54864"/>
          </a:xfrm>
          <a:prstGeom prst="rect">
            <a:avLst/>
          </a:prstGeom>
          <a:solidFill>
            <a:srgbClr val="1B3A5C"/>
          </a:solidFill>
          <a:ln w="12700">
            <a:solidFill>
              <a:srgbClr val="1B3A5C"/>
            </a:solidFill>
            <a:prstDash val="solid"/>
          </a:ln>
        </p:spPr>
        <p:txBody>
          <a:bodyPr/>
          <a:lstStyle/>
          <a:p>
            <a:endParaRPr lang="en-US"/>
          </a:p>
        </p:txBody>
      </p:sp>
      <p:sp>
        <p:nvSpPr>
          <p:cNvPr id="14" name="Text 11"/>
          <p:cNvSpPr/>
          <p:nvPr/>
        </p:nvSpPr>
        <p:spPr>
          <a:xfrm>
            <a:off x="557784" y="2240280"/>
            <a:ext cx="502920" cy="384048"/>
          </a:xfrm>
          <a:prstGeom prst="rect">
            <a:avLst/>
          </a:prstGeom>
          <a:noFill/>
          <a:ln/>
        </p:spPr>
        <p:txBody>
          <a:bodyPr wrap="square" lIns="0" tIns="0" rIns="0" bIns="0" rtlCol="0" anchor="ctr"/>
          <a:lstStyle/>
          <a:p>
            <a:pPr marL="0" indent="0">
              <a:buNone/>
            </a:pPr>
            <a:r>
              <a:rPr lang="en-US" sz="2600" b="1" dirty="0">
                <a:solidFill>
                  <a:srgbClr val="1B3A5C"/>
                </a:solidFill>
                <a:latin typeface="Calibri" pitchFamily="34" charset="0"/>
                <a:ea typeface="Calibri" pitchFamily="34" charset="-122"/>
                <a:cs typeface="Calibri" pitchFamily="34" charset="-120"/>
              </a:rPr>
              <a:t>01</a:t>
            </a:r>
            <a:endParaRPr lang="en-US" sz="2600" dirty="0"/>
          </a:p>
        </p:txBody>
      </p:sp>
      <p:sp>
        <p:nvSpPr>
          <p:cNvPr id="15" name="Text 12"/>
          <p:cNvSpPr/>
          <p:nvPr/>
        </p:nvSpPr>
        <p:spPr>
          <a:xfrm>
            <a:off x="557784" y="2633472"/>
            <a:ext cx="2432304" cy="566928"/>
          </a:xfrm>
          <a:prstGeom prst="rect">
            <a:avLst/>
          </a:prstGeom>
          <a:noFill/>
          <a:ln/>
        </p:spPr>
        <p:txBody>
          <a:bodyPr wrap="square" lIns="0" tIns="0" rIns="0" bIns="0" rtlCol="0" anchor="ctr"/>
          <a:lstStyle/>
          <a:p>
            <a:pPr marL="0" indent="0">
              <a:buNone/>
            </a:pPr>
            <a:r>
              <a:rPr lang="en-US" sz="1150" b="1" dirty="0">
                <a:solidFill>
                  <a:srgbClr val="0F1E30"/>
                </a:solidFill>
                <a:latin typeface="Calibri" pitchFamily="34" charset="0"/>
                <a:ea typeface="Calibri" pitchFamily="34" charset="-122"/>
                <a:cs typeface="Calibri" pitchFamily="34" charset="-120"/>
              </a:rPr>
              <a:t>Waste Heat Recovery and Thermal Reuse</a:t>
            </a:r>
            <a:endParaRPr lang="en-US" sz="1150" dirty="0"/>
          </a:p>
        </p:txBody>
      </p:sp>
      <p:sp>
        <p:nvSpPr>
          <p:cNvPr id="16" name="Shape 13"/>
          <p:cNvSpPr/>
          <p:nvPr/>
        </p:nvSpPr>
        <p:spPr>
          <a:xfrm>
            <a:off x="557784" y="3246120"/>
            <a:ext cx="1188720" cy="237744"/>
          </a:xfrm>
          <a:prstGeom prst="rect">
            <a:avLst/>
          </a:prstGeom>
          <a:solidFill>
            <a:srgbClr val="1B3A5C"/>
          </a:solidFill>
          <a:ln w="12700">
            <a:solidFill>
              <a:srgbClr val="1B3A5C"/>
            </a:solidFill>
            <a:prstDash val="solid"/>
          </a:ln>
        </p:spPr>
        <p:txBody>
          <a:bodyPr/>
          <a:lstStyle/>
          <a:p>
            <a:endParaRPr lang="en-US"/>
          </a:p>
        </p:txBody>
      </p:sp>
      <p:sp>
        <p:nvSpPr>
          <p:cNvPr id="17" name="Text 14"/>
          <p:cNvSpPr/>
          <p:nvPr/>
        </p:nvSpPr>
        <p:spPr>
          <a:xfrm>
            <a:off x="557784" y="3255264"/>
            <a:ext cx="118872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Act Now</a:t>
            </a:r>
            <a:endParaRPr lang="en-US" sz="850" dirty="0"/>
          </a:p>
        </p:txBody>
      </p:sp>
      <p:sp>
        <p:nvSpPr>
          <p:cNvPr id="18" name="Text 15"/>
          <p:cNvSpPr/>
          <p:nvPr/>
        </p:nvSpPr>
        <p:spPr>
          <a:xfrm>
            <a:off x="1856232" y="3255264"/>
            <a:ext cx="1133856" cy="237744"/>
          </a:xfrm>
          <a:prstGeom prst="rect">
            <a:avLst/>
          </a:prstGeom>
          <a:noFill/>
          <a:ln/>
        </p:spPr>
        <p:txBody>
          <a:bodyPr wrap="square" lIns="0" tIns="0" rIns="0" bIns="0" rtlCol="0" anchor="ctr"/>
          <a:lstStyle/>
          <a:p>
            <a:pPr marL="0" indent="0">
              <a:buNone/>
            </a:pPr>
            <a:r>
              <a:rPr lang="en-US" sz="850" i="1" dirty="0">
                <a:solidFill>
                  <a:srgbClr val="7B90A6"/>
                </a:solidFill>
                <a:latin typeface="Calibri" pitchFamily="34" charset="0"/>
                <a:ea typeface="Calibri" pitchFamily="34" charset="-122"/>
                <a:cs typeface="Calibri" pitchFamily="34" charset="-120"/>
              </a:rPr>
              <a:t>2026 to 2028</a:t>
            </a:r>
            <a:endParaRPr lang="en-US" sz="850" dirty="0"/>
          </a:p>
        </p:txBody>
      </p:sp>
      <p:sp>
        <p:nvSpPr>
          <p:cNvPr id="19" name="Shape 16"/>
          <p:cNvSpPr/>
          <p:nvPr/>
        </p:nvSpPr>
        <p:spPr>
          <a:xfrm>
            <a:off x="557784" y="3547872"/>
            <a:ext cx="2432304" cy="27432"/>
          </a:xfrm>
          <a:prstGeom prst="rect">
            <a:avLst/>
          </a:prstGeom>
          <a:solidFill>
            <a:srgbClr val="D0DAE4"/>
          </a:solidFill>
          <a:ln w="12700">
            <a:solidFill>
              <a:srgbClr val="D0DAE4"/>
            </a:solidFill>
            <a:prstDash val="solid"/>
          </a:ln>
        </p:spPr>
        <p:txBody>
          <a:bodyPr/>
          <a:lstStyle/>
          <a:p>
            <a:endParaRPr lang="en-US"/>
          </a:p>
        </p:txBody>
      </p:sp>
      <p:sp>
        <p:nvSpPr>
          <p:cNvPr id="20" name="Shape 17"/>
          <p:cNvSpPr/>
          <p:nvPr/>
        </p:nvSpPr>
        <p:spPr>
          <a:xfrm>
            <a:off x="914400" y="914400"/>
            <a:ext cx="914400" cy="914400"/>
          </a:xfrm>
          <a:prstGeom prst="line">
            <a:avLst/>
          </a:prstGeom>
          <a:noFill/>
          <a:ln/>
        </p:spPr>
        <p:txBody>
          <a:bodyPr/>
          <a:lstStyle/>
          <a:p>
            <a:endParaRPr lang="en-US"/>
          </a:p>
        </p:txBody>
      </p:sp>
      <p:sp>
        <p:nvSpPr>
          <p:cNvPr id="21" name="Text 18"/>
          <p:cNvSpPr/>
          <p:nvPr/>
        </p:nvSpPr>
        <p:spPr>
          <a:xfrm>
            <a:off x="704088" y="3639312"/>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European Energy Efficiency Directive creates mandatory non discretionary demand. Compliance required, not optional.</a:t>
            </a:r>
            <a:endParaRPr lang="en-US" sz="900" dirty="0"/>
          </a:p>
        </p:txBody>
      </p:sp>
      <p:sp>
        <p:nvSpPr>
          <p:cNvPr id="22" name="Shape 19"/>
          <p:cNvSpPr/>
          <p:nvPr/>
        </p:nvSpPr>
        <p:spPr>
          <a:xfrm>
            <a:off x="914400" y="914400"/>
            <a:ext cx="914400" cy="914400"/>
          </a:xfrm>
          <a:prstGeom prst="line">
            <a:avLst/>
          </a:prstGeom>
          <a:noFill/>
          <a:ln/>
        </p:spPr>
        <p:txBody>
          <a:bodyPr/>
          <a:lstStyle/>
          <a:p>
            <a:endParaRPr lang="en-US"/>
          </a:p>
        </p:txBody>
      </p:sp>
      <p:sp>
        <p:nvSpPr>
          <p:cNvPr id="23" name="Text 20"/>
          <p:cNvSpPr/>
          <p:nvPr/>
        </p:nvSpPr>
        <p:spPr>
          <a:xfrm>
            <a:off x="704088" y="3968496"/>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Karman Industries: Series A at $20M in 2025 developing modular CO₂ based systems for high density data centers.</a:t>
            </a:r>
            <a:endParaRPr lang="en-US" sz="900" dirty="0"/>
          </a:p>
        </p:txBody>
      </p:sp>
      <p:sp>
        <p:nvSpPr>
          <p:cNvPr id="24" name="Shape 21"/>
          <p:cNvSpPr/>
          <p:nvPr/>
        </p:nvSpPr>
        <p:spPr>
          <a:xfrm>
            <a:off x="914400" y="914400"/>
            <a:ext cx="914400" cy="914400"/>
          </a:xfrm>
          <a:prstGeom prst="line">
            <a:avLst/>
          </a:prstGeom>
          <a:noFill/>
          <a:ln/>
        </p:spPr>
        <p:txBody>
          <a:bodyPr/>
          <a:lstStyle/>
          <a:p>
            <a:endParaRPr lang="en-US"/>
          </a:p>
        </p:txBody>
      </p:sp>
      <p:sp>
        <p:nvSpPr>
          <p:cNvPr id="25" name="Text 22"/>
          <p:cNvSpPr/>
          <p:nvPr/>
        </p:nvSpPr>
        <p:spPr>
          <a:xfrm>
            <a:off x="704088" y="4297680"/>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Qpinch: Series B at approximately $21M offering chemical heat transformation as a complementary technology.</a:t>
            </a:r>
            <a:endParaRPr lang="en-US" sz="900" dirty="0"/>
          </a:p>
        </p:txBody>
      </p:sp>
      <p:sp>
        <p:nvSpPr>
          <p:cNvPr id="26" name="Shape 23"/>
          <p:cNvSpPr/>
          <p:nvPr/>
        </p:nvSpPr>
        <p:spPr>
          <a:xfrm>
            <a:off x="914400" y="914400"/>
            <a:ext cx="914400" cy="914400"/>
          </a:xfrm>
          <a:prstGeom prst="line">
            <a:avLst/>
          </a:prstGeom>
          <a:noFill/>
          <a:ln/>
        </p:spPr>
        <p:txBody>
          <a:bodyPr/>
          <a:lstStyle/>
          <a:p>
            <a:endParaRPr lang="en-US"/>
          </a:p>
        </p:txBody>
      </p:sp>
      <p:sp>
        <p:nvSpPr>
          <p:cNvPr id="27" name="Text 24"/>
          <p:cNvSpPr/>
          <p:nvPr/>
        </p:nvSpPr>
        <p:spPr>
          <a:xfrm>
            <a:off x="704088" y="4626864"/>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Category offers moderate capital requirements and clear acquisition pathways through energy infrastructure players.</a:t>
            </a:r>
            <a:endParaRPr lang="en-US" sz="900" dirty="0"/>
          </a:p>
        </p:txBody>
      </p:sp>
      <p:sp>
        <p:nvSpPr>
          <p:cNvPr id="28" name="Shape 25"/>
          <p:cNvSpPr/>
          <p:nvPr/>
        </p:nvSpPr>
        <p:spPr>
          <a:xfrm>
            <a:off x="914400" y="914400"/>
            <a:ext cx="914400" cy="914400"/>
          </a:xfrm>
          <a:prstGeom prst="line">
            <a:avLst/>
          </a:prstGeom>
          <a:noFill/>
          <a:ln/>
        </p:spPr>
        <p:txBody>
          <a:bodyPr/>
          <a:lstStyle/>
          <a:p>
            <a:endParaRPr lang="en-US"/>
          </a:p>
        </p:txBody>
      </p:sp>
      <p:sp>
        <p:nvSpPr>
          <p:cNvPr id="29" name="Text 26"/>
          <p:cNvSpPr/>
          <p:nvPr/>
        </p:nvSpPr>
        <p:spPr>
          <a:xfrm>
            <a:off x="704088" y="4956048"/>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Companies investing now avoid costly retrofits when regulation reaches enforcement in their jurisdiction.</a:t>
            </a:r>
            <a:endParaRPr lang="en-US" sz="900" dirty="0"/>
          </a:p>
        </p:txBody>
      </p:sp>
      <p:sp>
        <p:nvSpPr>
          <p:cNvPr id="30" name="Shape 27"/>
          <p:cNvSpPr/>
          <p:nvPr/>
        </p:nvSpPr>
        <p:spPr>
          <a:xfrm>
            <a:off x="3264408" y="2148840"/>
            <a:ext cx="2724912" cy="406908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31" name="Shape 28"/>
          <p:cNvSpPr/>
          <p:nvPr/>
        </p:nvSpPr>
        <p:spPr>
          <a:xfrm>
            <a:off x="3264408" y="2148840"/>
            <a:ext cx="2724912" cy="54864"/>
          </a:xfrm>
          <a:prstGeom prst="rect">
            <a:avLst/>
          </a:prstGeom>
          <a:solidFill>
            <a:srgbClr val="2E6DA4"/>
          </a:solidFill>
          <a:ln w="12700">
            <a:solidFill>
              <a:srgbClr val="2E6DA4"/>
            </a:solidFill>
            <a:prstDash val="solid"/>
          </a:ln>
        </p:spPr>
        <p:txBody>
          <a:bodyPr/>
          <a:lstStyle/>
          <a:p>
            <a:endParaRPr lang="en-US"/>
          </a:p>
        </p:txBody>
      </p:sp>
      <p:sp>
        <p:nvSpPr>
          <p:cNvPr id="32" name="Text 29"/>
          <p:cNvSpPr/>
          <p:nvPr/>
        </p:nvSpPr>
        <p:spPr>
          <a:xfrm>
            <a:off x="3410712" y="2240280"/>
            <a:ext cx="502920" cy="384048"/>
          </a:xfrm>
          <a:prstGeom prst="rect">
            <a:avLst/>
          </a:prstGeom>
          <a:noFill/>
          <a:ln/>
        </p:spPr>
        <p:txBody>
          <a:bodyPr wrap="square" lIns="0" tIns="0" rIns="0" bIns="0" rtlCol="0" anchor="ctr"/>
          <a:lstStyle/>
          <a:p>
            <a:pPr marL="0" indent="0">
              <a:buNone/>
            </a:pPr>
            <a:r>
              <a:rPr lang="en-US" sz="2600" b="1" dirty="0">
                <a:solidFill>
                  <a:srgbClr val="2E6DA4"/>
                </a:solidFill>
                <a:latin typeface="Calibri" pitchFamily="34" charset="0"/>
                <a:ea typeface="Calibri" pitchFamily="34" charset="-122"/>
                <a:cs typeface="Calibri" pitchFamily="34" charset="-120"/>
              </a:rPr>
              <a:t>02</a:t>
            </a:r>
            <a:endParaRPr lang="en-US" sz="2600" dirty="0"/>
          </a:p>
        </p:txBody>
      </p:sp>
      <p:sp>
        <p:nvSpPr>
          <p:cNvPr id="33" name="Text 30"/>
          <p:cNvSpPr/>
          <p:nvPr/>
        </p:nvSpPr>
        <p:spPr>
          <a:xfrm>
            <a:off x="3410712" y="2633472"/>
            <a:ext cx="2432304" cy="566928"/>
          </a:xfrm>
          <a:prstGeom prst="rect">
            <a:avLst/>
          </a:prstGeom>
          <a:noFill/>
          <a:ln/>
        </p:spPr>
        <p:txBody>
          <a:bodyPr wrap="square" lIns="0" tIns="0" rIns="0" bIns="0" rtlCol="0" anchor="ctr"/>
          <a:lstStyle/>
          <a:p>
            <a:pPr marL="0" indent="0">
              <a:buNone/>
            </a:pPr>
            <a:r>
              <a:rPr lang="en-US" sz="1150" b="1" dirty="0">
                <a:solidFill>
                  <a:srgbClr val="0F1E30"/>
                </a:solidFill>
                <a:latin typeface="Calibri" pitchFamily="34" charset="0"/>
                <a:ea typeface="Calibri" pitchFamily="34" charset="-122"/>
                <a:cs typeface="Calibri" pitchFamily="34" charset="-120"/>
              </a:rPr>
              <a:t>Advanced Thermal Materials and Chip Level Cooling</a:t>
            </a:r>
            <a:endParaRPr lang="en-US" sz="1150" dirty="0"/>
          </a:p>
        </p:txBody>
      </p:sp>
      <p:sp>
        <p:nvSpPr>
          <p:cNvPr id="34" name="Shape 31"/>
          <p:cNvSpPr/>
          <p:nvPr/>
        </p:nvSpPr>
        <p:spPr>
          <a:xfrm>
            <a:off x="3410712" y="3246120"/>
            <a:ext cx="1188720" cy="237744"/>
          </a:xfrm>
          <a:prstGeom prst="rect">
            <a:avLst/>
          </a:prstGeom>
          <a:solidFill>
            <a:srgbClr val="2E6DA4"/>
          </a:solidFill>
          <a:ln w="12700">
            <a:solidFill>
              <a:srgbClr val="2E6DA4"/>
            </a:solidFill>
            <a:prstDash val="solid"/>
          </a:ln>
        </p:spPr>
        <p:txBody>
          <a:bodyPr/>
          <a:lstStyle/>
          <a:p>
            <a:endParaRPr lang="en-US"/>
          </a:p>
        </p:txBody>
      </p:sp>
      <p:sp>
        <p:nvSpPr>
          <p:cNvPr id="35" name="Text 32"/>
          <p:cNvSpPr/>
          <p:nvPr/>
        </p:nvSpPr>
        <p:spPr>
          <a:xfrm>
            <a:off x="3410712" y="3255264"/>
            <a:ext cx="118872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Invest Now</a:t>
            </a:r>
            <a:endParaRPr lang="en-US" sz="850" dirty="0"/>
          </a:p>
        </p:txBody>
      </p:sp>
      <p:sp>
        <p:nvSpPr>
          <p:cNvPr id="36" name="Text 33"/>
          <p:cNvSpPr/>
          <p:nvPr/>
        </p:nvSpPr>
        <p:spPr>
          <a:xfrm>
            <a:off x="4709160" y="3255264"/>
            <a:ext cx="1133856" cy="237744"/>
          </a:xfrm>
          <a:prstGeom prst="rect">
            <a:avLst/>
          </a:prstGeom>
          <a:noFill/>
          <a:ln/>
        </p:spPr>
        <p:txBody>
          <a:bodyPr wrap="square" lIns="0" tIns="0" rIns="0" bIns="0" rtlCol="0" anchor="ctr"/>
          <a:lstStyle/>
          <a:p>
            <a:pPr marL="0" indent="0">
              <a:buNone/>
            </a:pPr>
            <a:r>
              <a:rPr lang="en-US" sz="850" i="1" dirty="0">
                <a:solidFill>
                  <a:srgbClr val="7B90A6"/>
                </a:solidFill>
                <a:latin typeface="Calibri" pitchFamily="34" charset="0"/>
                <a:ea typeface="Calibri" pitchFamily="34" charset="-122"/>
                <a:cs typeface="Calibri" pitchFamily="34" charset="-120"/>
              </a:rPr>
              <a:t>2026 to 2030</a:t>
            </a:r>
            <a:endParaRPr lang="en-US" sz="850" dirty="0"/>
          </a:p>
        </p:txBody>
      </p:sp>
      <p:sp>
        <p:nvSpPr>
          <p:cNvPr id="37" name="Shape 34"/>
          <p:cNvSpPr/>
          <p:nvPr/>
        </p:nvSpPr>
        <p:spPr>
          <a:xfrm>
            <a:off x="3410712" y="3547872"/>
            <a:ext cx="2432304" cy="27432"/>
          </a:xfrm>
          <a:prstGeom prst="rect">
            <a:avLst/>
          </a:prstGeom>
          <a:solidFill>
            <a:srgbClr val="D0DAE4"/>
          </a:solidFill>
          <a:ln w="12700">
            <a:solidFill>
              <a:srgbClr val="D0DAE4"/>
            </a:solidFill>
            <a:prstDash val="solid"/>
          </a:ln>
        </p:spPr>
        <p:txBody>
          <a:bodyPr/>
          <a:lstStyle/>
          <a:p>
            <a:endParaRPr lang="en-US"/>
          </a:p>
        </p:txBody>
      </p:sp>
      <p:sp>
        <p:nvSpPr>
          <p:cNvPr id="38" name="Shape 35"/>
          <p:cNvSpPr/>
          <p:nvPr/>
        </p:nvSpPr>
        <p:spPr>
          <a:xfrm>
            <a:off x="914400" y="914400"/>
            <a:ext cx="914400" cy="914400"/>
          </a:xfrm>
          <a:prstGeom prst="line">
            <a:avLst/>
          </a:prstGeom>
          <a:noFill/>
          <a:ln/>
        </p:spPr>
        <p:txBody>
          <a:bodyPr/>
          <a:lstStyle/>
          <a:p>
            <a:endParaRPr lang="en-US"/>
          </a:p>
        </p:txBody>
      </p:sp>
      <p:sp>
        <p:nvSpPr>
          <p:cNvPr id="39" name="Text 36"/>
          <p:cNvSpPr/>
          <p:nvPr/>
        </p:nvSpPr>
        <p:spPr>
          <a:xfrm>
            <a:off x="3557016" y="3639312"/>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As rack densities exceed 100kW, cooling must move from room level to chip package level. No alternative path.</a:t>
            </a:r>
            <a:endParaRPr lang="en-US" sz="900" dirty="0"/>
          </a:p>
        </p:txBody>
      </p:sp>
      <p:sp>
        <p:nvSpPr>
          <p:cNvPr id="40" name="Shape 37"/>
          <p:cNvSpPr/>
          <p:nvPr/>
        </p:nvSpPr>
        <p:spPr>
          <a:xfrm>
            <a:off x="914400" y="914400"/>
            <a:ext cx="914400" cy="914400"/>
          </a:xfrm>
          <a:prstGeom prst="line">
            <a:avLst/>
          </a:prstGeom>
          <a:noFill/>
          <a:ln/>
        </p:spPr>
        <p:txBody>
          <a:bodyPr/>
          <a:lstStyle/>
          <a:p>
            <a:endParaRPr lang="en-US"/>
          </a:p>
        </p:txBody>
      </p:sp>
      <p:sp>
        <p:nvSpPr>
          <p:cNvPr id="41" name="Text 38"/>
          <p:cNvSpPr/>
          <p:nvPr/>
        </p:nvSpPr>
        <p:spPr>
          <a:xfrm>
            <a:off x="3557016" y="3968496"/>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Corintis: Series B at approximately $53M validated by hyperscale partnerships. Represents the leading approach.</a:t>
            </a:r>
            <a:endParaRPr lang="en-US" sz="900" dirty="0"/>
          </a:p>
        </p:txBody>
      </p:sp>
      <p:sp>
        <p:nvSpPr>
          <p:cNvPr id="42" name="Shape 39"/>
          <p:cNvSpPr/>
          <p:nvPr/>
        </p:nvSpPr>
        <p:spPr>
          <a:xfrm>
            <a:off x="914400" y="914400"/>
            <a:ext cx="914400" cy="914400"/>
          </a:xfrm>
          <a:prstGeom prst="line">
            <a:avLst/>
          </a:prstGeom>
          <a:noFill/>
          <a:ln/>
        </p:spPr>
        <p:txBody>
          <a:bodyPr/>
          <a:lstStyle/>
          <a:p>
            <a:endParaRPr lang="en-US"/>
          </a:p>
        </p:txBody>
      </p:sp>
      <p:sp>
        <p:nvSpPr>
          <p:cNvPr id="43" name="Text 40"/>
          <p:cNvSpPr/>
          <p:nvPr/>
        </p:nvSpPr>
        <p:spPr>
          <a:xfrm>
            <a:off x="3557016" y="4297680"/>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ZutaCore and GRC offer alternative approaches illustrating diversity of technical paths in this category.</a:t>
            </a:r>
            <a:endParaRPr lang="en-US" sz="900" dirty="0"/>
          </a:p>
        </p:txBody>
      </p:sp>
      <p:sp>
        <p:nvSpPr>
          <p:cNvPr id="44" name="Shape 41"/>
          <p:cNvSpPr/>
          <p:nvPr/>
        </p:nvSpPr>
        <p:spPr>
          <a:xfrm>
            <a:off x="914400" y="914400"/>
            <a:ext cx="914400" cy="914400"/>
          </a:xfrm>
          <a:prstGeom prst="line">
            <a:avLst/>
          </a:prstGeom>
          <a:noFill/>
          <a:ln/>
        </p:spPr>
        <p:txBody>
          <a:bodyPr/>
          <a:lstStyle/>
          <a:p>
            <a:endParaRPr lang="en-US"/>
          </a:p>
        </p:txBody>
      </p:sp>
      <p:sp>
        <p:nvSpPr>
          <p:cNvPr id="45" name="Text 42"/>
          <p:cNvSpPr/>
          <p:nvPr/>
        </p:nvSpPr>
        <p:spPr>
          <a:xfrm>
            <a:off x="3557016" y="4626864"/>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Capital inflows are accelerating. Many leading companies are advancing quickly beyond early stage windows.</a:t>
            </a:r>
            <a:endParaRPr lang="en-US" sz="900" dirty="0"/>
          </a:p>
        </p:txBody>
      </p:sp>
      <p:sp>
        <p:nvSpPr>
          <p:cNvPr id="46" name="Shape 43"/>
          <p:cNvSpPr/>
          <p:nvPr/>
        </p:nvSpPr>
        <p:spPr>
          <a:xfrm>
            <a:off x="914400" y="914400"/>
            <a:ext cx="914400" cy="914400"/>
          </a:xfrm>
          <a:prstGeom prst="line">
            <a:avLst/>
          </a:prstGeom>
          <a:noFill/>
          <a:ln/>
        </p:spPr>
        <p:txBody>
          <a:bodyPr/>
          <a:lstStyle/>
          <a:p>
            <a:endParaRPr lang="en-US"/>
          </a:p>
        </p:txBody>
      </p:sp>
      <p:sp>
        <p:nvSpPr>
          <p:cNvPr id="47" name="Text 44"/>
          <p:cNvSpPr/>
          <p:nvPr/>
        </p:nvSpPr>
        <p:spPr>
          <a:xfrm>
            <a:off x="3557016" y="4956048"/>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Timing and valuation discipline are critical. The entry window for best in class companies is narrowing.</a:t>
            </a:r>
            <a:endParaRPr lang="en-US" sz="900" dirty="0"/>
          </a:p>
        </p:txBody>
      </p:sp>
      <p:sp>
        <p:nvSpPr>
          <p:cNvPr id="48" name="Shape 45"/>
          <p:cNvSpPr/>
          <p:nvPr/>
        </p:nvSpPr>
        <p:spPr>
          <a:xfrm>
            <a:off x="6117336" y="2148840"/>
            <a:ext cx="2724912" cy="406908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49" name="Shape 46"/>
          <p:cNvSpPr/>
          <p:nvPr/>
        </p:nvSpPr>
        <p:spPr>
          <a:xfrm>
            <a:off x="6117336" y="2148840"/>
            <a:ext cx="2724912" cy="54864"/>
          </a:xfrm>
          <a:prstGeom prst="rect">
            <a:avLst/>
          </a:prstGeom>
          <a:solidFill>
            <a:srgbClr val="5096CC"/>
          </a:solidFill>
          <a:ln w="12700">
            <a:solidFill>
              <a:srgbClr val="5096CC"/>
            </a:solidFill>
            <a:prstDash val="solid"/>
          </a:ln>
        </p:spPr>
        <p:txBody>
          <a:bodyPr/>
          <a:lstStyle/>
          <a:p>
            <a:endParaRPr lang="en-US"/>
          </a:p>
        </p:txBody>
      </p:sp>
      <p:sp>
        <p:nvSpPr>
          <p:cNvPr id="50" name="Text 47"/>
          <p:cNvSpPr/>
          <p:nvPr/>
        </p:nvSpPr>
        <p:spPr>
          <a:xfrm>
            <a:off x="6263640" y="2240280"/>
            <a:ext cx="502920" cy="384048"/>
          </a:xfrm>
          <a:prstGeom prst="rect">
            <a:avLst/>
          </a:prstGeom>
          <a:noFill/>
          <a:ln/>
        </p:spPr>
        <p:txBody>
          <a:bodyPr wrap="square" lIns="0" tIns="0" rIns="0" bIns="0" rtlCol="0" anchor="ctr"/>
          <a:lstStyle/>
          <a:p>
            <a:pPr marL="0" indent="0">
              <a:buNone/>
            </a:pPr>
            <a:r>
              <a:rPr lang="en-US" sz="2600" b="1" dirty="0">
                <a:solidFill>
                  <a:srgbClr val="5096CC"/>
                </a:solidFill>
                <a:latin typeface="Calibri" pitchFamily="34" charset="0"/>
                <a:ea typeface="Calibri" pitchFamily="34" charset="-122"/>
                <a:cs typeface="Calibri" pitchFamily="34" charset="-120"/>
              </a:rPr>
              <a:t>03</a:t>
            </a:r>
            <a:endParaRPr lang="en-US" sz="2600" dirty="0"/>
          </a:p>
        </p:txBody>
      </p:sp>
      <p:sp>
        <p:nvSpPr>
          <p:cNvPr id="51" name="Text 48"/>
          <p:cNvSpPr/>
          <p:nvPr/>
        </p:nvSpPr>
        <p:spPr>
          <a:xfrm>
            <a:off x="6263640" y="2633472"/>
            <a:ext cx="2432304" cy="566928"/>
          </a:xfrm>
          <a:prstGeom prst="rect">
            <a:avLst/>
          </a:prstGeom>
          <a:noFill/>
          <a:ln/>
        </p:spPr>
        <p:txBody>
          <a:bodyPr wrap="square" lIns="0" tIns="0" rIns="0" bIns="0" rtlCol="0" anchor="ctr"/>
          <a:lstStyle/>
          <a:p>
            <a:pPr marL="0" indent="0">
              <a:buNone/>
            </a:pPr>
            <a:r>
              <a:rPr lang="en-US" sz="1150" b="1" dirty="0">
                <a:solidFill>
                  <a:srgbClr val="0F1E30"/>
                </a:solidFill>
                <a:latin typeface="Calibri" pitchFamily="34" charset="0"/>
                <a:ea typeface="Calibri" pitchFamily="34" charset="-122"/>
                <a:cs typeface="Calibri" pitchFamily="34" charset="-120"/>
              </a:rPr>
              <a:t>Modular Prefabricated Power and Cooling Infrastructure</a:t>
            </a:r>
            <a:endParaRPr lang="en-US" sz="1150" dirty="0"/>
          </a:p>
        </p:txBody>
      </p:sp>
      <p:sp>
        <p:nvSpPr>
          <p:cNvPr id="52" name="Shape 49"/>
          <p:cNvSpPr/>
          <p:nvPr/>
        </p:nvSpPr>
        <p:spPr>
          <a:xfrm>
            <a:off x="6263640" y="3246120"/>
            <a:ext cx="1188720" cy="237744"/>
          </a:xfrm>
          <a:prstGeom prst="rect">
            <a:avLst/>
          </a:prstGeom>
          <a:solidFill>
            <a:srgbClr val="5096CC"/>
          </a:solidFill>
          <a:ln w="12700">
            <a:solidFill>
              <a:srgbClr val="5096CC"/>
            </a:solidFill>
            <a:prstDash val="solid"/>
          </a:ln>
        </p:spPr>
        <p:txBody>
          <a:bodyPr/>
          <a:lstStyle/>
          <a:p>
            <a:endParaRPr lang="en-US"/>
          </a:p>
        </p:txBody>
      </p:sp>
      <p:sp>
        <p:nvSpPr>
          <p:cNvPr id="53" name="Text 50"/>
          <p:cNvSpPr/>
          <p:nvPr/>
        </p:nvSpPr>
        <p:spPr>
          <a:xfrm>
            <a:off x="6263640" y="3255264"/>
            <a:ext cx="118872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Selective Entry</a:t>
            </a:r>
            <a:endParaRPr lang="en-US" sz="850" dirty="0"/>
          </a:p>
        </p:txBody>
      </p:sp>
      <p:sp>
        <p:nvSpPr>
          <p:cNvPr id="54" name="Text 51"/>
          <p:cNvSpPr/>
          <p:nvPr/>
        </p:nvSpPr>
        <p:spPr>
          <a:xfrm>
            <a:off x="7562088" y="3255264"/>
            <a:ext cx="1133856" cy="237744"/>
          </a:xfrm>
          <a:prstGeom prst="rect">
            <a:avLst/>
          </a:prstGeom>
          <a:noFill/>
          <a:ln/>
        </p:spPr>
        <p:txBody>
          <a:bodyPr wrap="square" lIns="0" tIns="0" rIns="0" bIns="0" rtlCol="0" anchor="ctr"/>
          <a:lstStyle/>
          <a:p>
            <a:pPr marL="0" indent="0">
              <a:buNone/>
            </a:pPr>
            <a:r>
              <a:rPr lang="en-US" sz="850" i="1" dirty="0">
                <a:solidFill>
                  <a:srgbClr val="7B90A6"/>
                </a:solidFill>
                <a:latin typeface="Calibri" pitchFamily="34" charset="0"/>
                <a:ea typeface="Calibri" pitchFamily="34" charset="-122"/>
                <a:cs typeface="Calibri" pitchFamily="34" charset="-120"/>
              </a:rPr>
              <a:t>2026 to 2028</a:t>
            </a:r>
            <a:endParaRPr lang="en-US" sz="850" dirty="0"/>
          </a:p>
        </p:txBody>
      </p:sp>
      <p:sp>
        <p:nvSpPr>
          <p:cNvPr id="55" name="Shape 52"/>
          <p:cNvSpPr/>
          <p:nvPr/>
        </p:nvSpPr>
        <p:spPr>
          <a:xfrm>
            <a:off x="6263640" y="3547872"/>
            <a:ext cx="2432304" cy="27432"/>
          </a:xfrm>
          <a:prstGeom prst="rect">
            <a:avLst/>
          </a:prstGeom>
          <a:solidFill>
            <a:srgbClr val="D0DAE4"/>
          </a:solidFill>
          <a:ln w="12700">
            <a:solidFill>
              <a:srgbClr val="D0DAE4"/>
            </a:solidFill>
            <a:prstDash val="solid"/>
          </a:ln>
        </p:spPr>
        <p:txBody>
          <a:bodyPr/>
          <a:lstStyle/>
          <a:p>
            <a:endParaRPr lang="en-US"/>
          </a:p>
        </p:txBody>
      </p:sp>
      <p:sp>
        <p:nvSpPr>
          <p:cNvPr id="56" name="Shape 53"/>
          <p:cNvSpPr/>
          <p:nvPr/>
        </p:nvSpPr>
        <p:spPr>
          <a:xfrm>
            <a:off x="914400" y="914400"/>
            <a:ext cx="914400" cy="914400"/>
          </a:xfrm>
          <a:prstGeom prst="line">
            <a:avLst/>
          </a:prstGeom>
          <a:noFill/>
          <a:ln/>
        </p:spPr>
        <p:txBody>
          <a:bodyPr/>
          <a:lstStyle/>
          <a:p>
            <a:endParaRPr lang="en-US"/>
          </a:p>
        </p:txBody>
      </p:sp>
      <p:sp>
        <p:nvSpPr>
          <p:cNvPr id="57" name="Text 54"/>
          <p:cNvSpPr/>
          <p:nvPr/>
        </p:nvSpPr>
        <p:spPr>
          <a:xfrm>
            <a:off x="6409944" y="3639312"/>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Prefabricated systems address deployment speed, the most acute operational constraint in data center expansion.</a:t>
            </a:r>
            <a:endParaRPr lang="en-US" sz="900" dirty="0"/>
          </a:p>
        </p:txBody>
      </p:sp>
      <p:sp>
        <p:nvSpPr>
          <p:cNvPr id="58" name="Shape 55"/>
          <p:cNvSpPr/>
          <p:nvPr/>
        </p:nvSpPr>
        <p:spPr>
          <a:xfrm>
            <a:off x="914400" y="914400"/>
            <a:ext cx="914400" cy="914400"/>
          </a:xfrm>
          <a:prstGeom prst="line">
            <a:avLst/>
          </a:prstGeom>
          <a:noFill/>
          <a:ln/>
        </p:spPr>
        <p:txBody>
          <a:bodyPr/>
          <a:lstStyle/>
          <a:p>
            <a:endParaRPr lang="en-US"/>
          </a:p>
        </p:txBody>
      </p:sp>
      <p:sp>
        <p:nvSpPr>
          <p:cNvPr id="59" name="Text 56"/>
          <p:cNvSpPr/>
          <p:nvPr/>
        </p:nvSpPr>
        <p:spPr>
          <a:xfrm>
            <a:off x="6409944" y="3968496"/>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Flexnode: Series A in 2026, offering integrated modular data halls with dramatically reduced deployment timelines.</a:t>
            </a:r>
            <a:endParaRPr lang="en-US" sz="900" dirty="0"/>
          </a:p>
        </p:txBody>
      </p:sp>
      <p:sp>
        <p:nvSpPr>
          <p:cNvPr id="60" name="Shape 57"/>
          <p:cNvSpPr/>
          <p:nvPr/>
        </p:nvSpPr>
        <p:spPr>
          <a:xfrm>
            <a:off x="914400" y="914400"/>
            <a:ext cx="914400" cy="914400"/>
          </a:xfrm>
          <a:prstGeom prst="line">
            <a:avLst/>
          </a:prstGeom>
          <a:noFill/>
          <a:ln/>
        </p:spPr>
        <p:txBody>
          <a:bodyPr/>
          <a:lstStyle/>
          <a:p>
            <a:endParaRPr lang="en-US"/>
          </a:p>
        </p:txBody>
      </p:sp>
      <p:sp>
        <p:nvSpPr>
          <p:cNvPr id="61" name="Text 58"/>
          <p:cNvSpPr/>
          <p:nvPr/>
        </p:nvSpPr>
        <p:spPr>
          <a:xfrm>
            <a:off x="6409944" y="4297680"/>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Strategic investment by Eaton introduces limitations in exit flexibility requiring careful investor evaluation.</a:t>
            </a:r>
            <a:endParaRPr lang="en-US" sz="900" dirty="0"/>
          </a:p>
        </p:txBody>
      </p:sp>
      <p:sp>
        <p:nvSpPr>
          <p:cNvPr id="62" name="Shape 59"/>
          <p:cNvSpPr/>
          <p:nvPr/>
        </p:nvSpPr>
        <p:spPr>
          <a:xfrm>
            <a:off x="914400" y="914400"/>
            <a:ext cx="914400" cy="914400"/>
          </a:xfrm>
          <a:prstGeom prst="line">
            <a:avLst/>
          </a:prstGeom>
          <a:noFill/>
          <a:ln/>
        </p:spPr>
        <p:txBody>
          <a:bodyPr/>
          <a:lstStyle/>
          <a:p>
            <a:endParaRPr lang="en-US"/>
          </a:p>
        </p:txBody>
      </p:sp>
      <p:sp>
        <p:nvSpPr>
          <p:cNvPr id="63" name="Text 60"/>
          <p:cNvSpPr/>
          <p:nvPr/>
        </p:nvSpPr>
        <p:spPr>
          <a:xfrm>
            <a:off x="6409944" y="4626864"/>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Best suited to investors with infrastructure relationships and operational co investment partners.</a:t>
            </a:r>
            <a:endParaRPr lang="en-US" sz="900" dirty="0"/>
          </a:p>
        </p:txBody>
      </p:sp>
      <p:sp>
        <p:nvSpPr>
          <p:cNvPr id="64" name="Shape 61"/>
          <p:cNvSpPr/>
          <p:nvPr/>
        </p:nvSpPr>
        <p:spPr>
          <a:xfrm>
            <a:off x="8970264" y="2148840"/>
            <a:ext cx="2724912" cy="406908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65" name="Shape 62"/>
          <p:cNvSpPr/>
          <p:nvPr/>
        </p:nvSpPr>
        <p:spPr>
          <a:xfrm>
            <a:off x="8970264" y="2148840"/>
            <a:ext cx="2724912" cy="54864"/>
          </a:xfrm>
          <a:prstGeom prst="rect">
            <a:avLst/>
          </a:prstGeom>
          <a:solidFill>
            <a:srgbClr val="C8922A"/>
          </a:solidFill>
          <a:ln w="12700">
            <a:solidFill>
              <a:srgbClr val="C8922A"/>
            </a:solidFill>
            <a:prstDash val="solid"/>
          </a:ln>
        </p:spPr>
        <p:txBody>
          <a:bodyPr/>
          <a:lstStyle/>
          <a:p>
            <a:endParaRPr lang="en-US"/>
          </a:p>
        </p:txBody>
      </p:sp>
      <p:sp>
        <p:nvSpPr>
          <p:cNvPr id="66" name="Text 63"/>
          <p:cNvSpPr/>
          <p:nvPr/>
        </p:nvSpPr>
        <p:spPr>
          <a:xfrm>
            <a:off x="9116568" y="2240280"/>
            <a:ext cx="502920" cy="384048"/>
          </a:xfrm>
          <a:prstGeom prst="rect">
            <a:avLst/>
          </a:prstGeom>
          <a:noFill/>
          <a:ln/>
        </p:spPr>
        <p:txBody>
          <a:bodyPr wrap="square" lIns="0" tIns="0" rIns="0" bIns="0" rtlCol="0" anchor="ctr"/>
          <a:lstStyle/>
          <a:p>
            <a:pPr marL="0" indent="0">
              <a:buNone/>
            </a:pPr>
            <a:r>
              <a:rPr lang="en-US" sz="2600" b="1" dirty="0">
                <a:solidFill>
                  <a:srgbClr val="C8922A"/>
                </a:solidFill>
                <a:latin typeface="Calibri" pitchFamily="34" charset="0"/>
                <a:ea typeface="Calibri" pitchFamily="34" charset="-122"/>
                <a:cs typeface="Calibri" pitchFamily="34" charset="-120"/>
              </a:rPr>
              <a:t>04</a:t>
            </a:r>
            <a:endParaRPr lang="en-US" sz="2600" dirty="0"/>
          </a:p>
        </p:txBody>
      </p:sp>
      <p:sp>
        <p:nvSpPr>
          <p:cNvPr id="67" name="Text 64"/>
          <p:cNvSpPr/>
          <p:nvPr/>
        </p:nvSpPr>
        <p:spPr>
          <a:xfrm>
            <a:off x="9116568" y="2633472"/>
            <a:ext cx="2432304" cy="566928"/>
          </a:xfrm>
          <a:prstGeom prst="rect">
            <a:avLst/>
          </a:prstGeom>
          <a:noFill/>
          <a:ln/>
        </p:spPr>
        <p:txBody>
          <a:bodyPr wrap="square" lIns="0" tIns="0" rIns="0" bIns="0" rtlCol="0" anchor="ctr"/>
          <a:lstStyle/>
          <a:p>
            <a:pPr marL="0" indent="0">
              <a:buNone/>
            </a:pPr>
            <a:r>
              <a:rPr lang="en-US" sz="1150" b="1" dirty="0">
                <a:solidFill>
                  <a:srgbClr val="0F1E30"/>
                </a:solidFill>
                <a:latin typeface="Calibri" pitchFamily="34" charset="0"/>
                <a:ea typeface="Calibri" pitchFamily="34" charset="-122"/>
                <a:cs typeface="Calibri" pitchFamily="34" charset="-120"/>
              </a:rPr>
              <a:t>Thermal Energy Storage</a:t>
            </a:r>
            <a:endParaRPr lang="en-US" sz="1150" dirty="0"/>
          </a:p>
        </p:txBody>
      </p:sp>
      <p:sp>
        <p:nvSpPr>
          <p:cNvPr id="68" name="Shape 65"/>
          <p:cNvSpPr/>
          <p:nvPr/>
        </p:nvSpPr>
        <p:spPr>
          <a:xfrm>
            <a:off x="9116568" y="3246120"/>
            <a:ext cx="1188720" cy="237744"/>
          </a:xfrm>
          <a:prstGeom prst="rect">
            <a:avLst/>
          </a:prstGeom>
          <a:solidFill>
            <a:srgbClr val="C8922A"/>
          </a:solidFill>
          <a:ln w="12700">
            <a:solidFill>
              <a:srgbClr val="C8922A"/>
            </a:solidFill>
            <a:prstDash val="solid"/>
          </a:ln>
        </p:spPr>
        <p:txBody>
          <a:bodyPr/>
          <a:lstStyle/>
          <a:p>
            <a:endParaRPr lang="en-US"/>
          </a:p>
        </p:txBody>
      </p:sp>
      <p:sp>
        <p:nvSpPr>
          <p:cNvPr id="69" name="Text 66"/>
          <p:cNvSpPr/>
          <p:nvPr/>
        </p:nvSpPr>
        <p:spPr>
          <a:xfrm>
            <a:off x="9116568" y="3255264"/>
            <a:ext cx="1188720" cy="22860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Monitor for 2028</a:t>
            </a:r>
            <a:endParaRPr lang="en-US" sz="850" dirty="0"/>
          </a:p>
        </p:txBody>
      </p:sp>
      <p:sp>
        <p:nvSpPr>
          <p:cNvPr id="70" name="Text 67"/>
          <p:cNvSpPr/>
          <p:nvPr/>
        </p:nvSpPr>
        <p:spPr>
          <a:xfrm>
            <a:off x="10415016" y="3255264"/>
            <a:ext cx="1133856" cy="237744"/>
          </a:xfrm>
          <a:prstGeom prst="rect">
            <a:avLst/>
          </a:prstGeom>
          <a:noFill/>
          <a:ln/>
        </p:spPr>
        <p:txBody>
          <a:bodyPr wrap="square" lIns="0" tIns="0" rIns="0" bIns="0" rtlCol="0" anchor="ctr"/>
          <a:lstStyle/>
          <a:p>
            <a:pPr marL="0" indent="0">
              <a:buNone/>
            </a:pPr>
            <a:r>
              <a:rPr lang="en-US" sz="850" i="1" dirty="0">
                <a:solidFill>
                  <a:srgbClr val="7B90A6"/>
                </a:solidFill>
                <a:latin typeface="Calibri" pitchFamily="34" charset="0"/>
                <a:ea typeface="Calibri" pitchFamily="34" charset="-122"/>
                <a:cs typeface="Calibri" pitchFamily="34" charset="-120"/>
              </a:rPr>
              <a:t>2028 to 2032</a:t>
            </a:r>
            <a:endParaRPr lang="en-US" sz="850" dirty="0"/>
          </a:p>
        </p:txBody>
      </p:sp>
      <p:sp>
        <p:nvSpPr>
          <p:cNvPr id="71" name="Shape 68"/>
          <p:cNvSpPr/>
          <p:nvPr/>
        </p:nvSpPr>
        <p:spPr>
          <a:xfrm>
            <a:off x="9116568" y="3547872"/>
            <a:ext cx="2432304" cy="27432"/>
          </a:xfrm>
          <a:prstGeom prst="rect">
            <a:avLst/>
          </a:prstGeom>
          <a:solidFill>
            <a:srgbClr val="D0DAE4"/>
          </a:solidFill>
          <a:ln w="12700">
            <a:solidFill>
              <a:srgbClr val="D0DAE4"/>
            </a:solidFill>
            <a:prstDash val="solid"/>
          </a:ln>
        </p:spPr>
        <p:txBody>
          <a:bodyPr/>
          <a:lstStyle/>
          <a:p>
            <a:endParaRPr lang="en-US"/>
          </a:p>
        </p:txBody>
      </p:sp>
      <p:sp>
        <p:nvSpPr>
          <p:cNvPr id="72" name="Shape 69"/>
          <p:cNvSpPr/>
          <p:nvPr/>
        </p:nvSpPr>
        <p:spPr>
          <a:xfrm>
            <a:off x="914400" y="914400"/>
            <a:ext cx="914400" cy="914400"/>
          </a:xfrm>
          <a:prstGeom prst="line">
            <a:avLst/>
          </a:prstGeom>
          <a:noFill/>
          <a:ln/>
        </p:spPr>
        <p:txBody>
          <a:bodyPr/>
          <a:lstStyle/>
          <a:p>
            <a:endParaRPr lang="en-US"/>
          </a:p>
        </p:txBody>
      </p:sp>
      <p:sp>
        <p:nvSpPr>
          <p:cNvPr id="73" name="Text 70"/>
          <p:cNvSpPr/>
          <p:nvPr/>
        </p:nvSpPr>
        <p:spPr>
          <a:xfrm>
            <a:off x="9262872" y="3639312"/>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Ice based cooling systems enable load shifting and improve grid interaction during peak demand periods.</a:t>
            </a:r>
            <a:endParaRPr lang="en-US" sz="900" dirty="0"/>
          </a:p>
        </p:txBody>
      </p:sp>
      <p:sp>
        <p:nvSpPr>
          <p:cNvPr id="74" name="Shape 71"/>
          <p:cNvSpPr/>
          <p:nvPr/>
        </p:nvSpPr>
        <p:spPr>
          <a:xfrm>
            <a:off x="914400" y="914400"/>
            <a:ext cx="914400" cy="914400"/>
          </a:xfrm>
          <a:prstGeom prst="line">
            <a:avLst/>
          </a:prstGeom>
          <a:noFill/>
          <a:ln/>
        </p:spPr>
        <p:txBody>
          <a:bodyPr/>
          <a:lstStyle/>
          <a:p>
            <a:endParaRPr lang="en-US"/>
          </a:p>
        </p:txBody>
      </p:sp>
      <p:sp>
        <p:nvSpPr>
          <p:cNvPr id="75" name="Text 72"/>
          <p:cNvSpPr/>
          <p:nvPr/>
        </p:nvSpPr>
        <p:spPr>
          <a:xfrm>
            <a:off x="9262872" y="3968496"/>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Nostromo Energy provides the reference implementation model for this category.</a:t>
            </a:r>
            <a:endParaRPr lang="en-US" sz="900" dirty="0"/>
          </a:p>
        </p:txBody>
      </p:sp>
      <p:sp>
        <p:nvSpPr>
          <p:cNvPr id="76" name="Shape 73"/>
          <p:cNvSpPr/>
          <p:nvPr/>
        </p:nvSpPr>
        <p:spPr>
          <a:xfrm>
            <a:off x="914400" y="914400"/>
            <a:ext cx="914400" cy="914400"/>
          </a:xfrm>
          <a:prstGeom prst="line">
            <a:avLst/>
          </a:prstGeom>
          <a:noFill/>
          <a:ln/>
        </p:spPr>
        <p:txBody>
          <a:bodyPr/>
          <a:lstStyle/>
          <a:p>
            <a:endParaRPr lang="en-US"/>
          </a:p>
        </p:txBody>
      </p:sp>
      <p:sp>
        <p:nvSpPr>
          <p:cNvPr id="77" name="Text 74"/>
          <p:cNvSpPr/>
          <p:nvPr/>
        </p:nvSpPr>
        <p:spPr>
          <a:xfrm>
            <a:off x="9262872" y="4297680"/>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Limited early stage data center specific companies currently available limits immediate venture opportunity.</a:t>
            </a:r>
            <a:endParaRPr lang="en-US" sz="900" dirty="0"/>
          </a:p>
        </p:txBody>
      </p:sp>
      <p:sp>
        <p:nvSpPr>
          <p:cNvPr id="78" name="Shape 75"/>
          <p:cNvSpPr/>
          <p:nvPr/>
        </p:nvSpPr>
        <p:spPr>
          <a:xfrm>
            <a:off x="914400" y="914400"/>
            <a:ext cx="914400" cy="914400"/>
          </a:xfrm>
          <a:prstGeom prst="line">
            <a:avLst/>
          </a:prstGeom>
          <a:noFill/>
          <a:ln/>
        </p:spPr>
        <p:txBody>
          <a:bodyPr/>
          <a:lstStyle/>
          <a:p>
            <a:endParaRPr lang="en-US"/>
          </a:p>
        </p:txBody>
      </p:sp>
      <p:sp>
        <p:nvSpPr>
          <p:cNvPr id="79" name="Text 76"/>
          <p:cNvSpPr/>
          <p:nvPr/>
        </p:nvSpPr>
        <p:spPr>
          <a:xfrm>
            <a:off x="9262872" y="4626864"/>
            <a:ext cx="2286000" cy="310896"/>
          </a:xfrm>
          <a:prstGeom prst="rect">
            <a:avLst/>
          </a:prstGeom>
          <a:noFill/>
          <a:ln/>
        </p:spPr>
        <p:txBody>
          <a:bodyPr wrap="square" lIns="0" tIns="0" rIns="0" bIns="0" rtlCol="0" anchor="ctr"/>
          <a:lstStyle/>
          <a:p>
            <a:pPr marL="0" indent="0">
              <a:buNone/>
            </a:pPr>
            <a:r>
              <a:rPr lang="en-US" sz="900" dirty="0">
                <a:solidFill>
                  <a:srgbClr val="2C3E50"/>
                </a:solidFill>
                <a:latin typeface="Calibri" pitchFamily="34" charset="0"/>
                <a:ea typeface="Calibri" pitchFamily="34" charset="-122"/>
                <a:cs typeface="Calibri" pitchFamily="34" charset="-120"/>
              </a:rPr>
              <a:t>Position this as a longer term monitoring priority rather than an immediate deployment decision.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75488"/>
          </a:xfrm>
          <a:prstGeom prst="rect">
            <a:avLst/>
          </a:prstGeom>
          <a:solidFill>
            <a:srgbClr val="1B3A5C"/>
          </a:solidFill>
          <a:ln w="12700">
            <a:solidFill>
              <a:srgbClr val="1B3A5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28600" y="45720"/>
            <a:ext cx="1600200" cy="384048"/>
          </a:xfrm>
          <a:prstGeom prst="rect">
            <a:avLst/>
          </a:prstGeom>
        </p:spPr>
      </p:pic>
      <p:sp>
        <p:nvSpPr>
          <p:cNvPr id="4" name="Text 1"/>
          <p:cNvSpPr/>
          <p:nvPr/>
        </p:nvSpPr>
        <p:spPr>
          <a:xfrm>
            <a:off x="2103120" y="91440"/>
            <a:ext cx="8686800" cy="292608"/>
          </a:xfrm>
          <a:prstGeom prst="rect">
            <a:avLst/>
          </a:prstGeom>
          <a:noFill/>
          <a:ln/>
        </p:spPr>
        <p:txBody>
          <a:bodyPr wrap="square" lIns="0" tIns="0" rIns="0" bIns="0" rtlCol="0" anchor="ctr"/>
          <a:lstStyle/>
          <a:p>
            <a:pPr marL="0" indent="0">
              <a:buNone/>
            </a:pPr>
            <a:r>
              <a:rPr lang="en-US" sz="850" kern="0" spc="250" dirty="0">
                <a:solidFill>
                  <a:srgbClr val="D0DAE4"/>
                </a:solidFill>
                <a:latin typeface="Calibri" pitchFamily="34" charset="0"/>
                <a:ea typeface="Calibri" pitchFamily="34" charset="-122"/>
                <a:cs typeface="Calibri" pitchFamily="34" charset="-120"/>
              </a:rPr>
              <a:t>THE INTEGRATED VIEW  ·  ALL ANALYSTS</a:t>
            </a:r>
            <a:endParaRPr lang="en-US" sz="850" dirty="0"/>
          </a:p>
        </p:txBody>
      </p:sp>
      <p:sp>
        <p:nvSpPr>
          <p:cNvPr id="5" name="Text 2"/>
          <p:cNvSpPr/>
          <p:nvPr/>
        </p:nvSpPr>
        <p:spPr>
          <a:xfrm>
            <a:off x="11064240" y="91440"/>
            <a:ext cx="914400" cy="292608"/>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13 / 17</a:t>
            </a:r>
            <a:endParaRPr lang="en-US" sz="850" dirty="0"/>
          </a:p>
        </p:txBody>
      </p:sp>
      <p:sp>
        <p:nvSpPr>
          <p:cNvPr id="6" name="Shape 3"/>
          <p:cNvSpPr/>
          <p:nvPr/>
        </p:nvSpPr>
        <p:spPr>
          <a:xfrm>
            <a:off x="0" y="6537960"/>
            <a:ext cx="12188952" cy="320040"/>
          </a:xfrm>
          <a:prstGeom prst="rect">
            <a:avLst/>
          </a:prstGeom>
          <a:solidFill>
            <a:srgbClr val="F2F6FA"/>
          </a:solidFill>
          <a:ln w="12700">
            <a:solidFill>
              <a:srgbClr val="D0DAE4"/>
            </a:solidFill>
            <a:prstDash val="solid"/>
          </a:ln>
        </p:spPr>
        <p:txBody>
          <a:bodyPr/>
          <a:lstStyle/>
          <a:p>
            <a:endParaRPr lang="en-US"/>
          </a:p>
        </p:txBody>
      </p:sp>
      <p:sp>
        <p:nvSpPr>
          <p:cNvPr id="7" name="Text 4"/>
          <p:cNvSpPr/>
          <p:nvPr/>
        </p:nvSpPr>
        <p:spPr>
          <a:xfrm>
            <a:off x="274320" y="6565392"/>
            <a:ext cx="6400800" cy="256032"/>
          </a:xfrm>
          <a:prstGeom prst="rect">
            <a:avLst/>
          </a:prstGeom>
          <a:noFill/>
          <a:ln/>
        </p:spPr>
        <p:txBody>
          <a:bodyPr wrap="square" lIns="0" tIns="0" rIns="0" bIns="0" rtlCol="0" anchor="ctr"/>
          <a:lstStyle/>
          <a:p>
            <a:pPr marL="0" indent="0">
              <a:buNone/>
            </a:pPr>
            <a:r>
              <a:rPr lang="en-US" sz="750" dirty="0">
                <a:solidFill>
                  <a:srgbClr val="7B90A6"/>
                </a:solidFill>
                <a:latin typeface="Calibri" pitchFamily="34" charset="0"/>
                <a:ea typeface="Calibri" pitchFamily="34" charset="-122"/>
                <a:cs typeface="Calibri" pitchFamily="34" charset="-120"/>
              </a:rPr>
              <a:t>ClearVision Ventures  ·  Confidential  ·  April 2026</a:t>
            </a:r>
            <a:endParaRPr lang="en-US" sz="750" dirty="0"/>
          </a:p>
        </p:txBody>
      </p:sp>
      <p:sp>
        <p:nvSpPr>
          <p:cNvPr id="8" name="Text 5"/>
          <p:cNvSpPr/>
          <p:nvPr/>
        </p:nvSpPr>
        <p:spPr>
          <a:xfrm>
            <a:off x="411480" y="594360"/>
            <a:ext cx="10972800" cy="228600"/>
          </a:xfrm>
          <a:prstGeom prst="rect">
            <a:avLst/>
          </a:prstGeom>
          <a:noFill/>
          <a:ln/>
        </p:spPr>
        <p:txBody>
          <a:bodyPr wrap="square" lIns="0" tIns="0" rIns="0" bIns="0" rtlCol="0" anchor="ctr"/>
          <a:lstStyle/>
          <a:p>
            <a:pPr marL="0" indent="0">
              <a:buNone/>
            </a:pPr>
            <a:r>
              <a:rPr lang="en-US" sz="850" b="1" kern="0" spc="300" dirty="0">
                <a:solidFill>
                  <a:srgbClr val="2E6DA4"/>
                </a:solidFill>
                <a:latin typeface="Calibri" pitchFamily="34" charset="0"/>
                <a:ea typeface="Calibri" pitchFamily="34" charset="-122"/>
                <a:cs typeface="Calibri" pitchFamily="34" charset="-120"/>
              </a:rPr>
              <a:t>SYNTHESIS</a:t>
            </a:r>
            <a:endParaRPr lang="en-US" sz="850" dirty="0"/>
          </a:p>
        </p:txBody>
      </p:sp>
      <p:sp>
        <p:nvSpPr>
          <p:cNvPr id="9" name="Text 6"/>
          <p:cNvSpPr/>
          <p:nvPr/>
        </p:nvSpPr>
        <p:spPr>
          <a:xfrm>
            <a:off x="411480" y="822960"/>
            <a:ext cx="11338560" cy="713232"/>
          </a:xfrm>
          <a:prstGeom prst="rect">
            <a:avLst/>
          </a:prstGeom>
          <a:noFill/>
          <a:ln/>
        </p:spPr>
        <p:txBody>
          <a:bodyPr wrap="square" lIns="0" tIns="0" rIns="0" bIns="0" rtlCol="0" anchor="ctr"/>
          <a:lstStyle/>
          <a:p>
            <a:pPr marL="0" indent="0">
              <a:buNone/>
            </a:pPr>
            <a:r>
              <a:rPr lang="en-US" sz="2800" b="1" dirty="0">
                <a:solidFill>
                  <a:srgbClr val="0F1E30"/>
                </a:solidFill>
                <a:latin typeface="Calibri" pitchFamily="34" charset="0"/>
                <a:ea typeface="Calibri" pitchFamily="34" charset="-122"/>
                <a:cs typeface="Calibri" pitchFamily="34" charset="-120"/>
              </a:rPr>
              <a:t>Five Layers. One System. You Cannot Optimize One Without the Others.</a:t>
            </a:r>
            <a:endParaRPr lang="en-US" sz="2800" dirty="0"/>
          </a:p>
        </p:txBody>
      </p:sp>
      <p:sp>
        <p:nvSpPr>
          <p:cNvPr id="10" name="Shape 7"/>
          <p:cNvSpPr/>
          <p:nvPr/>
        </p:nvSpPr>
        <p:spPr>
          <a:xfrm>
            <a:off x="411480" y="1536192"/>
            <a:ext cx="1005840" cy="41148"/>
          </a:xfrm>
          <a:prstGeom prst="rect">
            <a:avLst/>
          </a:prstGeom>
          <a:solidFill>
            <a:srgbClr val="2E6DA4"/>
          </a:solidFill>
          <a:ln w="12700">
            <a:solidFill>
              <a:srgbClr val="2E6DA4"/>
            </a:solidFill>
            <a:prstDash val="solid"/>
          </a:ln>
        </p:spPr>
        <p:txBody>
          <a:bodyPr/>
          <a:lstStyle/>
          <a:p>
            <a:endParaRPr lang="en-US"/>
          </a:p>
        </p:txBody>
      </p:sp>
      <p:sp>
        <p:nvSpPr>
          <p:cNvPr id="11" name="Text 8"/>
          <p:cNvSpPr/>
          <p:nvPr/>
        </p:nvSpPr>
        <p:spPr>
          <a:xfrm>
            <a:off x="411480" y="1627632"/>
            <a:ext cx="11338560" cy="475488"/>
          </a:xfrm>
          <a:prstGeom prst="rect">
            <a:avLst/>
          </a:prstGeom>
          <a:noFill/>
          <a:ln/>
        </p:spPr>
        <p:txBody>
          <a:bodyPr wrap="square" lIns="0" tIns="0" rIns="0" bIns="0" rtlCol="0" anchor="ctr"/>
          <a:lstStyle/>
          <a:p>
            <a:pPr marL="0" indent="0">
              <a:buNone/>
            </a:pPr>
            <a:r>
              <a:rPr lang="en-US" sz="1150" i="1" dirty="0">
                <a:solidFill>
                  <a:srgbClr val="2C3E50"/>
                </a:solidFill>
                <a:latin typeface="Calibri" pitchFamily="34" charset="0"/>
                <a:ea typeface="Calibri" pitchFamily="34" charset="-122"/>
                <a:cs typeface="Calibri" pitchFamily="34" charset="-120"/>
              </a:rPr>
              <a:t>A data center CEO cannot solve power without understanding its thermal consequences. Cannot solve cooling without the right software to measure it. Cannot benefit from silicon advances without the interconnects to move data at that speed. These five tracks are one compounding system.</a:t>
            </a:r>
            <a:endParaRPr lang="en-US" sz="1150" dirty="0"/>
          </a:p>
        </p:txBody>
      </p:sp>
      <p:sp>
        <p:nvSpPr>
          <p:cNvPr id="12" name="Shape 9"/>
          <p:cNvSpPr/>
          <p:nvPr/>
        </p:nvSpPr>
        <p:spPr>
          <a:xfrm>
            <a:off x="411480" y="2286000"/>
            <a:ext cx="1572768" cy="1005840"/>
          </a:xfrm>
          <a:prstGeom prst="rect">
            <a:avLst/>
          </a:prstGeom>
          <a:solidFill>
            <a:srgbClr val="8C9BAA"/>
          </a:solidFill>
          <a:ln w="12700">
            <a:solidFill>
              <a:srgbClr val="8C9BAA"/>
            </a:solidFill>
            <a:prstDash val="solid"/>
          </a:ln>
          <a:effectLst>
            <a:outerShdw blurRad="50800" dist="12700" dir="8100000" algn="bl" rotWithShape="0">
              <a:srgbClr val="000000">
                <a:alpha val="9000"/>
              </a:srgbClr>
            </a:outerShdw>
          </a:effectLst>
        </p:spPr>
        <p:txBody>
          <a:bodyPr/>
          <a:lstStyle/>
          <a:p>
            <a:endParaRPr lang="en-US"/>
          </a:p>
        </p:txBody>
      </p:sp>
      <p:sp>
        <p:nvSpPr>
          <p:cNvPr id="13" name="Text 10"/>
          <p:cNvSpPr/>
          <p:nvPr/>
        </p:nvSpPr>
        <p:spPr>
          <a:xfrm>
            <a:off x="484632" y="2487168"/>
            <a:ext cx="1426464" cy="5943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Grid and Utility</a:t>
            </a:r>
            <a:endParaRPr lang="en-US" sz="1050" dirty="0"/>
          </a:p>
        </p:txBody>
      </p:sp>
      <p:sp>
        <p:nvSpPr>
          <p:cNvPr id="14" name="Text 11"/>
          <p:cNvSpPr/>
          <p:nvPr/>
        </p:nvSpPr>
        <p:spPr>
          <a:xfrm>
            <a:off x="2002536" y="2514600"/>
            <a:ext cx="256032" cy="548640"/>
          </a:xfrm>
          <a:prstGeom prst="rect">
            <a:avLst/>
          </a:prstGeom>
          <a:noFill/>
          <a:ln/>
        </p:spPr>
        <p:txBody>
          <a:bodyPr wrap="square" lIns="0" tIns="0" rIns="0" bIns="0" rtlCol="0" anchor="ctr"/>
          <a:lstStyle/>
          <a:p>
            <a:pPr marL="0" indent="0" algn="ctr">
              <a:buNone/>
            </a:pPr>
            <a:r>
              <a:rPr lang="en-US" sz="1800" b="1" dirty="0">
                <a:solidFill>
                  <a:srgbClr val="2E6DA4"/>
                </a:solidFill>
                <a:latin typeface="Calibri" pitchFamily="34" charset="0"/>
                <a:ea typeface="Calibri" pitchFamily="34" charset="-122"/>
                <a:cs typeface="Calibri" pitchFamily="34" charset="-120"/>
              </a:rPr>
              <a:t>→</a:t>
            </a:r>
            <a:endParaRPr lang="en-US" sz="1800" dirty="0"/>
          </a:p>
        </p:txBody>
      </p:sp>
      <p:sp>
        <p:nvSpPr>
          <p:cNvPr id="15" name="Shape 12"/>
          <p:cNvSpPr/>
          <p:nvPr/>
        </p:nvSpPr>
        <p:spPr>
          <a:xfrm>
            <a:off x="2093976" y="2286000"/>
            <a:ext cx="1572768" cy="1005840"/>
          </a:xfrm>
          <a:prstGeom prst="rect">
            <a:avLst/>
          </a:prstGeom>
          <a:solidFill>
            <a:srgbClr val="C8922A"/>
          </a:solidFill>
          <a:ln w="12700">
            <a:solidFill>
              <a:srgbClr val="C8922A"/>
            </a:solidFill>
            <a:prstDash val="solid"/>
          </a:ln>
          <a:effectLst>
            <a:outerShdw blurRad="50800" dist="12700" dir="8100000" algn="bl" rotWithShape="0">
              <a:srgbClr val="000000">
                <a:alpha val="9000"/>
              </a:srgbClr>
            </a:outerShdw>
          </a:effectLst>
        </p:spPr>
        <p:txBody>
          <a:bodyPr/>
          <a:lstStyle/>
          <a:p>
            <a:endParaRPr lang="en-US"/>
          </a:p>
        </p:txBody>
      </p:sp>
      <p:sp>
        <p:nvSpPr>
          <p:cNvPr id="16" name="Text 13"/>
          <p:cNvSpPr/>
          <p:nvPr/>
        </p:nvSpPr>
        <p:spPr>
          <a:xfrm>
            <a:off x="2167128" y="2487168"/>
            <a:ext cx="1426464" cy="5943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HTS Transmission</a:t>
            </a:r>
            <a:endParaRPr lang="en-US" sz="1050" dirty="0"/>
          </a:p>
        </p:txBody>
      </p:sp>
      <p:sp>
        <p:nvSpPr>
          <p:cNvPr id="17" name="Text 14"/>
          <p:cNvSpPr/>
          <p:nvPr/>
        </p:nvSpPr>
        <p:spPr>
          <a:xfrm>
            <a:off x="3685032" y="2514600"/>
            <a:ext cx="256032" cy="548640"/>
          </a:xfrm>
          <a:prstGeom prst="rect">
            <a:avLst/>
          </a:prstGeom>
          <a:noFill/>
          <a:ln/>
        </p:spPr>
        <p:txBody>
          <a:bodyPr wrap="square" lIns="0" tIns="0" rIns="0" bIns="0" rtlCol="0" anchor="ctr"/>
          <a:lstStyle/>
          <a:p>
            <a:pPr marL="0" indent="0" algn="ctr">
              <a:buNone/>
            </a:pPr>
            <a:r>
              <a:rPr lang="en-US" sz="1800" b="1" dirty="0">
                <a:solidFill>
                  <a:srgbClr val="2E6DA4"/>
                </a:solidFill>
                <a:latin typeface="Calibri" pitchFamily="34" charset="0"/>
                <a:ea typeface="Calibri" pitchFamily="34" charset="-122"/>
                <a:cs typeface="Calibri" pitchFamily="34" charset="-120"/>
              </a:rPr>
              <a:t>→</a:t>
            </a:r>
            <a:endParaRPr lang="en-US" sz="1800" dirty="0"/>
          </a:p>
        </p:txBody>
      </p:sp>
      <p:sp>
        <p:nvSpPr>
          <p:cNvPr id="18" name="Shape 15"/>
          <p:cNvSpPr/>
          <p:nvPr/>
        </p:nvSpPr>
        <p:spPr>
          <a:xfrm>
            <a:off x="3776472" y="2286000"/>
            <a:ext cx="1572768" cy="1005840"/>
          </a:xfrm>
          <a:prstGeom prst="rect">
            <a:avLst/>
          </a:prstGeom>
          <a:solidFill>
            <a:srgbClr val="1B3A5C"/>
          </a:solidFill>
          <a:ln w="12700">
            <a:solidFill>
              <a:srgbClr val="1B3A5C"/>
            </a:solidFill>
            <a:prstDash val="solid"/>
          </a:ln>
          <a:effectLst>
            <a:outerShdw blurRad="50800" dist="12700" dir="8100000" algn="bl" rotWithShape="0">
              <a:srgbClr val="000000">
                <a:alpha val="9000"/>
              </a:srgbClr>
            </a:outerShdw>
          </a:effectLst>
        </p:spPr>
        <p:txBody>
          <a:bodyPr/>
          <a:lstStyle/>
          <a:p>
            <a:endParaRPr lang="en-US"/>
          </a:p>
        </p:txBody>
      </p:sp>
      <p:sp>
        <p:nvSpPr>
          <p:cNvPr id="19" name="Text 16"/>
          <p:cNvSpPr/>
          <p:nvPr/>
        </p:nvSpPr>
        <p:spPr>
          <a:xfrm>
            <a:off x="3849624" y="2487168"/>
            <a:ext cx="1426464" cy="5943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GaN Conversion</a:t>
            </a:r>
            <a:endParaRPr lang="en-US" sz="1050" dirty="0"/>
          </a:p>
        </p:txBody>
      </p:sp>
      <p:sp>
        <p:nvSpPr>
          <p:cNvPr id="20" name="Text 17"/>
          <p:cNvSpPr/>
          <p:nvPr/>
        </p:nvSpPr>
        <p:spPr>
          <a:xfrm>
            <a:off x="5367528" y="2514600"/>
            <a:ext cx="256032" cy="548640"/>
          </a:xfrm>
          <a:prstGeom prst="rect">
            <a:avLst/>
          </a:prstGeom>
          <a:noFill/>
          <a:ln/>
        </p:spPr>
        <p:txBody>
          <a:bodyPr wrap="square" lIns="0" tIns="0" rIns="0" bIns="0" rtlCol="0" anchor="ctr"/>
          <a:lstStyle/>
          <a:p>
            <a:pPr marL="0" indent="0" algn="ctr">
              <a:buNone/>
            </a:pPr>
            <a:r>
              <a:rPr lang="en-US" sz="1800" b="1" dirty="0">
                <a:solidFill>
                  <a:srgbClr val="2E6DA4"/>
                </a:solidFill>
                <a:latin typeface="Calibri" pitchFamily="34" charset="0"/>
                <a:ea typeface="Calibri" pitchFamily="34" charset="-122"/>
                <a:cs typeface="Calibri" pitchFamily="34" charset="-120"/>
              </a:rPr>
              <a:t>→</a:t>
            </a:r>
            <a:endParaRPr lang="en-US" sz="1800" dirty="0"/>
          </a:p>
        </p:txBody>
      </p:sp>
      <p:sp>
        <p:nvSpPr>
          <p:cNvPr id="21" name="Shape 18"/>
          <p:cNvSpPr/>
          <p:nvPr/>
        </p:nvSpPr>
        <p:spPr>
          <a:xfrm>
            <a:off x="5458968" y="2286000"/>
            <a:ext cx="1572768" cy="1005840"/>
          </a:xfrm>
          <a:prstGeom prst="rect">
            <a:avLst/>
          </a:prstGeom>
          <a:solidFill>
            <a:srgbClr val="2E6DA4"/>
          </a:solidFill>
          <a:ln w="12700">
            <a:solidFill>
              <a:srgbClr val="2E6DA4"/>
            </a:solidFill>
            <a:prstDash val="solid"/>
          </a:ln>
          <a:effectLst>
            <a:outerShdw blurRad="50800" dist="12700" dir="8100000" algn="bl" rotWithShape="0">
              <a:srgbClr val="000000">
                <a:alpha val="9000"/>
              </a:srgbClr>
            </a:outerShdw>
          </a:effectLst>
        </p:spPr>
        <p:txBody>
          <a:bodyPr/>
          <a:lstStyle/>
          <a:p>
            <a:endParaRPr lang="en-US"/>
          </a:p>
        </p:txBody>
      </p:sp>
      <p:sp>
        <p:nvSpPr>
          <p:cNvPr id="22" name="Text 19"/>
          <p:cNvSpPr/>
          <p:nvPr/>
        </p:nvSpPr>
        <p:spPr>
          <a:xfrm>
            <a:off x="5532120" y="2487168"/>
            <a:ext cx="1426464" cy="5943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Thermal Management</a:t>
            </a:r>
            <a:endParaRPr lang="en-US" sz="1050" dirty="0"/>
          </a:p>
        </p:txBody>
      </p:sp>
      <p:sp>
        <p:nvSpPr>
          <p:cNvPr id="23" name="Text 20"/>
          <p:cNvSpPr/>
          <p:nvPr/>
        </p:nvSpPr>
        <p:spPr>
          <a:xfrm>
            <a:off x="7050024" y="2514600"/>
            <a:ext cx="256032" cy="548640"/>
          </a:xfrm>
          <a:prstGeom prst="rect">
            <a:avLst/>
          </a:prstGeom>
          <a:noFill/>
          <a:ln/>
        </p:spPr>
        <p:txBody>
          <a:bodyPr wrap="square" lIns="0" tIns="0" rIns="0" bIns="0" rtlCol="0" anchor="ctr"/>
          <a:lstStyle/>
          <a:p>
            <a:pPr marL="0" indent="0" algn="ctr">
              <a:buNone/>
            </a:pPr>
            <a:r>
              <a:rPr lang="en-US" sz="1800" b="1" dirty="0">
                <a:solidFill>
                  <a:srgbClr val="2E6DA4"/>
                </a:solidFill>
                <a:latin typeface="Calibri" pitchFamily="34" charset="0"/>
                <a:ea typeface="Calibri" pitchFamily="34" charset="-122"/>
                <a:cs typeface="Calibri" pitchFamily="34" charset="-120"/>
              </a:rPr>
              <a:t>→</a:t>
            </a:r>
            <a:endParaRPr lang="en-US" sz="1800" dirty="0"/>
          </a:p>
        </p:txBody>
      </p:sp>
      <p:sp>
        <p:nvSpPr>
          <p:cNvPr id="24" name="Shape 21"/>
          <p:cNvSpPr/>
          <p:nvPr/>
        </p:nvSpPr>
        <p:spPr>
          <a:xfrm>
            <a:off x="7141464" y="2286000"/>
            <a:ext cx="1572768" cy="1005840"/>
          </a:xfrm>
          <a:prstGeom prst="rect">
            <a:avLst/>
          </a:prstGeom>
          <a:solidFill>
            <a:srgbClr val="5096CC"/>
          </a:solidFill>
          <a:ln w="12700">
            <a:solidFill>
              <a:srgbClr val="5096CC"/>
            </a:solidFill>
            <a:prstDash val="solid"/>
          </a:ln>
          <a:effectLst>
            <a:outerShdw blurRad="50800" dist="12700" dir="8100000" algn="bl" rotWithShape="0">
              <a:srgbClr val="000000">
                <a:alpha val="9000"/>
              </a:srgbClr>
            </a:outerShdw>
          </a:effectLst>
        </p:spPr>
        <p:txBody>
          <a:bodyPr/>
          <a:lstStyle/>
          <a:p>
            <a:endParaRPr lang="en-US"/>
          </a:p>
        </p:txBody>
      </p:sp>
      <p:sp>
        <p:nvSpPr>
          <p:cNvPr id="25" name="Text 22"/>
          <p:cNvSpPr/>
          <p:nvPr/>
        </p:nvSpPr>
        <p:spPr>
          <a:xfrm>
            <a:off x="7214616" y="2487168"/>
            <a:ext cx="1426464" cy="5943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Silicon and Photonics</a:t>
            </a:r>
            <a:endParaRPr lang="en-US" sz="1050" dirty="0"/>
          </a:p>
        </p:txBody>
      </p:sp>
      <p:sp>
        <p:nvSpPr>
          <p:cNvPr id="26" name="Text 23"/>
          <p:cNvSpPr/>
          <p:nvPr/>
        </p:nvSpPr>
        <p:spPr>
          <a:xfrm>
            <a:off x="8732520" y="2514600"/>
            <a:ext cx="256032" cy="548640"/>
          </a:xfrm>
          <a:prstGeom prst="rect">
            <a:avLst/>
          </a:prstGeom>
          <a:noFill/>
          <a:ln/>
        </p:spPr>
        <p:txBody>
          <a:bodyPr wrap="square" lIns="0" tIns="0" rIns="0" bIns="0" rtlCol="0" anchor="ctr"/>
          <a:lstStyle/>
          <a:p>
            <a:pPr marL="0" indent="0" algn="ctr">
              <a:buNone/>
            </a:pPr>
            <a:r>
              <a:rPr lang="en-US" sz="1800" b="1" dirty="0">
                <a:solidFill>
                  <a:srgbClr val="2E6DA4"/>
                </a:solidFill>
                <a:latin typeface="Calibri" pitchFamily="34" charset="0"/>
                <a:ea typeface="Calibri" pitchFamily="34" charset="-122"/>
                <a:cs typeface="Calibri" pitchFamily="34" charset="-120"/>
              </a:rPr>
              <a:t>→</a:t>
            </a:r>
            <a:endParaRPr lang="en-US" sz="1800" dirty="0"/>
          </a:p>
        </p:txBody>
      </p:sp>
      <p:sp>
        <p:nvSpPr>
          <p:cNvPr id="27" name="Shape 24"/>
          <p:cNvSpPr/>
          <p:nvPr/>
        </p:nvSpPr>
        <p:spPr>
          <a:xfrm>
            <a:off x="8823960" y="2286000"/>
            <a:ext cx="1572768" cy="1005840"/>
          </a:xfrm>
          <a:prstGeom prst="rect">
            <a:avLst/>
          </a:prstGeom>
          <a:solidFill>
            <a:srgbClr val="1F7A5C"/>
          </a:solidFill>
          <a:ln w="12700">
            <a:solidFill>
              <a:srgbClr val="1F7A5C"/>
            </a:solidFill>
            <a:prstDash val="solid"/>
          </a:ln>
          <a:effectLst>
            <a:outerShdw blurRad="50800" dist="12700" dir="8100000" algn="bl" rotWithShape="0">
              <a:srgbClr val="000000">
                <a:alpha val="9000"/>
              </a:srgbClr>
            </a:outerShdw>
          </a:effectLst>
        </p:spPr>
        <p:txBody>
          <a:bodyPr/>
          <a:lstStyle/>
          <a:p>
            <a:endParaRPr lang="en-US"/>
          </a:p>
        </p:txBody>
      </p:sp>
      <p:sp>
        <p:nvSpPr>
          <p:cNvPr id="28" name="Text 25"/>
          <p:cNvSpPr/>
          <p:nvPr/>
        </p:nvSpPr>
        <p:spPr>
          <a:xfrm>
            <a:off x="8897112" y="2487168"/>
            <a:ext cx="1426464" cy="5943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Software Orchestration</a:t>
            </a:r>
            <a:endParaRPr lang="en-US" sz="1050" dirty="0"/>
          </a:p>
        </p:txBody>
      </p:sp>
      <p:sp>
        <p:nvSpPr>
          <p:cNvPr id="29" name="Text 26"/>
          <p:cNvSpPr/>
          <p:nvPr/>
        </p:nvSpPr>
        <p:spPr>
          <a:xfrm>
            <a:off x="10415016" y="2514600"/>
            <a:ext cx="256032" cy="548640"/>
          </a:xfrm>
          <a:prstGeom prst="rect">
            <a:avLst/>
          </a:prstGeom>
          <a:noFill/>
          <a:ln/>
        </p:spPr>
        <p:txBody>
          <a:bodyPr wrap="square" lIns="0" tIns="0" rIns="0" bIns="0" rtlCol="0" anchor="ctr"/>
          <a:lstStyle/>
          <a:p>
            <a:pPr marL="0" indent="0" algn="ctr">
              <a:buNone/>
            </a:pPr>
            <a:r>
              <a:rPr lang="en-US" sz="1800" b="1" dirty="0">
                <a:solidFill>
                  <a:srgbClr val="2E6DA4"/>
                </a:solidFill>
                <a:latin typeface="Calibri" pitchFamily="34" charset="0"/>
                <a:ea typeface="Calibri" pitchFamily="34" charset="-122"/>
                <a:cs typeface="Calibri" pitchFamily="34" charset="-120"/>
              </a:rPr>
              <a:t>→</a:t>
            </a:r>
            <a:endParaRPr lang="en-US" sz="1800" dirty="0"/>
          </a:p>
        </p:txBody>
      </p:sp>
      <p:sp>
        <p:nvSpPr>
          <p:cNvPr id="30" name="Shape 27"/>
          <p:cNvSpPr/>
          <p:nvPr/>
        </p:nvSpPr>
        <p:spPr>
          <a:xfrm>
            <a:off x="10506456" y="2286000"/>
            <a:ext cx="1572768" cy="1005840"/>
          </a:xfrm>
          <a:prstGeom prst="rect">
            <a:avLst/>
          </a:prstGeom>
          <a:solidFill>
            <a:srgbClr val="0F1E30"/>
          </a:solidFill>
          <a:ln w="12700">
            <a:solidFill>
              <a:srgbClr val="0F1E30"/>
            </a:solidFill>
            <a:prstDash val="solid"/>
          </a:ln>
          <a:effectLst>
            <a:outerShdw blurRad="50800" dist="12700" dir="8100000" algn="bl" rotWithShape="0">
              <a:srgbClr val="000000">
                <a:alpha val="9000"/>
              </a:srgbClr>
            </a:outerShdw>
          </a:effectLst>
        </p:spPr>
        <p:txBody>
          <a:bodyPr/>
          <a:lstStyle/>
          <a:p>
            <a:endParaRPr lang="en-US"/>
          </a:p>
        </p:txBody>
      </p:sp>
      <p:sp>
        <p:nvSpPr>
          <p:cNvPr id="31" name="Text 28"/>
          <p:cNvSpPr/>
          <p:nvPr/>
        </p:nvSpPr>
        <p:spPr>
          <a:xfrm>
            <a:off x="10579608" y="2487168"/>
            <a:ext cx="1426464" cy="5943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AI Output</a:t>
            </a:r>
            <a:endParaRPr lang="en-US" sz="1050" dirty="0"/>
          </a:p>
        </p:txBody>
      </p:sp>
      <p:sp>
        <p:nvSpPr>
          <p:cNvPr id="32" name="Shape 29"/>
          <p:cNvSpPr/>
          <p:nvPr/>
        </p:nvSpPr>
        <p:spPr>
          <a:xfrm>
            <a:off x="411480" y="3493008"/>
            <a:ext cx="3657600" cy="1719072"/>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33" name="Shape 30"/>
          <p:cNvSpPr/>
          <p:nvPr/>
        </p:nvSpPr>
        <p:spPr>
          <a:xfrm>
            <a:off x="411480" y="3493008"/>
            <a:ext cx="3657600" cy="50292"/>
          </a:xfrm>
          <a:prstGeom prst="rect">
            <a:avLst/>
          </a:prstGeom>
          <a:solidFill>
            <a:srgbClr val="2E6DA4"/>
          </a:solidFill>
          <a:ln w="12700">
            <a:solidFill>
              <a:srgbClr val="2E6DA4"/>
            </a:solidFill>
            <a:prstDash val="solid"/>
          </a:ln>
        </p:spPr>
        <p:txBody>
          <a:bodyPr/>
          <a:lstStyle/>
          <a:p>
            <a:endParaRPr lang="en-US"/>
          </a:p>
        </p:txBody>
      </p:sp>
      <p:sp>
        <p:nvSpPr>
          <p:cNvPr id="34" name="Text 31"/>
          <p:cNvSpPr/>
          <p:nvPr/>
        </p:nvSpPr>
        <p:spPr>
          <a:xfrm>
            <a:off x="557784" y="3566160"/>
            <a:ext cx="3364992" cy="292608"/>
          </a:xfrm>
          <a:prstGeom prst="rect">
            <a:avLst/>
          </a:prstGeom>
          <a:noFill/>
          <a:ln/>
        </p:spPr>
        <p:txBody>
          <a:bodyPr wrap="square" lIns="0" tIns="0" rIns="0" bIns="0" rtlCol="0" anchor="ctr"/>
          <a:lstStyle/>
          <a:p>
            <a:pPr marL="0" indent="0">
              <a:buNone/>
            </a:pPr>
            <a:r>
              <a:rPr lang="en-US" sz="1200" b="1" dirty="0">
                <a:solidFill>
                  <a:srgbClr val="0F1E30"/>
                </a:solidFill>
                <a:latin typeface="Calibri" pitchFamily="34" charset="0"/>
                <a:ea typeface="Calibri" pitchFamily="34" charset="-122"/>
                <a:cs typeface="Calibri" pitchFamily="34" charset="-120"/>
              </a:rPr>
              <a:t>Power and Cooling</a:t>
            </a:r>
            <a:endParaRPr lang="en-US" sz="1200" dirty="0"/>
          </a:p>
        </p:txBody>
      </p:sp>
      <p:sp>
        <p:nvSpPr>
          <p:cNvPr id="35" name="Text 32"/>
          <p:cNvSpPr/>
          <p:nvPr/>
        </p:nvSpPr>
        <p:spPr>
          <a:xfrm>
            <a:off x="557784" y="3886200"/>
            <a:ext cx="3364992" cy="1234440"/>
          </a:xfrm>
          <a:prstGeom prst="rect">
            <a:avLst/>
          </a:prstGeom>
          <a:noFill/>
          <a:ln/>
        </p:spPr>
        <p:txBody>
          <a:bodyPr wrap="square" lIns="0" tIns="0" rIns="0" bIns="0" rtlCol="0" anchor="t"/>
          <a:lstStyle/>
          <a:p>
            <a:pPr marL="0" indent="0">
              <a:buNone/>
            </a:pPr>
            <a:r>
              <a:rPr lang="en-US" sz="950" dirty="0">
                <a:solidFill>
                  <a:srgbClr val="2C3E50"/>
                </a:solidFill>
                <a:latin typeface="Calibri" pitchFamily="34" charset="0"/>
                <a:ea typeface="Calibri" pitchFamily="34" charset="-122"/>
                <a:cs typeface="Calibri" pitchFamily="34" charset="-120"/>
              </a:rPr>
              <a:t>Every watt delivered by GaN at 97% efficiency still generates 3% heat at scale. At 1MW per rack that is 30kW of thermal load per rack before cooling is considered. Power architecture decisions lock in cooling requirements before construction begins.</a:t>
            </a:r>
            <a:endParaRPr lang="en-US" sz="950" dirty="0"/>
          </a:p>
        </p:txBody>
      </p:sp>
      <p:sp>
        <p:nvSpPr>
          <p:cNvPr id="36" name="Shape 33"/>
          <p:cNvSpPr/>
          <p:nvPr/>
        </p:nvSpPr>
        <p:spPr>
          <a:xfrm>
            <a:off x="4343400" y="3493008"/>
            <a:ext cx="3657600" cy="1719072"/>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37" name="Shape 34"/>
          <p:cNvSpPr/>
          <p:nvPr/>
        </p:nvSpPr>
        <p:spPr>
          <a:xfrm>
            <a:off x="4343400" y="3493008"/>
            <a:ext cx="3657600" cy="50292"/>
          </a:xfrm>
          <a:prstGeom prst="rect">
            <a:avLst/>
          </a:prstGeom>
          <a:solidFill>
            <a:srgbClr val="2E6DA4"/>
          </a:solidFill>
          <a:ln w="12700">
            <a:solidFill>
              <a:srgbClr val="2E6DA4"/>
            </a:solidFill>
            <a:prstDash val="solid"/>
          </a:ln>
        </p:spPr>
        <p:txBody>
          <a:bodyPr/>
          <a:lstStyle/>
          <a:p>
            <a:endParaRPr lang="en-US"/>
          </a:p>
        </p:txBody>
      </p:sp>
      <p:sp>
        <p:nvSpPr>
          <p:cNvPr id="38" name="Text 35"/>
          <p:cNvSpPr/>
          <p:nvPr/>
        </p:nvSpPr>
        <p:spPr>
          <a:xfrm>
            <a:off x="4489704" y="3566160"/>
            <a:ext cx="3364992" cy="292608"/>
          </a:xfrm>
          <a:prstGeom prst="rect">
            <a:avLst/>
          </a:prstGeom>
          <a:noFill/>
          <a:ln/>
        </p:spPr>
        <p:txBody>
          <a:bodyPr wrap="square" lIns="0" tIns="0" rIns="0" bIns="0" rtlCol="0" anchor="ctr"/>
          <a:lstStyle/>
          <a:p>
            <a:pPr marL="0" indent="0">
              <a:buNone/>
            </a:pPr>
            <a:r>
              <a:rPr lang="en-US" sz="1200" b="1" dirty="0">
                <a:solidFill>
                  <a:srgbClr val="0F1E30"/>
                </a:solidFill>
                <a:latin typeface="Calibri" pitchFamily="34" charset="0"/>
                <a:ea typeface="Calibri" pitchFamily="34" charset="-122"/>
                <a:cs typeface="Calibri" pitchFamily="34" charset="-120"/>
              </a:rPr>
              <a:t>Cooling and Software</a:t>
            </a:r>
            <a:endParaRPr lang="en-US" sz="1200" dirty="0"/>
          </a:p>
        </p:txBody>
      </p:sp>
      <p:sp>
        <p:nvSpPr>
          <p:cNvPr id="39" name="Text 36"/>
          <p:cNvSpPr/>
          <p:nvPr/>
        </p:nvSpPr>
        <p:spPr>
          <a:xfrm>
            <a:off x="4489704" y="3886200"/>
            <a:ext cx="3364992" cy="1234440"/>
          </a:xfrm>
          <a:prstGeom prst="rect">
            <a:avLst/>
          </a:prstGeom>
          <a:noFill/>
          <a:ln/>
        </p:spPr>
        <p:txBody>
          <a:bodyPr wrap="square" lIns="0" tIns="0" rIns="0" bIns="0" rtlCol="0" anchor="t"/>
          <a:lstStyle/>
          <a:p>
            <a:pPr marL="0" indent="0">
              <a:buNone/>
            </a:pPr>
            <a:r>
              <a:rPr lang="en-US" sz="950" dirty="0">
                <a:solidFill>
                  <a:srgbClr val="2C3E50"/>
                </a:solidFill>
                <a:latin typeface="Calibri" pitchFamily="34" charset="0"/>
                <a:ea typeface="Calibri" pitchFamily="34" charset="-122"/>
                <a:cs typeface="Calibri" pitchFamily="34" charset="-120"/>
              </a:rPr>
              <a:t>AI native DCIM is the feedback loop that connects thermal sensors to workload scheduling. Without software that understands thermal state in real time, even the best cooling infrastructure operates at static set points and leaves efficiency unrealized.</a:t>
            </a:r>
            <a:endParaRPr lang="en-US" sz="950" dirty="0"/>
          </a:p>
        </p:txBody>
      </p:sp>
      <p:sp>
        <p:nvSpPr>
          <p:cNvPr id="40" name="Shape 37"/>
          <p:cNvSpPr/>
          <p:nvPr/>
        </p:nvSpPr>
        <p:spPr>
          <a:xfrm>
            <a:off x="8275320" y="3493008"/>
            <a:ext cx="3657600" cy="1719072"/>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41" name="Shape 38"/>
          <p:cNvSpPr/>
          <p:nvPr/>
        </p:nvSpPr>
        <p:spPr>
          <a:xfrm>
            <a:off x="8275320" y="3493008"/>
            <a:ext cx="3657600" cy="50292"/>
          </a:xfrm>
          <a:prstGeom prst="rect">
            <a:avLst/>
          </a:prstGeom>
          <a:solidFill>
            <a:srgbClr val="2E6DA4"/>
          </a:solidFill>
          <a:ln w="12700">
            <a:solidFill>
              <a:srgbClr val="2E6DA4"/>
            </a:solidFill>
            <a:prstDash val="solid"/>
          </a:ln>
        </p:spPr>
        <p:txBody>
          <a:bodyPr/>
          <a:lstStyle/>
          <a:p>
            <a:endParaRPr lang="en-US"/>
          </a:p>
        </p:txBody>
      </p:sp>
      <p:sp>
        <p:nvSpPr>
          <p:cNvPr id="42" name="Text 39"/>
          <p:cNvSpPr/>
          <p:nvPr/>
        </p:nvSpPr>
        <p:spPr>
          <a:xfrm>
            <a:off x="8421624" y="3566160"/>
            <a:ext cx="3364992" cy="292608"/>
          </a:xfrm>
          <a:prstGeom prst="rect">
            <a:avLst/>
          </a:prstGeom>
          <a:noFill/>
          <a:ln/>
        </p:spPr>
        <p:txBody>
          <a:bodyPr wrap="square" lIns="0" tIns="0" rIns="0" bIns="0" rtlCol="0" anchor="ctr"/>
          <a:lstStyle/>
          <a:p>
            <a:pPr marL="0" indent="0">
              <a:buNone/>
            </a:pPr>
            <a:r>
              <a:rPr lang="en-US" sz="1200" b="1" dirty="0">
                <a:solidFill>
                  <a:srgbClr val="0F1E30"/>
                </a:solidFill>
                <a:latin typeface="Calibri" pitchFamily="34" charset="0"/>
                <a:ea typeface="Calibri" pitchFamily="34" charset="-122"/>
                <a:cs typeface="Calibri" pitchFamily="34" charset="-120"/>
              </a:rPr>
              <a:t>Photonics and Silicon</a:t>
            </a:r>
            <a:endParaRPr lang="en-US" sz="1200" dirty="0"/>
          </a:p>
        </p:txBody>
      </p:sp>
      <p:sp>
        <p:nvSpPr>
          <p:cNvPr id="43" name="Text 40"/>
          <p:cNvSpPr/>
          <p:nvPr/>
        </p:nvSpPr>
        <p:spPr>
          <a:xfrm>
            <a:off x="8421624" y="3886200"/>
            <a:ext cx="3364992" cy="1234440"/>
          </a:xfrm>
          <a:prstGeom prst="rect">
            <a:avLst/>
          </a:prstGeom>
          <a:noFill/>
          <a:ln/>
        </p:spPr>
        <p:txBody>
          <a:bodyPr wrap="square" lIns="0" tIns="0" rIns="0" bIns="0" rtlCol="0" anchor="t"/>
          <a:lstStyle/>
          <a:p>
            <a:pPr marL="0" indent="0">
              <a:buNone/>
            </a:pPr>
            <a:r>
              <a:rPr lang="en-US" sz="950" dirty="0">
                <a:solidFill>
                  <a:srgbClr val="2C3E50"/>
                </a:solidFill>
                <a:latin typeface="Calibri" pitchFamily="34" charset="0"/>
                <a:ea typeface="Calibri" pitchFamily="34" charset="-122"/>
                <a:cs typeface="Calibri" pitchFamily="34" charset="-120"/>
              </a:rPr>
              <a:t>Silicon photonics is not a separate category from the accelerator layer. It is the interconnect that makes GPU clusters function at full capacity. A data center investing in NVIDIA Vera Rubin NVL576 without securing photonic interconnect supply has built a runway with no landing lights.</a:t>
            </a:r>
            <a:endParaRPr lang="en-US" sz="950" dirty="0"/>
          </a:p>
        </p:txBody>
      </p:sp>
      <p:sp>
        <p:nvSpPr>
          <p:cNvPr id="44" name="Shape 41"/>
          <p:cNvSpPr/>
          <p:nvPr/>
        </p:nvSpPr>
        <p:spPr>
          <a:xfrm>
            <a:off x="411480" y="5394960"/>
            <a:ext cx="11365992" cy="914400"/>
          </a:xfrm>
          <a:prstGeom prst="rect">
            <a:avLst/>
          </a:prstGeom>
          <a:solidFill>
            <a:srgbClr val="1B3A5C"/>
          </a:solidFill>
          <a:ln w="12700">
            <a:solidFill>
              <a:srgbClr val="1B3A5C"/>
            </a:solidFill>
            <a:prstDash val="solid"/>
          </a:ln>
          <a:effectLst>
            <a:outerShdw blurRad="88900" dist="25400" dir="8100000" algn="bl" rotWithShape="0">
              <a:srgbClr val="000000">
                <a:alpha val="11000"/>
              </a:srgbClr>
            </a:outerShdw>
          </a:effectLst>
        </p:spPr>
        <p:txBody>
          <a:bodyPr/>
          <a:lstStyle/>
          <a:p>
            <a:endParaRPr lang="en-US"/>
          </a:p>
        </p:txBody>
      </p:sp>
      <p:sp>
        <p:nvSpPr>
          <p:cNvPr id="45" name="Text 42"/>
          <p:cNvSpPr/>
          <p:nvPr/>
        </p:nvSpPr>
        <p:spPr>
          <a:xfrm>
            <a:off x="594360" y="5504688"/>
            <a:ext cx="10972800" cy="658368"/>
          </a:xfrm>
          <a:prstGeom prst="rect">
            <a:avLst/>
          </a:prstGeom>
          <a:noFill/>
          <a:ln/>
        </p:spPr>
        <p:txBody>
          <a:bodyPr wrap="square" lIns="0" tIns="0" rIns="0" bIns="0" rtlCol="0" anchor="ctr"/>
          <a:lstStyle/>
          <a:p>
            <a:pPr marL="0" indent="0">
              <a:buNone/>
            </a:pPr>
            <a:r>
              <a:rPr lang="en-US" sz="1150" i="1" dirty="0">
                <a:solidFill>
                  <a:srgbClr val="F2F6FA"/>
                </a:solidFill>
                <a:latin typeface="Calibri" pitchFamily="34" charset="0"/>
                <a:ea typeface="Calibri" pitchFamily="34" charset="-122"/>
                <a:cs typeface="Calibri" pitchFamily="34" charset="-120"/>
              </a:rPr>
              <a:t>The data center company that wins the next decade is not the one with the most capital. It is the one that sequences these five investments correctly and understands their dependencies before committing. That sequencing is what the next two slides make explicit.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75488"/>
          </a:xfrm>
          <a:prstGeom prst="rect">
            <a:avLst/>
          </a:prstGeom>
          <a:solidFill>
            <a:srgbClr val="1B3A5C"/>
          </a:solidFill>
          <a:ln w="12700">
            <a:solidFill>
              <a:srgbClr val="1B3A5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28600" y="45720"/>
            <a:ext cx="1600200" cy="384048"/>
          </a:xfrm>
          <a:prstGeom prst="rect">
            <a:avLst/>
          </a:prstGeom>
        </p:spPr>
      </p:pic>
      <p:sp>
        <p:nvSpPr>
          <p:cNvPr id="4" name="Text 1"/>
          <p:cNvSpPr/>
          <p:nvPr/>
        </p:nvSpPr>
        <p:spPr>
          <a:xfrm>
            <a:off x="2103120" y="91440"/>
            <a:ext cx="8686800" cy="292608"/>
          </a:xfrm>
          <a:prstGeom prst="rect">
            <a:avLst/>
          </a:prstGeom>
          <a:noFill/>
          <a:ln/>
        </p:spPr>
        <p:txBody>
          <a:bodyPr wrap="square" lIns="0" tIns="0" rIns="0" bIns="0" rtlCol="0" anchor="ctr"/>
          <a:lstStyle/>
          <a:p>
            <a:pPr marL="0" indent="0">
              <a:buNone/>
            </a:pPr>
            <a:r>
              <a:rPr lang="en-US" sz="850" kern="0" spc="250" dirty="0">
                <a:solidFill>
                  <a:srgbClr val="D0DAE4"/>
                </a:solidFill>
                <a:latin typeface="Calibri" pitchFamily="34" charset="0"/>
                <a:ea typeface="Calibri" pitchFamily="34" charset="-122"/>
                <a:cs typeface="Calibri" pitchFamily="34" charset="-120"/>
              </a:rPr>
              <a:t>RISK ASSESSMENT  ·  ALL ANALYSTS</a:t>
            </a:r>
            <a:endParaRPr lang="en-US" sz="850" dirty="0"/>
          </a:p>
        </p:txBody>
      </p:sp>
      <p:sp>
        <p:nvSpPr>
          <p:cNvPr id="5" name="Text 2"/>
          <p:cNvSpPr/>
          <p:nvPr/>
        </p:nvSpPr>
        <p:spPr>
          <a:xfrm>
            <a:off x="11064240" y="91440"/>
            <a:ext cx="914400" cy="292608"/>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14 / 17</a:t>
            </a:r>
            <a:endParaRPr lang="en-US" sz="850" dirty="0"/>
          </a:p>
        </p:txBody>
      </p:sp>
      <p:sp>
        <p:nvSpPr>
          <p:cNvPr id="6" name="Shape 3"/>
          <p:cNvSpPr/>
          <p:nvPr/>
        </p:nvSpPr>
        <p:spPr>
          <a:xfrm>
            <a:off x="0" y="6537960"/>
            <a:ext cx="12188952" cy="320040"/>
          </a:xfrm>
          <a:prstGeom prst="rect">
            <a:avLst/>
          </a:prstGeom>
          <a:solidFill>
            <a:srgbClr val="F2F6FA"/>
          </a:solidFill>
          <a:ln w="12700">
            <a:solidFill>
              <a:srgbClr val="D0DAE4"/>
            </a:solidFill>
            <a:prstDash val="solid"/>
          </a:ln>
        </p:spPr>
        <p:txBody>
          <a:bodyPr/>
          <a:lstStyle/>
          <a:p>
            <a:endParaRPr lang="en-US"/>
          </a:p>
        </p:txBody>
      </p:sp>
      <p:sp>
        <p:nvSpPr>
          <p:cNvPr id="7" name="Text 4"/>
          <p:cNvSpPr/>
          <p:nvPr/>
        </p:nvSpPr>
        <p:spPr>
          <a:xfrm>
            <a:off x="274320" y="6565392"/>
            <a:ext cx="6400800" cy="256032"/>
          </a:xfrm>
          <a:prstGeom prst="rect">
            <a:avLst/>
          </a:prstGeom>
          <a:noFill/>
          <a:ln/>
        </p:spPr>
        <p:txBody>
          <a:bodyPr wrap="square" lIns="0" tIns="0" rIns="0" bIns="0" rtlCol="0" anchor="ctr"/>
          <a:lstStyle/>
          <a:p>
            <a:pPr marL="0" indent="0">
              <a:buNone/>
            </a:pPr>
            <a:r>
              <a:rPr lang="en-US" sz="750" dirty="0">
                <a:solidFill>
                  <a:srgbClr val="7B90A6"/>
                </a:solidFill>
                <a:latin typeface="Calibri" pitchFamily="34" charset="0"/>
                <a:ea typeface="Calibri" pitchFamily="34" charset="-122"/>
                <a:cs typeface="Calibri" pitchFamily="34" charset="-120"/>
              </a:rPr>
              <a:t>ClearVision Ventures  ·  Confidential  ·  April 2026</a:t>
            </a:r>
            <a:endParaRPr lang="en-US" sz="750" dirty="0"/>
          </a:p>
        </p:txBody>
      </p:sp>
      <p:sp>
        <p:nvSpPr>
          <p:cNvPr id="8" name="Text 5"/>
          <p:cNvSpPr/>
          <p:nvPr/>
        </p:nvSpPr>
        <p:spPr>
          <a:xfrm>
            <a:off x="411480" y="594360"/>
            <a:ext cx="10972800" cy="228600"/>
          </a:xfrm>
          <a:prstGeom prst="rect">
            <a:avLst/>
          </a:prstGeom>
          <a:noFill/>
          <a:ln/>
        </p:spPr>
        <p:txBody>
          <a:bodyPr wrap="square" lIns="0" tIns="0" rIns="0" bIns="0" rtlCol="0" anchor="ctr"/>
          <a:lstStyle/>
          <a:p>
            <a:pPr marL="0" indent="0">
              <a:buNone/>
            </a:pPr>
            <a:r>
              <a:rPr lang="en-US" sz="850" b="1" kern="0" spc="300" dirty="0">
                <a:solidFill>
                  <a:srgbClr val="2E6DA4"/>
                </a:solidFill>
                <a:latin typeface="Calibri" pitchFamily="34" charset="0"/>
                <a:ea typeface="Calibri" pitchFamily="34" charset="-122"/>
                <a:cs typeface="Calibri" pitchFamily="34" charset="-120"/>
              </a:rPr>
              <a:t>KNOW WHAT CAN GO WRONG</a:t>
            </a:r>
            <a:endParaRPr lang="en-US" sz="850" dirty="0"/>
          </a:p>
        </p:txBody>
      </p:sp>
      <p:sp>
        <p:nvSpPr>
          <p:cNvPr id="9" name="Text 6"/>
          <p:cNvSpPr/>
          <p:nvPr/>
        </p:nvSpPr>
        <p:spPr>
          <a:xfrm>
            <a:off x="411480" y="822960"/>
            <a:ext cx="11338560" cy="713232"/>
          </a:xfrm>
          <a:prstGeom prst="rect">
            <a:avLst/>
          </a:prstGeom>
          <a:noFill/>
          <a:ln/>
        </p:spPr>
        <p:txBody>
          <a:bodyPr wrap="square" lIns="0" tIns="0" rIns="0" bIns="0" rtlCol="0" anchor="ctr"/>
          <a:lstStyle/>
          <a:p>
            <a:pPr marL="0" indent="0">
              <a:buNone/>
            </a:pPr>
            <a:r>
              <a:rPr lang="en-US" sz="2800" b="1" dirty="0">
                <a:solidFill>
                  <a:srgbClr val="0F1E30"/>
                </a:solidFill>
                <a:latin typeface="Calibri" pitchFamily="34" charset="0"/>
                <a:ea typeface="Calibri" pitchFamily="34" charset="-122"/>
                <a:cs typeface="Calibri" pitchFamily="34" charset="-120"/>
              </a:rPr>
              <a:t>Six Risks That Require Active Management</a:t>
            </a:r>
            <a:endParaRPr lang="en-US" sz="2800" dirty="0"/>
          </a:p>
        </p:txBody>
      </p:sp>
      <p:sp>
        <p:nvSpPr>
          <p:cNvPr id="10" name="Shape 7"/>
          <p:cNvSpPr/>
          <p:nvPr/>
        </p:nvSpPr>
        <p:spPr>
          <a:xfrm>
            <a:off x="411480" y="1536192"/>
            <a:ext cx="1005840" cy="41148"/>
          </a:xfrm>
          <a:prstGeom prst="rect">
            <a:avLst/>
          </a:prstGeom>
          <a:solidFill>
            <a:srgbClr val="2E6DA4"/>
          </a:solidFill>
          <a:ln w="12700">
            <a:solidFill>
              <a:srgbClr val="2E6DA4"/>
            </a:solidFill>
            <a:prstDash val="solid"/>
          </a:ln>
        </p:spPr>
        <p:txBody>
          <a:bodyPr/>
          <a:lstStyle/>
          <a:p>
            <a:endParaRPr lang="en-US"/>
          </a:p>
        </p:txBody>
      </p:sp>
      <p:sp>
        <p:nvSpPr>
          <p:cNvPr id="11" name="Text 8"/>
          <p:cNvSpPr/>
          <p:nvPr/>
        </p:nvSpPr>
        <p:spPr>
          <a:xfrm>
            <a:off x="411480" y="1627632"/>
            <a:ext cx="11338560" cy="384048"/>
          </a:xfrm>
          <a:prstGeom prst="rect">
            <a:avLst/>
          </a:prstGeom>
          <a:noFill/>
          <a:ln/>
        </p:spPr>
        <p:txBody>
          <a:bodyPr wrap="square" lIns="0" tIns="0" rIns="0" bIns="0" rtlCol="0" anchor="ctr"/>
          <a:lstStyle/>
          <a:p>
            <a:pPr marL="0" indent="0">
              <a:buNone/>
            </a:pPr>
            <a:r>
              <a:rPr lang="en-US" sz="1150" i="1" dirty="0">
                <a:solidFill>
                  <a:srgbClr val="2C3E50"/>
                </a:solidFill>
                <a:latin typeface="Calibri" pitchFamily="34" charset="0"/>
                <a:ea typeface="Calibri" pitchFamily="34" charset="-122"/>
                <a:cs typeface="Calibri" pitchFamily="34" charset="-120"/>
              </a:rPr>
              <a:t>Strong theses fail when risks are identified too late to act on them. Each of the six risks below has a known trigger, a knowable timeline, and a specific mitigation available right now.</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2103120"/>
          <a:ext cx="11365992" cy="4160520"/>
        </p:xfrm>
        <a:graphic>
          <a:graphicData uri="http://schemas.openxmlformats.org/drawingml/2006/table">
            <a:tbl>
              <a:tblPr/>
              <a:tblGrid>
                <a:gridCol w="2011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04672">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gridCol w="1115568">
                  <a:extLst>
                    <a:ext uri="{9D8B030D-6E8A-4147-A177-3AD203B41FA5}">
                      <a16:colId xmlns:a16="http://schemas.microsoft.com/office/drawing/2014/main" val="20004"/>
                    </a:ext>
                  </a:extLst>
                </a:gridCol>
                <a:gridCol w="4846320">
                  <a:extLst>
                    <a:ext uri="{9D8B030D-6E8A-4147-A177-3AD203B41FA5}">
                      <a16:colId xmlns:a16="http://schemas.microsoft.com/office/drawing/2014/main" val="20005"/>
                    </a:ext>
                  </a:extLst>
                </a:gridCol>
              </a:tblGrid>
              <a:tr h="34747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1B3A5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Probability</a:t>
                      </a:r>
                      <a:endParaRPr lang="en-US" sz="10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1B3A5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Who It Hits</a:t>
                      </a:r>
                      <a:endParaRPr lang="en-US" sz="10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1B3A5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When</a:t>
                      </a:r>
                      <a:endParaRPr lang="en-US" sz="10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Mitigation</a:t>
                      </a:r>
                      <a:endParaRPr lang="en-US" sz="10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621792">
                <a:tc>
                  <a:txBody>
                    <a:bodyPr/>
                    <a:lstStyle/>
                    <a:p>
                      <a:pPr marL="0" indent="0">
                        <a:buNone/>
                      </a:pPr>
                      <a:r>
                        <a:rPr lang="en-US" sz="950" b="1" dirty="0">
                          <a:solidFill>
                            <a:srgbClr val="0F1E30"/>
                          </a:solidFill>
                          <a:latin typeface="Calibri" pitchFamily="34" charset="0"/>
                          <a:ea typeface="Calibri" pitchFamily="34" charset="-122"/>
                          <a:cs typeface="Calibri" pitchFamily="34" charset="-120"/>
                        </a:rPr>
                        <a:t>China Gallium Ban Reinstated</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Severe</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All GaN dependent builds</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November 27 2026</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Invest in MTM Critical Metals for domestic gallium recovery. Navitas and GlobalFoundries US partnership reduces but does not eliminate exposure.</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extLst>
                  <a:ext uri="{0D108BD9-81ED-4DB2-BD59-A6C34878D82A}">
                    <a16:rowId xmlns:a16="http://schemas.microsoft.com/office/drawing/2014/main" val="10001"/>
                  </a:ext>
                </a:extLst>
              </a:tr>
              <a:tr h="621792">
                <a:tc>
                  <a:txBody>
                    <a:bodyPr/>
                    <a:lstStyle/>
                    <a:p>
                      <a:pPr marL="0" indent="0">
                        <a:buNone/>
                      </a:pPr>
                      <a:r>
                        <a:rPr lang="en-US" sz="950" b="1" dirty="0">
                          <a:solidFill>
                            <a:srgbClr val="0F1E30"/>
                          </a:solidFill>
                          <a:latin typeface="Calibri" pitchFamily="34" charset="0"/>
                          <a:ea typeface="Calibri" pitchFamily="34" charset="-122"/>
                          <a:cs typeface="Calibri" pitchFamily="34" charset="-120"/>
                        </a:rPr>
                        <a:t>HTS Commercialization Delayed Beyond 2028</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C8922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Hyperscale campus builds</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2028 onward</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GaN bridges the gap at the conversion layer. Maintain copper contingency for campus feed until pilot data confirms VEIR commercial readiness.</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1792">
                <a:tc>
                  <a:txBody>
                    <a:bodyPr/>
                    <a:lstStyle/>
                    <a:p>
                      <a:pPr marL="0" indent="0">
                        <a:buNone/>
                      </a:pPr>
                      <a:r>
                        <a:rPr lang="en-US" sz="950" b="1" dirty="0">
                          <a:solidFill>
                            <a:srgbClr val="0F1E30"/>
                          </a:solidFill>
                          <a:latin typeface="Calibri" pitchFamily="34" charset="0"/>
                          <a:ea typeface="Calibri" pitchFamily="34" charset="-122"/>
                          <a:cs typeface="Calibri" pitchFamily="34" charset="-120"/>
                        </a:rPr>
                        <a:t>InP Laser Shortage Extends to 2028</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All photonics dependent builds</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Immediate</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Secure multi year supply agreements with Coherent or Lumentum now. Budget alone will not secure allocation. POET Technologies as structural hedge.</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extLst>
                  <a:ext uri="{0D108BD9-81ED-4DB2-BD59-A6C34878D82A}">
                    <a16:rowId xmlns:a16="http://schemas.microsoft.com/office/drawing/2014/main" val="10003"/>
                  </a:ext>
                </a:extLst>
              </a:tr>
              <a:tr h="621792">
                <a:tc>
                  <a:txBody>
                    <a:bodyPr/>
                    <a:lstStyle/>
                    <a:p>
                      <a:pPr marL="0" indent="0">
                        <a:buNone/>
                      </a:pPr>
                      <a:r>
                        <a:rPr lang="en-US" sz="950" b="1" dirty="0">
                          <a:solidFill>
                            <a:srgbClr val="0F1E30"/>
                          </a:solidFill>
                          <a:latin typeface="Calibri" pitchFamily="34" charset="0"/>
                          <a:ea typeface="Calibri" pitchFamily="34" charset="-122"/>
                          <a:cs typeface="Calibri" pitchFamily="34" charset="-120"/>
                        </a:rPr>
                        <a:t>Hyperscaler Full Vertical Integration</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C8922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C8922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Merchant component vendors</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2027 to 2029</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Invest only in companies with cross ecosystem compatibility across both NVLink and UALink. Monitor patent filings as leading indicator of insourcing intent.</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21792">
                <a:tc>
                  <a:txBody>
                    <a:bodyPr/>
                    <a:lstStyle/>
                    <a:p>
                      <a:pPr marL="0" indent="0">
                        <a:buNone/>
                      </a:pPr>
                      <a:r>
                        <a:rPr lang="en-US" sz="950" b="1" dirty="0">
                          <a:solidFill>
                            <a:srgbClr val="0F1E30"/>
                          </a:solidFill>
                          <a:latin typeface="Calibri" pitchFamily="34" charset="0"/>
                          <a:ea typeface="Calibri" pitchFamily="34" charset="-122"/>
                          <a:cs typeface="Calibri" pitchFamily="34" charset="-120"/>
                        </a:rPr>
                        <a:t>AI Efficiency Gains Reduce Near Term Power Demand</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50" b="1" dirty="0">
                          <a:solidFill>
                            <a:srgbClr val="1F7A5C"/>
                          </a:solidFill>
                          <a:latin typeface="Calibri" pitchFamily="34" charset="0"/>
                          <a:ea typeface="Calibri" pitchFamily="34" charset="-122"/>
                          <a:cs typeface="Calibri" pitchFamily="34" charset="-120"/>
                        </a:rPr>
                        <a:t>Low</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50" b="1" dirty="0">
                          <a:solidFill>
                            <a:srgbClr val="1F7A5C"/>
                          </a:solidFill>
                          <a:latin typeface="Calibri" pitchFamily="34" charset="0"/>
                          <a:ea typeface="Calibri" pitchFamily="34" charset="-122"/>
                          <a:cs typeface="Calibri" pitchFamily="34" charset="-120"/>
                        </a:rPr>
                        <a:t>Low to Medium</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GaN and HTS investment thesis</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Rolling</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Power infrastructure demand is structural and tied to data center construction, not model efficiency. Historical pattern: efficiency gains expand AI use, they do not reduce it.</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2F6FA"/>
                    </a:solidFill>
                  </a:tcPr>
                </a:tc>
                <a:extLst>
                  <a:ext uri="{0D108BD9-81ED-4DB2-BD59-A6C34878D82A}">
                    <a16:rowId xmlns:a16="http://schemas.microsoft.com/office/drawing/2014/main" val="10005"/>
                  </a:ext>
                </a:extLst>
              </a:tr>
              <a:tr h="621792">
                <a:tc>
                  <a:txBody>
                    <a:bodyPr/>
                    <a:lstStyle/>
                    <a:p>
                      <a:pPr marL="0" indent="0">
                        <a:buNone/>
                      </a:pPr>
                      <a:r>
                        <a:rPr lang="en-US" sz="950" b="1" dirty="0">
                          <a:solidFill>
                            <a:srgbClr val="0F1E30"/>
                          </a:solidFill>
                          <a:latin typeface="Calibri" pitchFamily="34" charset="0"/>
                          <a:ea typeface="Calibri" pitchFamily="34" charset="-122"/>
                          <a:cs typeface="Calibri" pitchFamily="34" charset="-120"/>
                        </a:rPr>
                        <a:t>Cooling Regulation Tightens Faster Than Expected</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C8922A"/>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Legacy data center operators</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2C3E50"/>
                          </a:solidFill>
                          <a:latin typeface="Calibri" pitchFamily="34" charset="0"/>
                          <a:ea typeface="Calibri" pitchFamily="34" charset="-122"/>
                          <a:cs typeface="Calibri" pitchFamily="34" charset="-120"/>
                        </a:rPr>
                        <a:t>2026 to 2027</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tc>
                  <a:txBody>
                    <a:bodyPr/>
                    <a:lstStyle/>
                    <a:p>
                      <a:pPr marL="0" indent="0">
                        <a:buNone/>
                      </a:pPr>
                      <a:r>
                        <a:rPr lang="en-US" sz="900" dirty="0">
                          <a:solidFill>
                            <a:srgbClr val="2C3E50"/>
                          </a:solidFill>
                          <a:latin typeface="Calibri" pitchFamily="34" charset="0"/>
                          <a:ea typeface="Calibri" pitchFamily="34" charset="-122"/>
                          <a:cs typeface="Calibri" pitchFamily="34" charset="-120"/>
                        </a:rPr>
                        <a:t>Treat EU EED compliance as the minimum bar, not the ceiling. Build thermal audit and retrofit pipeline into capital planning for all existing facilities.</a:t>
                      </a:r>
                      <a:endParaRPr lang="en-US" sz="900" dirty="0">
                        <a:latin typeface="Calibri" charset="0"/>
                        <a:ea typeface="Calibri" charset="0"/>
                        <a:cs typeface="Calibri" charset="0"/>
                      </a:endParaRPr>
                    </a:p>
                  </a:txBody>
                  <a:tcPr anchor="ctr">
                    <a:lnL w="6350" cap="flat" cmpd="sng" algn="ctr">
                      <a:solidFill>
                        <a:srgbClr val="D0DAE4"/>
                      </a:solidFill>
                      <a:prstDash val="solid"/>
                      <a:round/>
                      <a:headEnd type="none" w="med" len="med"/>
                      <a:tailEnd type="none" w="med" len="med"/>
                    </a:lnL>
                    <a:lnR w="6350" cap="flat" cmpd="sng" algn="ctr">
                      <a:solidFill>
                        <a:srgbClr val="D0DAE4"/>
                      </a:solidFill>
                      <a:prstDash val="solid"/>
                      <a:round/>
                      <a:headEnd type="none" w="med" len="med"/>
                      <a:tailEnd type="none" w="med" len="med"/>
                    </a:lnR>
                    <a:lnT w="6350" cap="flat" cmpd="sng" algn="ctr">
                      <a:solidFill>
                        <a:srgbClr val="D0DAE4"/>
                      </a:solidFill>
                      <a:prstDash val="solid"/>
                      <a:round/>
                      <a:headEnd type="none" w="med" len="med"/>
                      <a:tailEnd type="none" w="med" len="med"/>
                    </a:lnT>
                    <a:lnB w="6350" cap="flat" cmpd="sng" algn="ctr">
                      <a:solidFill>
                        <a:srgbClr val="D0DAE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475488"/>
          </a:xfrm>
          <a:prstGeom prst="rect">
            <a:avLst/>
          </a:prstGeom>
          <a:solidFill>
            <a:srgbClr val="1B3A5C"/>
          </a:solidFill>
          <a:ln w="12700">
            <a:solidFill>
              <a:srgbClr val="1B3A5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28600" y="45720"/>
            <a:ext cx="1600200" cy="384048"/>
          </a:xfrm>
          <a:prstGeom prst="rect">
            <a:avLst/>
          </a:prstGeom>
        </p:spPr>
      </p:pic>
      <p:sp>
        <p:nvSpPr>
          <p:cNvPr id="4" name="Text 1"/>
          <p:cNvSpPr/>
          <p:nvPr/>
        </p:nvSpPr>
        <p:spPr>
          <a:xfrm>
            <a:off x="2103120" y="91440"/>
            <a:ext cx="8686800" cy="292608"/>
          </a:xfrm>
          <a:prstGeom prst="rect">
            <a:avLst/>
          </a:prstGeom>
          <a:noFill/>
          <a:ln/>
        </p:spPr>
        <p:txBody>
          <a:bodyPr wrap="square" lIns="0" tIns="0" rIns="0" bIns="0" rtlCol="0" anchor="ctr"/>
          <a:lstStyle/>
          <a:p>
            <a:pPr marL="0" indent="0">
              <a:buNone/>
            </a:pPr>
            <a:r>
              <a:rPr lang="en-US" sz="850" kern="0" spc="250" dirty="0">
                <a:solidFill>
                  <a:srgbClr val="D0DAE4"/>
                </a:solidFill>
                <a:latin typeface="Calibri" pitchFamily="34" charset="0"/>
                <a:ea typeface="Calibri" pitchFamily="34" charset="-122"/>
                <a:cs typeface="Calibri" pitchFamily="34" charset="-120"/>
              </a:rPr>
              <a:t>CAPITAL DEPLOYMENT ROADMAP  ·  ALL ANALYSTS</a:t>
            </a:r>
            <a:endParaRPr lang="en-US" sz="850" dirty="0"/>
          </a:p>
        </p:txBody>
      </p:sp>
      <p:sp>
        <p:nvSpPr>
          <p:cNvPr id="5" name="Text 2"/>
          <p:cNvSpPr/>
          <p:nvPr/>
        </p:nvSpPr>
        <p:spPr>
          <a:xfrm>
            <a:off x="11064240" y="91440"/>
            <a:ext cx="914400" cy="292608"/>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15 / 17</a:t>
            </a:r>
            <a:endParaRPr lang="en-US" sz="850" dirty="0"/>
          </a:p>
        </p:txBody>
      </p:sp>
      <p:sp>
        <p:nvSpPr>
          <p:cNvPr id="6" name="Shape 3"/>
          <p:cNvSpPr/>
          <p:nvPr/>
        </p:nvSpPr>
        <p:spPr>
          <a:xfrm>
            <a:off x="0" y="6537960"/>
            <a:ext cx="12188952" cy="320040"/>
          </a:xfrm>
          <a:prstGeom prst="rect">
            <a:avLst/>
          </a:prstGeom>
          <a:solidFill>
            <a:srgbClr val="F2F6FA"/>
          </a:solidFill>
          <a:ln w="12700">
            <a:solidFill>
              <a:srgbClr val="D0DAE4"/>
            </a:solidFill>
            <a:prstDash val="solid"/>
          </a:ln>
        </p:spPr>
        <p:txBody>
          <a:bodyPr/>
          <a:lstStyle/>
          <a:p>
            <a:endParaRPr lang="en-US"/>
          </a:p>
        </p:txBody>
      </p:sp>
      <p:sp>
        <p:nvSpPr>
          <p:cNvPr id="7" name="Text 4"/>
          <p:cNvSpPr/>
          <p:nvPr/>
        </p:nvSpPr>
        <p:spPr>
          <a:xfrm>
            <a:off x="274320" y="6565392"/>
            <a:ext cx="6400800" cy="256032"/>
          </a:xfrm>
          <a:prstGeom prst="rect">
            <a:avLst/>
          </a:prstGeom>
          <a:noFill/>
          <a:ln/>
        </p:spPr>
        <p:txBody>
          <a:bodyPr wrap="square" lIns="0" tIns="0" rIns="0" bIns="0" rtlCol="0" anchor="ctr"/>
          <a:lstStyle/>
          <a:p>
            <a:pPr marL="0" indent="0">
              <a:buNone/>
            </a:pPr>
            <a:r>
              <a:rPr lang="en-US" sz="750" dirty="0">
                <a:solidFill>
                  <a:srgbClr val="7B90A6"/>
                </a:solidFill>
                <a:latin typeface="Calibri" pitchFamily="34" charset="0"/>
                <a:ea typeface="Calibri" pitchFamily="34" charset="-122"/>
                <a:cs typeface="Calibri" pitchFamily="34" charset="-120"/>
              </a:rPr>
              <a:t>ClearVision Ventures  ·  Confidential  ·  April 2026</a:t>
            </a:r>
            <a:endParaRPr lang="en-US" sz="750" dirty="0"/>
          </a:p>
        </p:txBody>
      </p:sp>
      <p:sp>
        <p:nvSpPr>
          <p:cNvPr id="8" name="Text 5"/>
          <p:cNvSpPr/>
          <p:nvPr/>
        </p:nvSpPr>
        <p:spPr>
          <a:xfrm>
            <a:off x="411480" y="594360"/>
            <a:ext cx="10972800" cy="228600"/>
          </a:xfrm>
          <a:prstGeom prst="rect">
            <a:avLst/>
          </a:prstGeom>
          <a:noFill/>
          <a:ln/>
        </p:spPr>
        <p:txBody>
          <a:bodyPr wrap="square" lIns="0" tIns="0" rIns="0" bIns="0" rtlCol="0" anchor="ctr"/>
          <a:lstStyle/>
          <a:p>
            <a:pPr marL="0" indent="0">
              <a:buNone/>
            </a:pPr>
            <a:r>
              <a:rPr lang="en-US" sz="850" b="1" kern="0" spc="300" dirty="0">
                <a:solidFill>
                  <a:srgbClr val="2E6DA4"/>
                </a:solidFill>
                <a:latin typeface="Calibri" pitchFamily="34" charset="0"/>
                <a:ea typeface="Calibri" pitchFamily="34" charset="-122"/>
                <a:cs typeface="Calibri" pitchFamily="34" charset="-120"/>
              </a:rPr>
              <a:t>WHEN TO SPEND WHAT</a:t>
            </a:r>
            <a:endParaRPr lang="en-US" sz="850" dirty="0"/>
          </a:p>
        </p:txBody>
      </p:sp>
      <p:sp>
        <p:nvSpPr>
          <p:cNvPr id="9" name="Text 6"/>
          <p:cNvSpPr/>
          <p:nvPr/>
        </p:nvSpPr>
        <p:spPr>
          <a:xfrm>
            <a:off x="411480" y="822960"/>
            <a:ext cx="11338560" cy="713232"/>
          </a:xfrm>
          <a:prstGeom prst="rect">
            <a:avLst/>
          </a:prstGeom>
          <a:noFill/>
          <a:ln/>
        </p:spPr>
        <p:txBody>
          <a:bodyPr wrap="square" lIns="0" tIns="0" rIns="0" bIns="0" rtlCol="0" anchor="ctr"/>
          <a:lstStyle/>
          <a:p>
            <a:pPr marL="0" indent="0">
              <a:buNone/>
            </a:pPr>
            <a:r>
              <a:rPr lang="en-US" sz="2800" b="1" dirty="0">
                <a:solidFill>
                  <a:srgbClr val="0F1E30"/>
                </a:solidFill>
                <a:latin typeface="Calibri" pitchFamily="34" charset="0"/>
                <a:ea typeface="Calibri" pitchFamily="34" charset="-122"/>
                <a:cs typeface="Calibri" pitchFamily="34" charset="-120"/>
              </a:rPr>
              <a:t>The Capital Deployment Roadmap</a:t>
            </a:r>
            <a:endParaRPr lang="en-US" sz="2800" dirty="0"/>
          </a:p>
        </p:txBody>
      </p:sp>
      <p:sp>
        <p:nvSpPr>
          <p:cNvPr id="10" name="Shape 7"/>
          <p:cNvSpPr/>
          <p:nvPr/>
        </p:nvSpPr>
        <p:spPr>
          <a:xfrm>
            <a:off x="411480" y="1536192"/>
            <a:ext cx="1005840" cy="41148"/>
          </a:xfrm>
          <a:prstGeom prst="rect">
            <a:avLst/>
          </a:prstGeom>
          <a:solidFill>
            <a:srgbClr val="2E6DA4"/>
          </a:solidFill>
          <a:ln w="12700">
            <a:solidFill>
              <a:srgbClr val="2E6DA4"/>
            </a:solidFill>
            <a:prstDash val="solid"/>
          </a:ln>
        </p:spPr>
        <p:txBody>
          <a:bodyPr/>
          <a:lstStyle/>
          <a:p>
            <a:endParaRPr lang="en-US"/>
          </a:p>
        </p:txBody>
      </p:sp>
      <p:sp>
        <p:nvSpPr>
          <p:cNvPr id="11" name="Text 8"/>
          <p:cNvSpPr/>
          <p:nvPr/>
        </p:nvSpPr>
        <p:spPr>
          <a:xfrm>
            <a:off x="411480" y="1627632"/>
            <a:ext cx="11338560" cy="402336"/>
          </a:xfrm>
          <a:prstGeom prst="rect">
            <a:avLst/>
          </a:prstGeom>
          <a:noFill/>
          <a:ln/>
        </p:spPr>
        <p:txBody>
          <a:bodyPr wrap="square" lIns="0" tIns="0" rIns="0" bIns="0" rtlCol="0" anchor="ctr"/>
          <a:lstStyle/>
          <a:p>
            <a:pPr marL="0" indent="0">
              <a:buNone/>
            </a:pPr>
            <a:r>
              <a:rPr lang="en-US" sz="1150" i="1" dirty="0">
                <a:solidFill>
                  <a:srgbClr val="2C3E50"/>
                </a:solidFill>
                <a:latin typeface="Calibri" pitchFamily="34" charset="0"/>
                <a:ea typeface="Calibri" pitchFamily="34" charset="-122"/>
                <a:cs typeface="Calibri" pitchFamily="34" charset="-120"/>
              </a:rPr>
              <a:t>The architecture choices made in the next 12 months will lock in economics for 15 to 20 years. This roadmap sequences the five investment areas by urgency, dependency, and return horizon.</a:t>
            </a:r>
            <a:endParaRPr lang="en-US" sz="1150" dirty="0"/>
          </a:p>
        </p:txBody>
      </p:sp>
      <p:sp>
        <p:nvSpPr>
          <p:cNvPr id="12" name="Shape 9"/>
          <p:cNvSpPr/>
          <p:nvPr/>
        </p:nvSpPr>
        <p:spPr>
          <a:xfrm>
            <a:off x="411480" y="2212848"/>
            <a:ext cx="1901952" cy="1316736"/>
          </a:xfrm>
          <a:prstGeom prst="rect">
            <a:avLst/>
          </a:prstGeom>
          <a:solidFill>
            <a:srgbClr val="1B3A5C"/>
          </a:solidFill>
          <a:ln w="12700">
            <a:solidFill>
              <a:srgbClr val="1B3A5C"/>
            </a:solidFill>
            <a:prstDash val="solid"/>
          </a:ln>
          <a:effectLst>
            <a:outerShdw blurRad="50800" dist="12700" dir="8100000" algn="bl" rotWithShape="0">
              <a:srgbClr val="000000">
                <a:alpha val="9000"/>
              </a:srgbClr>
            </a:outerShdw>
          </a:effectLst>
        </p:spPr>
        <p:txBody>
          <a:bodyPr/>
          <a:lstStyle/>
          <a:p>
            <a:endParaRPr lang="en-US"/>
          </a:p>
        </p:txBody>
      </p:sp>
      <p:sp>
        <p:nvSpPr>
          <p:cNvPr id="13" name="Text 10"/>
          <p:cNvSpPr/>
          <p:nvPr/>
        </p:nvSpPr>
        <p:spPr>
          <a:xfrm>
            <a:off x="502920" y="2578608"/>
            <a:ext cx="1719072"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Now through 2026</a:t>
            </a:r>
            <a:endParaRPr lang="en-US" sz="1100" dirty="0"/>
          </a:p>
        </p:txBody>
      </p:sp>
      <p:sp>
        <p:nvSpPr>
          <p:cNvPr id="14" name="Shape 11"/>
          <p:cNvSpPr/>
          <p:nvPr/>
        </p:nvSpPr>
        <p:spPr>
          <a:xfrm>
            <a:off x="2487168" y="2267712"/>
            <a:ext cx="2176272" cy="11887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5" name="Shape 12"/>
          <p:cNvSpPr/>
          <p:nvPr/>
        </p:nvSpPr>
        <p:spPr>
          <a:xfrm>
            <a:off x="2487168" y="2267712"/>
            <a:ext cx="2176272" cy="45720"/>
          </a:xfrm>
          <a:prstGeom prst="rect">
            <a:avLst/>
          </a:prstGeom>
          <a:solidFill>
            <a:srgbClr val="1B3A5C"/>
          </a:solidFill>
          <a:ln w="12700">
            <a:solidFill>
              <a:srgbClr val="1B3A5C"/>
            </a:solidFill>
            <a:prstDash val="solid"/>
          </a:ln>
        </p:spPr>
        <p:txBody>
          <a:bodyPr/>
          <a:lstStyle/>
          <a:p>
            <a:endParaRPr lang="en-US"/>
          </a:p>
        </p:txBody>
      </p:sp>
      <p:sp>
        <p:nvSpPr>
          <p:cNvPr id="16" name="Text 13"/>
          <p:cNvSpPr/>
          <p:nvPr/>
        </p:nvSpPr>
        <p:spPr>
          <a:xfrm>
            <a:off x="2596896" y="2340864"/>
            <a:ext cx="1956816" cy="219456"/>
          </a:xfrm>
          <a:prstGeom prst="rect">
            <a:avLst/>
          </a:prstGeom>
          <a:noFill/>
          <a:ln/>
        </p:spPr>
        <p:txBody>
          <a:bodyPr wrap="square" lIns="0" tIns="0" rIns="0" bIns="0" rtlCol="0" anchor="ctr"/>
          <a:lstStyle/>
          <a:p>
            <a:pPr marL="0" indent="0">
              <a:buNone/>
            </a:pPr>
            <a:r>
              <a:rPr lang="en-US" sz="950" b="1" dirty="0">
                <a:solidFill>
                  <a:srgbClr val="1B3A5C"/>
                </a:solidFill>
                <a:latin typeface="Calibri" pitchFamily="34" charset="0"/>
                <a:ea typeface="Calibri" pitchFamily="34" charset="-122"/>
                <a:cs typeface="Calibri" pitchFamily="34" charset="-120"/>
              </a:rPr>
              <a:t>Power</a:t>
            </a:r>
            <a:endParaRPr lang="en-US" sz="950" dirty="0"/>
          </a:p>
        </p:txBody>
      </p:sp>
      <p:sp>
        <p:nvSpPr>
          <p:cNvPr id="17" name="Text 14"/>
          <p:cNvSpPr/>
          <p:nvPr/>
        </p:nvSpPr>
        <p:spPr>
          <a:xfrm>
            <a:off x="2596896" y="2560320"/>
            <a:ext cx="1956816" cy="822960"/>
          </a:xfrm>
          <a:prstGeom prst="rect">
            <a:avLst/>
          </a:prstGeom>
          <a:noFill/>
          <a:ln/>
        </p:spPr>
        <p:txBody>
          <a:bodyPr wrap="square" lIns="0" tIns="0" rIns="0" bIns="0" rtlCol="0" anchor="t"/>
          <a:lstStyle/>
          <a:p>
            <a:pPr marL="0" indent="0">
              <a:buNone/>
            </a:pPr>
            <a:r>
              <a:rPr lang="en-US" sz="900" dirty="0">
                <a:solidFill>
                  <a:srgbClr val="2C3E50"/>
                </a:solidFill>
                <a:latin typeface="Calibri" pitchFamily="34" charset="0"/>
                <a:ea typeface="Calibri" pitchFamily="34" charset="-122"/>
                <a:cs typeface="Calibri" pitchFamily="34" charset="-120"/>
              </a:rPr>
              <a:t>Specify GaN PSUs into all new builds immediately. NVIDIA Kyber 800V is the standard. Miss this window and you are retrofitting in 2028.</a:t>
            </a:r>
            <a:endParaRPr lang="en-US" sz="900" dirty="0"/>
          </a:p>
        </p:txBody>
      </p:sp>
      <p:sp>
        <p:nvSpPr>
          <p:cNvPr id="18" name="Shape 15"/>
          <p:cNvSpPr/>
          <p:nvPr/>
        </p:nvSpPr>
        <p:spPr>
          <a:xfrm>
            <a:off x="4864608" y="2267712"/>
            <a:ext cx="2176272" cy="11887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19" name="Shape 16"/>
          <p:cNvSpPr/>
          <p:nvPr/>
        </p:nvSpPr>
        <p:spPr>
          <a:xfrm>
            <a:off x="4864608" y="2267712"/>
            <a:ext cx="2176272" cy="45720"/>
          </a:xfrm>
          <a:prstGeom prst="rect">
            <a:avLst/>
          </a:prstGeom>
          <a:solidFill>
            <a:srgbClr val="1B3A5C"/>
          </a:solidFill>
          <a:ln w="12700">
            <a:solidFill>
              <a:srgbClr val="1B3A5C"/>
            </a:solidFill>
            <a:prstDash val="solid"/>
          </a:ln>
        </p:spPr>
        <p:txBody>
          <a:bodyPr/>
          <a:lstStyle/>
          <a:p>
            <a:endParaRPr lang="en-US"/>
          </a:p>
        </p:txBody>
      </p:sp>
      <p:sp>
        <p:nvSpPr>
          <p:cNvPr id="20" name="Text 17"/>
          <p:cNvSpPr/>
          <p:nvPr/>
        </p:nvSpPr>
        <p:spPr>
          <a:xfrm>
            <a:off x="4974336" y="2340864"/>
            <a:ext cx="1956816" cy="219456"/>
          </a:xfrm>
          <a:prstGeom prst="rect">
            <a:avLst/>
          </a:prstGeom>
          <a:noFill/>
          <a:ln/>
        </p:spPr>
        <p:txBody>
          <a:bodyPr wrap="square" lIns="0" tIns="0" rIns="0" bIns="0" rtlCol="0" anchor="ctr"/>
          <a:lstStyle/>
          <a:p>
            <a:pPr marL="0" indent="0">
              <a:buNone/>
            </a:pPr>
            <a:r>
              <a:rPr lang="en-US" sz="950" b="1" dirty="0">
                <a:solidFill>
                  <a:srgbClr val="1B3A5C"/>
                </a:solidFill>
                <a:latin typeface="Calibri" pitchFamily="34" charset="0"/>
                <a:ea typeface="Calibri" pitchFamily="34" charset="-122"/>
                <a:cs typeface="Calibri" pitchFamily="34" charset="-120"/>
              </a:rPr>
              <a:t>Software</a:t>
            </a:r>
            <a:endParaRPr lang="en-US" sz="950" dirty="0"/>
          </a:p>
        </p:txBody>
      </p:sp>
      <p:sp>
        <p:nvSpPr>
          <p:cNvPr id="21" name="Text 18"/>
          <p:cNvSpPr/>
          <p:nvPr/>
        </p:nvSpPr>
        <p:spPr>
          <a:xfrm>
            <a:off x="4974336" y="2560320"/>
            <a:ext cx="1956816" cy="822960"/>
          </a:xfrm>
          <a:prstGeom prst="rect">
            <a:avLst/>
          </a:prstGeom>
          <a:noFill/>
          <a:ln/>
        </p:spPr>
        <p:txBody>
          <a:bodyPr wrap="square" lIns="0" tIns="0" rIns="0" bIns="0" rtlCol="0" anchor="t"/>
          <a:lstStyle/>
          <a:p>
            <a:pPr marL="0" indent="0">
              <a:buNone/>
            </a:pPr>
            <a:r>
              <a:rPr lang="en-US" sz="900" dirty="0">
                <a:solidFill>
                  <a:srgbClr val="2C3E50"/>
                </a:solidFill>
                <a:latin typeface="Calibri" pitchFamily="34" charset="0"/>
                <a:ea typeface="Calibri" pitchFamily="34" charset="-122"/>
                <a:cs typeface="Calibri" pitchFamily="34" charset="-120"/>
              </a:rPr>
              <a:t>Deploy AI native DCIM software across all facilities. No category leader means the best price and the best terms are available right now.</a:t>
            </a:r>
            <a:endParaRPr lang="en-US" sz="900" dirty="0"/>
          </a:p>
        </p:txBody>
      </p:sp>
      <p:sp>
        <p:nvSpPr>
          <p:cNvPr id="22" name="Shape 19"/>
          <p:cNvSpPr/>
          <p:nvPr/>
        </p:nvSpPr>
        <p:spPr>
          <a:xfrm>
            <a:off x="7242048" y="2267712"/>
            <a:ext cx="2176272" cy="11887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3" name="Shape 20"/>
          <p:cNvSpPr/>
          <p:nvPr/>
        </p:nvSpPr>
        <p:spPr>
          <a:xfrm>
            <a:off x="7242048" y="2267712"/>
            <a:ext cx="2176272" cy="45720"/>
          </a:xfrm>
          <a:prstGeom prst="rect">
            <a:avLst/>
          </a:prstGeom>
          <a:solidFill>
            <a:srgbClr val="1B3A5C"/>
          </a:solidFill>
          <a:ln w="12700">
            <a:solidFill>
              <a:srgbClr val="1B3A5C"/>
            </a:solidFill>
            <a:prstDash val="solid"/>
          </a:ln>
        </p:spPr>
        <p:txBody>
          <a:bodyPr/>
          <a:lstStyle/>
          <a:p>
            <a:endParaRPr lang="en-US"/>
          </a:p>
        </p:txBody>
      </p:sp>
      <p:sp>
        <p:nvSpPr>
          <p:cNvPr id="24" name="Text 21"/>
          <p:cNvSpPr/>
          <p:nvPr/>
        </p:nvSpPr>
        <p:spPr>
          <a:xfrm>
            <a:off x="7351776" y="2340864"/>
            <a:ext cx="1956816" cy="219456"/>
          </a:xfrm>
          <a:prstGeom prst="rect">
            <a:avLst/>
          </a:prstGeom>
          <a:noFill/>
          <a:ln/>
        </p:spPr>
        <p:txBody>
          <a:bodyPr wrap="square" lIns="0" tIns="0" rIns="0" bIns="0" rtlCol="0" anchor="ctr"/>
          <a:lstStyle/>
          <a:p>
            <a:pPr marL="0" indent="0">
              <a:buNone/>
            </a:pPr>
            <a:r>
              <a:rPr lang="en-US" sz="950" b="1" dirty="0">
                <a:solidFill>
                  <a:srgbClr val="1B3A5C"/>
                </a:solidFill>
                <a:latin typeface="Calibri" pitchFamily="34" charset="0"/>
                <a:ea typeface="Calibri" pitchFamily="34" charset="-122"/>
                <a:cs typeface="Calibri" pitchFamily="34" charset="-120"/>
              </a:rPr>
              <a:t>Photonics</a:t>
            </a:r>
            <a:endParaRPr lang="en-US" sz="950" dirty="0"/>
          </a:p>
        </p:txBody>
      </p:sp>
      <p:sp>
        <p:nvSpPr>
          <p:cNvPr id="25" name="Text 22"/>
          <p:cNvSpPr/>
          <p:nvPr/>
        </p:nvSpPr>
        <p:spPr>
          <a:xfrm>
            <a:off x="7351776" y="2560320"/>
            <a:ext cx="1956816" cy="822960"/>
          </a:xfrm>
          <a:prstGeom prst="rect">
            <a:avLst/>
          </a:prstGeom>
          <a:noFill/>
          <a:ln/>
        </p:spPr>
        <p:txBody>
          <a:bodyPr wrap="square" lIns="0" tIns="0" rIns="0" bIns="0" rtlCol="0" anchor="t"/>
          <a:lstStyle/>
          <a:p>
            <a:pPr marL="0" indent="0">
              <a:buNone/>
            </a:pPr>
            <a:r>
              <a:rPr lang="en-US" sz="900" dirty="0">
                <a:solidFill>
                  <a:srgbClr val="2C3E50"/>
                </a:solidFill>
                <a:latin typeface="Calibri" pitchFamily="34" charset="0"/>
                <a:ea typeface="Calibri" pitchFamily="34" charset="-122"/>
                <a:cs typeface="Calibri" pitchFamily="34" charset="-120"/>
              </a:rPr>
              <a:t>Secure indium phosphide laser allocation with Coherent or Lumentum for 2027 to 2028 delivery. Budget alone will not get supply.</a:t>
            </a:r>
            <a:endParaRPr lang="en-US" sz="900" dirty="0"/>
          </a:p>
        </p:txBody>
      </p:sp>
      <p:sp>
        <p:nvSpPr>
          <p:cNvPr id="26" name="Shape 23"/>
          <p:cNvSpPr/>
          <p:nvPr/>
        </p:nvSpPr>
        <p:spPr>
          <a:xfrm>
            <a:off x="9619488" y="2267712"/>
            <a:ext cx="2176272" cy="11887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27" name="Shape 24"/>
          <p:cNvSpPr/>
          <p:nvPr/>
        </p:nvSpPr>
        <p:spPr>
          <a:xfrm>
            <a:off x="9619488" y="2267712"/>
            <a:ext cx="2176272" cy="45720"/>
          </a:xfrm>
          <a:prstGeom prst="rect">
            <a:avLst/>
          </a:prstGeom>
          <a:solidFill>
            <a:srgbClr val="1B3A5C"/>
          </a:solidFill>
          <a:ln w="12700">
            <a:solidFill>
              <a:srgbClr val="1B3A5C"/>
            </a:solidFill>
            <a:prstDash val="solid"/>
          </a:ln>
        </p:spPr>
        <p:txBody>
          <a:bodyPr/>
          <a:lstStyle/>
          <a:p>
            <a:endParaRPr lang="en-US"/>
          </a:p>
        </p:txBody>
      </p:sp>
      <p:sp>
        <p:nvSpPr>
          <p:cNvPr id="28" name="Text 25"/>
          <p:cNvSpPr/>
          <p:nvPr/>
        </p:nvSpPr>
        <p:spPr>
          <a:xfrm>
            <a:off x="9729216" y="2340864"/>
            <a:ext cx="1956816" cy="219456"/>
          </a:xfrm>
          <a:prstGeom prst="rect">
            <a:avLst/>
          </a:prstGeom>
          <a:noFill/>
          <a:ln/>
        </p:spPr>
        <p:txBody>
          <a:bodyPr wrap="square" lIns="0" tIns="0" rIns="0" bIns="0" rtlCol="0" anchor="ctr"/>
          <a:lstStyle/>
          <a:p>
            <a:pPr marL="0" indent="0">
              <a:buNone/>
            </a:pPr>
            <a:r>
              <a:rPr lang="en-US" sz="950" b="1" dirty="0">
                <a:solidFill>
                  <a:srgbClr val="1B3A5C"/>
                </a:solidFill>
                <a:latin typeface="Calibri" pitchFamily="34" charset="0"/>
                <a:ea typeface="Calibri" pitchFamily="34" charset="-122"/>
                <a:cs typeface="Calibri" pitchFamily="34" charset="-120"/>
              </a:rPr>
              <a:t>Supply Chain</a:t>
            </a:r>
            <a:endParaRPr lang="en-US" sz="950" dirty="0"/>
          </a:p>
        </p:txBody>
      </p:sp>
      <p:sp>
        <p:nvSpPr>
          <p:cNvPr id="29" name="Text 26"/>
          <p:cNvSpPr/>
          <p:nvPr/>
        </p:nvSpPr>
        <p:spPr>
          <a:xfrm>
            <a:off x="9729216" y="2560320"/>
            <a:ext cx="1956816" cy="822960"/>
          </a:xfrm>
          <a:prstGeom prst="rect">
            <a:avLst/>
          </a:prstGeom>
          <a:noFill/>
          <a:ln/>
        </p:spPr>
        <p:txBody>
          <a:bodyPr wrap="square" lIns="0" tIns="0" rIns="0" bIns="0" rtlCol="0" anchor="t"/>
          <a:lstStyle/>
          <a:p>
            <a:pPr marL="0" indent="0">
              <a:buNone/>
            </a:pPr>
            <a:r>
              <a:rPr lang="en-US" sz="900" dirty="0">
                <a:solidFill>
                  <a:srgbClr val="2C3E50"/>
                </a:solidFill>
                <a:latin typeface="Calibri" pitchFamily="34" charset="0"/>
                <a:ea typeface="Calibri" pitchFamily="34" charset="-122"/>
                <a:cs typeface="Calibri" pitchFamily="34" charset="-120"/>
              </a:rPr>
              <a:t>Conduct gallium supply chain audit across all GaN vendors before November 27 2026 ban suspension expiry.</a:t>
            </a:r>
            <a:endParaRPr lang="en-US" sz="900" dirty="0"/>
          </a:p>
        </p:txBody>
      </p:sp>
      <p:sp>
        <p:nvSpPr>
          <p:cNvPr id="30" name="Shape 27"/>
          <p:cNvSpPr/>
          <p:nvPr/>
        </p:nvSpPr>
        <p:spPr>
          <a:xfrm>
            <a:off x="411480" y="3694176"/>
            <a:ext cx="1901952" cy="1316736"/>
          </a:xfrm>
          <a:prstGeom prst="rect">
            <a:avLst/>
          </a:prstGeom>
          <a:solidFill>
            <a:srgbClr val="2E6DA4"/>
          </a:solidFill>
          <a:ln w="12700">
            <a:solidFill>
              <a:srgbClr val="2E6DA4"/>
            </a:solidFill>
            <a:prstDash val="solid"/>
          </a:ln>
          <a:effectLst>
            <a:outerShdw blurRad="50800" dist="12700" dir="8100000" algn="bl" rotWithShape="0">
              <a:srgbClr val="000000">
                <a:alpha val="9000"/>
              </a:srgbClr>
            </a:outerShdw>
          </a:effectLst>
        </p:spPr>
        <p:txBody>
          <a:bodyPr/>
          <a:lstStyle/>
          <a:p>
            <a:endParaRPr lang="en-US"/>
          </a:p>
        </p:txBody>
      </p:sp>
      <p:sp>
        <p:nvSpPr>
          <p:cNvPr id="31" name="Text 28"/>
          <p:cNvSpPr/>
          <p:nvPr/>
        </p:nvSpPr>
        <p:spPr>
          <a:xfrm>
            <a:off x="502920" y="4059936"/>
            <a:ext cx="1719072"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2026 through 2027</a:t>
            </a:r>
            <a:endParaRPr lang="en-US" sz="1100" dirty="0"/>
          </a:p>
        </p:txBody>
      </p:sp>
      <p:sp>
        <p:nvSpPr>
          <p:cNvPr id="32" name="Shape 29"/>
          <p:cNvSpPr/>
          <p:nvPr/>
        </p:nvSpPr>
        <p:spPr>
          <a:xfrm>
            <a:off x="2487168" y="3749040"/>
            <a:ext cx="2176272" cy="11887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33" name="Shape 30"/>
          <p:cNvSpPr/>
          <p:nvPr/>
        </p:nvSpPr>
        <p:spPr>
          <a:xfrm>
            <a:off x="2487168" y="3749040"/>
            <a:ext cx="2176272" cy="45720"/>
          </a:xfrm>
          <a:prstGeom prst="rect">
            <a:avLst/>
          </a:prstGeom>
          <a:solidFill>
            <a:srgbClr val="2E6DA4"/>
          </a:solidFill>
          <a:ln w="12700">
            <a:solidFill>
              <a:srgbClr val="2E6DA4"/>
            </a:solidFill>
            <a:prstDash val="solid"/>
          </a:ln>
        </p:spPr>
        <p:txBody>
          <a:bodyPr/>
          <a:lstStyle/>
          <a:p>
            <a:endParaRPr lang="en-US"/>
          </a:p>
        </p:txBody>
      </p:sp>
      <p:sp>
        <p:nvSpPr>
          <p:cNvPr id="34" name="Text 31"/>
          <p:cNvSpPr/>
          <p:nvPr/>
        </p:nvSpPr>
        <p:spPr>
          <a:xfrm>
            <a:off x="2596896" y="3822192"/>
            <a:ext cx="1956816" cy="219456"/>
          </a:xfrm>
          <a:prstGeom prst="rect">
            <a:avLst/>
          </a:prstGeom>
          <a:noFill/>
          <a:ln/>
        </p:spPr>
        <p:txBody>
          <a:bodyPr wrap="square" lIns="0" tIns="0" rIns="0" bIns="0" rtlCol="0" anchor="ctr"/>
          <a:lstStyle/>
          <a:p>
            <a:pPr marL="0" indent="0">
              <a:buNone/>
            </a:pPr>
            <a:r>
              <a:rPr lang="en-US" sz="950" b="1" dirty="0">
                <a:solidFill>
                  <a:srgbClr val="2E6DA4"/>
                </a:solidFill>
                <a:latin typeface="Calibri" pitchFamily="34" charset="0"/>
                <a:ea typeface="Calibri" pitchFamily="34" charset="-122"/>
                <a:cs typeface="Calibri" pitchFamily="34" charset="-120"/>
              </a:rPr>
              <a:t>Thermal</a:t>
            </a:r>
            <a:endParaRPr lang="en-US" sz="950" dirty="0"/>
          </a:p>
        </p:txBody>
      </p:sp>
      <p:sp>
        <p:nvSpPr>
          <p:cNvPr id="35" name="Text 32"/>
          <p:cNvSpPr/>
          <p:nvPr/>
        </p:nvSpPr>
        <p:spPr>
          <a:xfrm>
            <a:off x="2596896" y="4041648"/>
            <a:ext cx="1956816" cy="822960"/>
          </a:xfrm>
          <a:prstGeom prst="rect">
            <a:avLst/>
          </a:prstGeom>
          <a:noFill/>
          <a:ln/>
        </p:spPr>
        <p:txBody>
          <a:bodyPr wrap="square" lIns="0" tIns="0" rIns="0" bIns="0" rtlCol="0" anchor="t"/>
          <a:lstStyle/>
          <a:p>
            <a:pPr marL="0" indent="0">
              <a:buNone/>
            </a:pPr>
            <a:r>
              <a:rPr lang="en-US" sz="900" dirty="0">
                <a:solidFill>
                  <a:srgbClr val="2C3E50"/>
                </a:solidFill>
                <a:latin typeface="Calibri" pitchFamily="34" charset="0"/>
                <a:ea typeface="Calibri" pitchFamily="34" charset="-122"/>
                <a:cs typeface="Calibri" pitchFamily="34" charset="-120"/>
              </a:rPr>
              <a:t>Pilot and fund waste heat recovery systems in European facilities where EU EED mandate enforcement is nearest.</a:t>
            </a:r>
            <a:endParaRPr lang="en-US" sz="900" dirty="0"/>
          </a:p>
        </p:txBody>
      </p:sp>
      <p:sp>
        <p:nvSpPr>
          <p:cNvPr id="36" name="Shape 33"/>
          <p:cNvSpPr/>
          <p:nvPr/>
        </p:nvSpPr>
        <p:spPr>
          <a:xfrm>
            <a:off x="4864608" y="3749040"/>
            <a:ext cx="2176272" cy="11887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37" name="Shape 34"/>
          <p:cNvSpPr/>
          <p:nvPr/>
        </p:nvSpPr>
        <p:spPr>
          <a:xfrm>
            <a:off x="4864608" y="3749040"/>
            <a:ext cx="2176272" cy="45720"/>
          </a:xfrm>
          <a:prstGeom prst="rect">
            <a:avLst/>
          </a:prstGeom>
          <a:solidFill>
            <a:srgbClr val="2E6DA4"/>
          </a:solidFill>
          <a:ln w="12700">
            <a:solidFill>
              <a:srgbClr val="2E6DA4"/>
            </a:solidFill>
            <a:prstDash val="solid"/>
          </a:ln>
        </p:spPr>
        <p:txBody>
          <a:bodyPr/>
          <a:lstStyle/>
          <a:p>
            <a:endParaRPr lang="en-US"/>
          </a:p>
        </p:txBody>
      </p:sp>
      <p:sp>
        <p:nvSpPr>
          <p:cNvPr id="38" name="Text 35"/>
          <p:cNvSpPr/>
          <p:nvPr/>
        </p:nvSpPr>
        <p:spPr>
          <a:xfrm>
            <a:off x="4974336" y="3822192"/>
            <a:ext cx="1956816" cy="219456"/>
          </a:xfrm>
          <a:prstGeom prst="rect">
            <a:avLst/>
          </a:prstGeom>
          <a:noFill/>
          <a:ln/>
        </p:spPr>
        <p:txBody>
          <a:bodyPr wrap="square" lIns="0" tIns="0" rIns="0" bIns="0" rtlCol="0" anchor="ctr"/>
          <a:lstStyle/>
          <a:p>
            <a:pPr marL="0" indent="0">
              <a:buNone/>
            </a:pPr>
            <a:r>
              <a:rPr lang="en-US" sz="950" b="1" dirty="0">
                <a:solidFill>
                  <a:srgbClr val="2E6DA4"/>
                </a:solidFill>
                <a:latin typeface="Calibri" pitchFamily="34" charset="0"/>
                <a:ea typeface="Calibri" pitchFamily="34" charset="-122"/>
                <a:cs typeface="Calibri" pitchFamily="34" charset="-120"/>
              </a:rPr>
              <a:t>Photonics</a:t>
            </a:r>
            <a:endParaRPr lang="en-US" sz="950" dirty="0"/>
          </a:p>
        </p:txBody>
      </p:sp>
      <p:sp>
        <p:nvSpPr>
          <p:cNvPr id="39" name="Text 36"/>
          <p:cNvSpPr/>
          <p:nvPr/>
        </p:nvSpPr>
        <p:spPr>
          <a:xfrm>
            <a:off x="4974336" y="4041648"/>
            <a:ext cx="1956816" cy="822960"/>
          </a:xfrm>
          <a:prstGeom prst="rect">
            <a:avLst/>
          </a:prstGeom>
          <a:noFill/>
          <a:ln/>
        </p:spPr>
        <p:txBody>
          <a:bodyPr wrap="square" lIns="0" tIns="0" rIns="0" bIns="0" rtlCol="0" anchor="t"/>
          <a:lstStyle/>
          <a:p>
            <a:pPr marL="0" indent="0">
              <a:buNone/>
            </a:pPr>
            <a:r>
              <a:rPr lang="en-US" sz="900" dirty="0">
                <a:solidFill>
                  <a:srgbClr val="2C3E50"/>
                </a:solidFill>
                <a:latin typeface="Calibri" pitchFamily="34" charset="0"/>
                <a:ea typeface="Calibri" pitchFamily="34" charset="-122"/>
                <a:cs typeface="Calibri" pitchFamily="34" charset="-120"/>
              </a:rPr>
              <a:t>Source silicon photonics Series B candidates. UALink 2.0 opens a second market in late 2026. Entry window is now.</a:t>
            </a:r>
            <a:endParaRPr lang="en-US" sz="900" dirty="0"/>
          </a:p>
        </p:txBody>
      </p:sp>
      <p:sp>
        <p:nvSpPr>
          <p:cNvPr id="40" name="Shape 37"/>
          <p:cNvSpPr/>
          <p:nvPr/>
        </p:nvSpPr>
        <p:spPr>
          <a:xfrm>
            <a:off x="7242048" y="3749040"/>
            <a:ext cx="2176272" cy="11887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41" name="Shape 38"/>
          <p:cNvSpPr/>
          <p:nvPr/>
        </p:nvSpPr>
        <p:spPr>
          <a:xfrm>
            <a:off x="7242048" y="3749040"/>
            <a:ext cx="2176272" cy="45720"/>
          </a:xfrm>
          <a:prstGeom prst="rect">
            <a:avLst/>
          </a:prstGeom>
          <a:solidFill>
            <a:srgbClr val="2E6DA4"/>
          </a:solidFill>
          <a:ln w="12700">
            <a:solidFill>
              <a:srgbClr val="2E6DA4"/>
            </a:solidFill>
            <a:prstDash val="solid"/>
          </a:ln>
        </p:spPr>
        <p:txBody>
          <a:bodyPr/>
          <a:lstStyle/>
          <a:p>
            <a:endParaRPr lang="en-US"/>
          </a:p>
        </p:txBody>
      </p:sp>
      <p:sp>
        <p:nvSpPr>
          <p:cNvPr id="42" name="Text 39"/>
          <p:cNvSpPr/>
          <p:nvPr/>
        </p:nvSpPr>
        <p:spPr>
          <a:xfrm>
            <a:off x="7351776" y="3822192"/>
            <a:ext cx="1956816" cy="219456"/>
          </a:xfrm>
          <a:prstGeom prst="rect">
            <a:avLst/>
          </a:prstGeom>
          <a:noFill/>
          <a:ln/>
        </p:spPr>
        <p:txBody>
          <a:bodyPr wrap="square" lIns="0" tIns="0" rIns="0" bIns="0" rtlCol="0" anchor="ctr"/>
          <a:lstStyle/>
          <a:p>
            <a:pPr marL="0" indent="0">
              <a:buNone/>
            </a:pPr>
            <a:r>
              <a:rPr lang="en-US" sz="950" b="1" dirty="0">
                <a:solidFill>
                  <a:srgbClr val="2E6DA4"/>
                </a:solidFill>
                <a:latin typeface="Calibri" pitchFamily="34" charset="0"/>
                <a:ea typeface="Calibri" pitchFamily="34" charset="-122"/>
                <a:cs typeface="Calibri" pitchFamily="34" charset="-120"/>
              </a:rPr>
              <a:t>HTS</a:t>
            </a:r>
            <a:endParaRPr lang="en-US" sz="950" dirty="0"/>
          </a:p>
        </p:txBody>
      </p:sp>
      <p:sp>
        <p:nvSpPr>
          <p:cNvPr id="43" name="Text 40"/>
          <p:cNvSpPr/>
          <p:nvPr/>
        </p:nvSpPr>
        <p:spPr>
          <a:xfrm>
            <a:off x="7351776" y="4041648"/>
            <a:ext cx="1956816" cy="822960"/>
          </a:xfrm>
          <a:prstGeom prst="rect">
            <a:avLst/>
          </a:prstGeom>
          <a:noFill/>
          <a:ln/>
        </p:spPr>
        <p:txBody>
          <a:bodyPr wrap="square" lIns="0" tIns="0" rIns="0" bIns="0" rtlCol="0" anchor="t"/>
          <a:lstStyle/>
          <a:p>
            <a:pPr marL="0" indent="0">
              <a:buNone/>
            </a:pPr>
            <a:r>
              <a:rPr lang="en-US" sz="900" dirty="0">
                <a:solidFill>
                  <a:srgbClr val="2C3E50"/>
                </a:solidFill>
                <a:latin typeface="Calibri" pitchFamily="34" charset="0"/>
                <a:ea typeface="Calibri" pitchFamily="34" charset="-122"/>
                <a:cs typeface="Calibri" pitchFamily="34" charset="-120"/>
              </a:rPr>
              <a:t>Evaluate VEIR commercial pilot. 2027 commercial launch confirmed. First mover advantage on data center HTS delivery.</a:t>
            </a:r>
            <a:endParaRPr lang="en-US" sz="900" dirty="0"/>
          </a:p>
        </p:txBody>
      </p:sp>
      <p:sp>
        <p:nvSpPr>
          <p:cNvPr id="44" name="Shape 41"/>
          <p:cNvSpPr/>
          <p:nvPr/>
        </p:nvSpPr>
        <p:spPr>
          <a:xfrm>
            <a:off x="9619488" y="3749040"/>
            <a:ext cx="2176272" cy="11887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45" name="Shape 42"/>
          <p:cNvSpPr/>
          <p:nvPr/>
        </p:nvSpPr>
        <p:spPr>
          <a:xfrm>
            <a:off x="9619488" y="3749040"/>
            <a:ext cx="2176272" cy="45720"/>
          </a:xfrm>
          <a:prstGeom prst="rect">
            <a:avLst/>
          </a:prstGeom>
          <a:solidFill>
            <a:srgbClr val="2E6DA4"/>
          </a:solidFill>
          <a:ln w="12700">
            <a:solidFill>
              <a:srgbClr val="2E6DA4"/>
            </a:solidFill>
            <a:prstDash val="solid"/>
          </a:ln>
        </p:spPr>
        <p:txBody>
          <a:bodyPr/>
          <a:lstStyle/>
          <a:p>
            <a:endParaRPr lang="en-US"/>
          </a:p>
        </p:txBody>
      </p:sp>
      <p:sp>
        <p:nvSpPr>
          <p:cNvPr id="46" name="Text 43"/>
          <p:cNvSpPr/>
          <p:nvPr/>
        </p:nvSpPr>
        <p:spPr>
          <a:xfrm>
            <a:off x="9729216" y="3822192"/>
            <a:ext cx="1956816" cy="219456"/>
          </a:xfrm>
          <a:prstGeom prst="rect">
            <a:avLst/>
          </a:prstGeom>
          <a:noFill/>
          <a:ln/>
        </p:spPr>
        <p:txBody>
          <a:bodyPr wrap="square" lIns="0" tIns="0" rIns="0" bIns="0" rtlCol="0" anchor="ctr"/>
          <a:lstStyle/>
          <a:p>
            <a:pPr marL="0" indent="0">
              <a:buNone/>
            </a:pPr>
            <a:r>
              <a:rPr lang="en-US" sz="950" b="1" dirty="0">
                <a:solidFill>
                  <a:srgbClr val="2E6DA4"/>
                </a:solidFill>
                <a:latin typeface="Calibri" pitchFamily="34" charset="0"/>
                <a:ea typeface="Calibri" pitchFamily="34" charset="-122"/>
                <a:cs typeface="Calibri" pitchFamily="34" charset="-120"/>
              </a:rPr>
              <a:t>Software</a:t>
            </a:r>
            <a:endParaRPr lang="en-US" sz="950" dirty="0"/>
          </a:p>
        </p:txBody>
      </p:sp>
      <p:sp>
        <p:nvSpPr>
          <p:cNvPr id="47" name="Text 44"/>
          <p:cNvSpPr/>
          <p:nvPr/>
        </p:nvSpPr>
        <p:spPr>
          <a:xfrm>
            <a:off x="9729216" y="4041648"/>
            <a:ext cx="1956816" cy="822960"/>
          </a:xfrm>
          <a:prstGeom prst="rect">
            <a:avLst/>
          </a:prstGeom>
          <a:noFill/>
          <a:ln/>
        </p:spPr>
        <p:txBody>
          <a:bodyPr wrap="square" lIns="0" tIns="0" rIns="0" bIns="0" rtlCol="0" anchor="t"/>
          <a:lstStyle/>
          <a:p>
            <a:pPr marL="0" indent="0">
              <a:buNone/>
            </a:pPr>
            <a:r>
              <a:rPr lang="en-US" sz="900" dirty="0">
                <a:solidFill>
                  <a:srgbClr val="2C3E50"/>
                </a:solidFill>
                <a:latin typeface="Calibri" pitchFamily="34" charset="0"/>
                <a:ea typeface="Calibri" pitchFamily="34" charset="-122"/>
                <a:cs typeface="Calibri" pitchFamily="34" charset="-120"/>
              </a:rPr>
              <a:t>Begin procurement and integration of inference optimization tooling. 2026 is the training to inference inflection point.</a:t>
            </a:r>
            <a:endParaRPr lang="en-US" sz="900" dirty="0"/>
          </a:p>
        </p:txBody>
      </p:sp>
      <p:sp>
        <p:nvSpPr>
          <p:cNvPr id="48" name="Shape 45"/>
          <p:cNvSpPr/>
          <p:nvPr/>
        </p:nvSpPr>
        <p:spPr>
          <a:xfrm>
            <a:off x="411480" y="5175504"/>
            <a:ext cx="1901952" cy="1316736"/>
          </a:xfrm>
          <a:prstGeom prst="rect">
            <a:avLst/>
          </a:prstGeom>
          <a:solidFill>
            <a:srgbClr val="5096CC"/>
          </a:solidFill>
          <a:ln w="12700">
            <a:solidFill>
              <a:srgbClr val="5096CC"/>
            </a:solidFill>
            <a:prstDash val="solid"/>
          </a:ln>
          <a:effectLst>
            <a:outerShdw blurRad="50800" dist="12700" dir="8100000" algn="bl" rotWithShape="0">
              <a:srgbClr val="000000">
                <a:alpha val="9000"/>
              </a:srgbClr>
            </a:outerShdw>
          </a:effectLst>
        </p:spPr>
        <p:txBody>
          <a:bodyPr/>
          <a:lstStyle/>
          <a:p>
            <a:endParaRPr lang="en-US"/>
          </a:p>
        </p:txBody>
      </p:sp>
      <p:sp>
        <p:nvSpPr>
          <p:cNvPr id="49" name="Text 46"/>
          <p:cNvSpPr/>
          <p:nvPr/>
        </p:nvSpPr>
        <p:spPr>
          <a:xfrm>
            <a:off x="502920" y="5541264"/>
            <a:ext cx="1719072"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2027 through 2030</a:t>
            </a:r>
            <a:endParaRPr lang="en-US" sz="1100" dirty="0"/>
          </a:p>
        </p:txBody>
      </p:sp>
      <p:sp>
        <p:nvSpPr>
          <p:cNvPr id="50" name="Shape 47"/>
          <p:cNvSpPr/>
          <p:nvPr/>
        </p:nvSpPr>
        <p:spPr>
          <a:xfrm>
            <a:off x="2487168" y="5230368"/>
            <a:ext cx="2176272" cy="11887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51" name="Shape 48"/>
          <p:cNvSpPr/>
          <p:nvPr/>
        </p:nvSpPr>
        <p:spPr>
          <a:xfrm>
            <a:off x="2487168" y="5230368"/>
            <a:ext cx="2176272" cy="45720"/>
          </a:xfrm>
          <a:prstGeom prst="rect">
            <a:avLst/>
          </a:prstGeom>
          <a:solidFill>
            <a:srgbClr val="5096CC"/>
          </a:solidFill>
          <a:ln w="12700">
            <a:solidFill>
              <a:srgbClr val="5096CC"/>
            </a:solidFill>
            <a:prstDash val="solid"/>
          </a:ln>
        </p:spPr>
        <p:txBody>
          <a:bodyPr/>
          <a:lstStyle/>
          <a:p>
            <a:endParaRPr lang="en-US"/>
          </a:p>
        </p:txBody>
      </p:sp>
      <p:sp>
        <p:nvSpPr>
          <p:cNvPr id="52" name="Text 49"/>
          <p:cNvSpPr/>
          <p:nvPr/>
        </p:nvSpPr>
        <p:spPr>
          <a:xfrm>
            <a:off x="2596896" y="5303520"/>
            <a:ext cx="1956816" cy="219456"/>
          </a:xfrm>
          <a:prstGeom prst="rect">
            <a:avLst/>
          </a:prstGeom>
          <a:noFill/>
          <a:ln/>
        </p:spPr>
        <p:txBody>
          <a:bodyPr wrap="square" lIns="0" tIns="0" rIns="0" bIns="0" rtlCol="0" anchor="ctr"/>
          <a:lstStyle/>
          <a:p>
            <a:pPr marL="0" indent="0">
              <a:buNone/>
            </a:pPr>
            <a:r>
              <a:rPr lang="en-US" sz="950" b="1" dirty="0">
                <a:solidFill>
                  <a:srgbClr val="5096CC"/>
                </a:solidFill>
                <a:latin typeface="Calibri" pitchFamily="34" charset="0"/>
                <a:ea typeface="Calibri" pitchFamily="34" charset="-122"/>
                <a:cs typeface="Calibri" pitchFamily="34" charset="-120"/>
              </a:rPr>
              <a:t>HTS</a:t>
            </a:r>
            <a:endParaRPr lang="en-US" sz="950" dirty="0"/>
          </a:p>
        </p:txBody>
      </p:sp>
      <p:sp>
        <p:nvSpPr>
          <p:cNvPr id="53" name="Text 50"/>
          <p:cNvSpPr/>
          <p:nvPr/>
        </p:nvSpPr>
        <p:spPr>
          <a:xfrm>
            <a:off x="2596896" y="5522976"/>
            <a:ext cx="1956816" cy="822960"/>
          </a:xfrm>
          <a:prstGeom prst="rect">
            <a:avLst/>
          </a:prstGeom>
          <a:noFill/>
          <a:ln/>
        </p:spPr>
        <p:txBody>
          <a:bodyPr wrap="square" lIns="0" tIns="0" rIns="0" bIns="0" rtlCol="0" anchor="t"/>
          <a:lstStyle/>
          <a:p>
            <a:pPr marL="0" indent="0">
              <a:buNone/>
            </a:pPr>
            <a:r>
              <a:rPr lang="en-US" sz="900" dirty="0">
                <a:solidFill>
                  <a:srgbClr val="2C3E50"/>
                </a:solidFill>
                <a:latin typeface="Calibri" pitchFamily="34" charset="0"/>
                <a:ea typeface="Calibri" pitchFamily="34" charset="-122"/>
                <a:cs typeface="Calibri" pitchFamily="34" charset="-120"/>
              </a:rPr>
              <a:t>Scale HTS campus power delivery following pilot data. MetOx wire supply and VEIR system deployment are complementary.</a:t>
            </a:r>
            <a:endParaRPr lang="en-US" sz="900" dirty="0"/>
          </a:p>
        </p:txBody>
      </p:sp>
      <p:sp>
        <p:nvSpPr>
          <p:cNvPr id="54" name="Shape 51"/>
          <p:cNvSpPr/>
          <p:nvPr/>
        </p:nvSpPr>
        <p:spPr>
          <a:xfrm>
            <a:off x="4864608" y="5230368"/>
            <a:ext cx="2176272" cy="11887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55" name="Shape 52"/>
          <p:cNvSpPr/>
          <p:nvPr/>
        </p:nvSpPr>
        <p:spPr>
          <a:xfrm>
            <a:off x="4864608" y="5230368"/>
            <a:ext cx="2176272" cy="45720"/>
          </a:xfrm>
          <a:prstGeom prst="rect">
            <a:avLst/>
          </a:prstGeom>
          <a:solidFill>
            <a:srgbClr val="5096CC"/>
          </a:solidFill>
          <a:ln w="12700">
            <a:solidFill>
              <a:srgbClr val="5096CC"/>
            </a:solidFill>
            <a:prstDash val="solid"/>
          </a:ln>
        </p:spPr>
        <p:txBody>
          <a:bodyPr/>
          <a:lstStyle/>
          <a:p>
            <a:endParaRPr lang="en-US"/>
          </a:p>
        </p:txBody>
      </p:sp>
      <p:sp>
        <p:nvSpPr>
          <p:cNvPr id="56" name="Text 53"/>
          <p:cNvSpPr/>
          <p:nvPr/>
        </p:nvSpPr>
        <p:spPr>
          <a:xfrm>
            <a:off x="4974336" y="5303520"/>
            <a:ext cx="1956816" cy="219456"/>
          </a:xfrm>
          <a:prstGeom prst="rect">
            <a:avLst/>
          </a:prstGeom>
          <a:noFill/>
          <a:ln/>
        </p:spPr>
        <p:txBody>
          <a:bodyPr wrap="square" lIns="0" tIns="0" rIns="0" bIns="0" rtlCol="0" anchor="ctr"/>
          <a:lstStyle/>
          <a:p>
            <a:pPr marL="0" indent="0">
              <a:buNone/>
            </a:pPr>
            <a:r>
              <a:rPr lang="en-US" sz="950" b="1" dirty="0">
                <a:solidFill>
                  <a:srgbClr val="5096CC"/>
                </a:solidFill>
                <a:latin typeface="Calibri" pitchFamily="34" charset="0"/>
                <a:ea typeface="Calibri" pitchFamily="34" charset="-122"/>
                <a:cs typeface="Calibri" pitchFamily="34" charset="-120"/>
              </a:rPr>
              <a:t>Thermal</a:t>
            </a:r>
            <a:endParaRPr lang="en-US" sz="950" dirty="0"/>
          </a:p>
        </p:txBody>
      </p:sp>
      <p:sp>
        <p:nvSpPr>
          <p:cNvPr id="57" name="Text 54"/>
          <p:cNvSpPr/>
          <p:nvPr/>
        </p:nvSpPr>
        <p:spPr>
          <a:xfrm>
            <a:off x="4974336" y="5522976"/>
            <a:ext cx="1956816" cy="822960"/>
          </a:xfrm>
          <a:prstGeom prst="rect">
            <a:avLst/>
          </a:prstGeom>
          <a:noFill/>
          <a:ln/>
        </p:spPr>
        <p:txBody>
          <a:bodyPr wrap="square" lIns="0" tIns="0" rIns="0" bIns="0" rtlCol="0" anchor="t"/>
          <a:lstStyle/>
          <a:p>
            <a:pPr marL="0" indent="0">
              <a:buNone/>
            </a:pPr>
            <a:r>
              <a:rPr lang="en-US" sz="900" dirty="0">
                <a:solidFill>
                  <a:srgbClr val="2C3E50"/>
                </a:solidFill>
                <a:latin typeface="Calibri" pitchFamily="34" charset="0"/>
                <a:ea typeface="Calibri" pitchFamily="34" charset="-122"/>
                <a:cs typeface="Calibri" pitchFamily="34" charset="-120"/>
              </a:rPr>
              <a:t>Layer in chip level thermal materials investment as Corintis tier companies approach Series C and beyond.</a:t>
            </a:r>
            <a:endParaRPr lang="en-US" sz="900" dirty="0"/>
          </a:p>
        </p:txBody>
      </p:sp>
      <p:sp>
        <p:nvSpPr>
          <p:cNvPr id="58" name="Shape 55"/>
          <p:cNvSpPr/>
          <p:nvPr/>
        </p:nvSpPr>
        <p:spPr>
          <a:xfrm>
            <a:off x="7242048" y="5230368"/>
            <a:ext cx="2176272" cy="11887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59" name="Shape 56"/>
          <p:cNvSpPr/>
          <p:nvPr/>
        </p:nvSpPr>
        <p:spPr>
          <a:xfrm>
            <a:off x="7242048" y="5230368"/>
            <a:ext cx="2176272" cy="45720"/>
          </a:xfrm>
          <a:prstGeom prst="rect">
            <a:avLst/>
          </a:prstGeom>
          <a:solidFill>
            <a:srgbClr val="5096CC"/>
          </a:solidFill>
          <a:ln w="12700">
            <a:solidFill>
              <a:srgbClr val="5096CC"/>
            </a:solidFill>
            <a:prstDash val="solid"/>
          </a:ln>
        </p:spPr>
        <p:txBody>
          <a:bodyPr/>
          <a:lstStyle/>
          <a:p>
            <a:endParaRPr lang="en-US"/>
          </a:p>
        </p:txBody>
      </p:sp>
      <p:sp>
        <p:nvSpPr>
          <p:cNvPr id="60" name="Text 57"/>
          <p:cNvSpPr/>
          <p:nvPr/>
        </p:nvSpPr>
        <p:spPr>
          <a:xfrm>
            <a:off x="7351776" y="5303520"/>
            <a:ext cx="1956816" cy="219456"/>
          </a:xfrm>
          <a:prstGeom prst="rect">
            <a:avLst/>
          </a:prstGeom>
          <a:noFill/>
          <a:ln/>
        </p:spPr>
        <p:txBody>
          <a:bodyPr wrap="square" lIns="0" tIns="0" rIns="0" bIns="0" rtlCol="0" anchor="ctr"/>
          <a:lstStyle/>
          <a:p>
            <a:pPr marL="0" indent="0">
              <a:buNone/>
            </a:pPr>
            <a:r>
              <a:rPr lang="en-US" sz="950" b="1" dirty="0">
                <a:solidFill>
                  <a:srgbClr val="5096CC"/>
                </a:solidFill>
                <a:latin typeface="Calibri" pitchFamily="34" charset="0"/>
                <a:ea typeface="Calibri" pitchFamily="34" charset="-122"/>
                <a:cs typeface="Calibri" pitchFamily="34" charset="-120"/>
              </a:rPr>
              <a:t>Software</a:t>
            </a:r>
            <a:endParaRPr lang="en-US" sz="950" dirty="0"/>
          </a:p>
        </p:txBody>
      </p:sp>
      <p:sp>
        <p:nvSpPr>
          <p:cNvPr id="61" name="Text 58"/>
          <p:cNvSpPr/>
          <p:nvPr/>
        </p:nvSpPr>
        <p:spPr>
          <a:xfrm>
            <a:off x="7351776" y="5522976"/>
            <a:ext cx="1956816" cy="822960"/>
          </a:xfrm>
          <a:prstGeom prst="rect">
            <a:avLst/>
          </a:prstGeom>
          <a:noFill/>
          <a:ln/>
        </p:spPr>
        <p:txBody>
          <a:bodyPr wrap="square" lIns="0" tIns="0" rIns="0" bIns="0" rtlCol="0" anchor="t"/>
          <a:lstStyle/>
          <a:p>
            <a:pPr marL="0" indent="0">
              <a:buNone/>
            </a:pPr>
            <a:r>
              <a:rPr lang="en-US" sz="900" dirty="0">
                <a:solidFill>
                  <a:srgbClr val="2C3E50"/>
                </a:solidFill>
                <a:latin typeface="Calibri" pitchFamily="34" charset="0"/>
                <a:ea typeface="Calibri" pitchFamily="34" charset="-122"/>
                <a:cs typeface="Calibri" pitchFamily="34" charset="-120"/>
              </a:rPr>
              <a:t>Deploy full AI compliance automation suite as EU AI Act enforcement matures and cyber insurer requirements escalate.</a:t>
            </a:r>
            <a:endParaRPr lang="en-US" sz="900" dirty="0"/>
          </a:p>
        </p:txBody>
      </p:sp>
      <p:sp>
        <p:nvSpPr>
          <p:cNvPr id="62" name="Shape 59"/>
          <p:cNvSpPr/>
          <p:nvPr/>
        </p:nvSpPr>
        <p:spPr>
          <a:xfrm>
            <a:off x="9619488" y="5230368"/>
            <a:ext cx="2176272" cy="1188720"/>
          </a:xfrm>
          <a:prstGeom prst="rect">
            <a:avLst/>
          </a:prstGeom>
          <a:solidFill>
            <a:srgbClr val="F2F6FA"/>
          </a:solidFill>
          <a:ln w="12700">
            <a:solidFill>
              <a:srgbClr val="D0DAE4"/>
            </a:solidFill>
            <a:prstDash val="solid"/>
          </a:ln>
          <a:effectLst>
            <a:outerShdw blurRad="50800" dist="12700" dir="8100000" algn="bl" rotWithShape="0">
              <a:srgbClr val="000000">
                <a:alpha val="9000"/>
              </a:srgbClr>
            </a:outerShdw>
          </a:effectLst>
        </p:spPr>
        <p:txBody>
          <a:bodyPr/>
          <a:lstStyle/>
          <a:p>
            <a:endParaRPr lang="en-US"/>
          </a:p>
        </p:txBody>
      </p:sp>
      <p:sp>
        <p:nvSpPr>
          <p:cNvPr id="63" name="Shape 60"/>
          <p:cNvSpPr/>
          <p:nvPr/>
        </p:nvSpPr>
        <p:spPr>
          <a:xfrm>
            <a:off x="9619488" y="5230368"/>
            <a:ext cx="2176272" cy="45720"/>
          </a:xfrm>
          <a:prstGeom prst="rect">
            <a:avLst/>
          </a:prstGeom>
          <a:solidFill>
            <a:srgbClr val="5096CC"/>
          </a:solidFill>
          <a:ln w="12700">
            <a:solidFill>
              <a:srgbClr val="5096CC"/>
            </a:solidFill>
            <a:prstDash val="solid"/>
          </a:ln>
        </p:spPr>
        <p:txBody>
          <a:bodyPr/>
          <a:lstStyle/>
          <a:p>
            <a:endParaRPr lang="en-US"/>
          </a:p>
        </p:txBody>
      </p:sp>
      <p:sp>
        <p:nvSpPr>
          <p:cNvPr id="64" name="Text 61"/>
          <p:cNvSpPr/>
          <p:nvPr/>
        </p:nvSpPr>
        <p:spPr>
          <a:xfrm>
            <a:off x="9729216" y="5303520"/>
            <a:ext cx="1956816" cy="219456"/>
          </a:xfrm>
          <a:prstGeom prst="rect">
            <a:avLst/>
          </a:prstGeom>
          <a:noFill/>
          <a:ln/>
        </p:spPr>
        <p:txBody>
          <a:bodyPr wrap="square" lIns="0" tIns="0" rIns="0" bIns="0" rtlCol="0" anchor="ctr"/>
          <a:lstStyle/>
          <a:p>
            <a:pPr marL="0" indent="0">
              <a:buNone/>
            </a:pPr>
            <a:r>
              <a:rPr lang="en-US" sz="950" b="1" dirty="0">
                <a:solidFill>
                  <a:srgbClr val="5096CC"/>
                </a:solidFill>
                <a:latin typeface="Calibri" pitchFamily="34" charset="0"/>
                <a:ea typeface="Calibri" pitchFamily="34" charset="-122"/>
                <a:cs typeface="Calibri" pitchFamily="34" charset="-120"/>
              </a:rPr>
              <a:t>Silicon</a:t>
            </a:r>
            <a:endParaRPr lang="en-US" sz="950" dirty="0"/>
          </a:p>
        </p:txBody>
      </p:sp>
      <p:sp>
        <p:nvSpPr>
          <p:cNvPr id="65" name="Text 62"/>
          <p:cNvSpPr/>
          <p:nvPr/>
        </p:nvSpPr>
        <p:spPr>
          <a:xfrm>
            <a:off x="9729216" y="5522976"/>
            <a:ext cx="1956816" cy="822960"/>
          </a:xfrm>
          <a:prstGeom prst="rect">
            <a:avLst/>
          </a:prstGeom>
          <a:noFill/>
          <a:ln/>
        </p:spPr>
        <p:txBody>
          <a:bodyPr wrap="square" lIns="0" tIns="0" rIns="0" bIns="0" rtlCol="0" anchor="t"/>
          <a:lstStyle/>
          <a:p>
            <a:pPr marL="0" indent="0">
              <a:buNone/>
            </a:pPr>
            <a:r>
              <a:rPr lang="en-US" sz="900" dirty="0">
                <a:solidFill>
                  <a:srgbClr val="2C3E50"/>
                </a:solidFill>
                <a:latin typeface="Calibri" pitchFamily="34" charset="0"/>
                <a:ea typeface="Calibri" pitchFamily="34" charset="-122"/>
                <a:cs typeface="Calibri" pitchFamily="34" charset="-120"/>
              </a:rPr>
              <a:t>Evaluate on chip photonics chiplets as they approach production readiness. Do not commit capital before 2028 yield evidence.</a:t>
            </a:r>
            <a:endParaRPr lang="en-US" sz="900" dirty="0"/>
          </a:p>
        </p:txBody>
      </p:sp>
      <p:sp>
        <p:nvSpPr>
          <p:cNvPr id="66" name="Shape 63"/>
          <p:cNvSpPr/>
          <p:nvPr/>
        </p:nvSpPr>
        <p:spPr>
          <a:xfrm>
            <a:off x="411480" y="6510528"/>
            <a:ext cx="11365992" cy="45720"/>
          </a:xfrm>
          <a:prstGeom prst="rect">
            <a:avLst/>
          </a:prstGeom>
          <a:solidFill>
            <a:srgbClr val="2E6DA4"/>
          </a:solidFill>
          <a:ln w="12700">
            <a:solidFill>
              <a:srgbClr val="2E6DA4"/>
            </a:solidFill>
            <a:prstDash val="solid"/>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347472" cy="6858000"/>
          </a:xfrm>
          <a:prstGeom prst="rect">
            <a:avLst/>
          </a:prstGeom>
          <a:solidFill>
            <a:srgbClr val="2E6DA4"/>
          </a:solidFill>
          <a:ln w="12700">
            <a:solidFill>
              <a:srgbClr val="2E6DA4"/>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566928" y="137160"/>
            <a:ext cx="2011680" cy="475488"/>
          </a:xfrm>
          <a:prstGeom prst="rect">
            <a:avLst/>
          </a:prstGeom>
        </p:spPr>
      </p:pic>
      <p:sp>
        <p:nvSpPr>
          <p:cNvPr id="4" name="Text 1"/>
          <p:cNvSpPr/>
          <p:nvPr/>
        </p:nvSpPr>
        <p:spPr>
          <a:xfrm>
            <a:off x="566928" y="777240"/>
            <a:ext cx="11247120" cy="475488"/>
          </a:xfrm>
          <a:prstGeom prst="rect">
            <a:avLst/>
          </a:prstGeom>
          <a:noFill/>
          <a:ln/>
        </p:spPr>
        <p:txBody>
          <a:bodyPr wrap="square" rtlCol="0" anchor="ctr"/>
          <a:lstStyle/>
          <a:p>
            <a:pPr marL="0" indent="0">
              <a:buNone/>
            </a:pPr>
            <a:r>
              <a:rPr lang="en-US" sz="1200" b="1" kern="0" spc="100" dirty="0">
                <a:solidFill>
                  <a:srgbClr val="C8922A"/>
                </a:solidFill>
                <a:latin typeface="Calibri" pitchFamily="34" charset="0"/>
                <a:ea typeface="Calibri" pitchFamily="34" charset="-122"/>
                <a:cs typeface="Calibri" pitchFamily="34" charset="-120"/>
              </a:rPr>
              <a:t>Our Recommendation to ClearVision Ventures</a:t>
            </a:r>
            <a:endParaRPr lang="en-US" sz="1200" dirty="0"/>
          </a:p>
        </p:txBody>
      </p:sp>
      <p:sp>
        <p:nvSpPr>
          <p:cNvPr id="5" name="Text 2"/>
          <p:cNvSpPr/>
          <p:nvPr/>
        </p:nvSpPr>
        <p:spPr>
          <a:xfrm>
            <a:off x="566928" y="1234440"/>
            <a:ext cx="11247120" cy="59436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What to Build, When to Spend, and Where the Value Lives</a:t>
            </a:r>
            <a:endParaRPr lang="en-US" sz="3200" dirty="0"/>
          </a:p>
        </p:txBody>
      </p:sp>
      <p:sp>
        <p:nvSpPr>
          <p:cNvPr id="6" name="Shape 3"/>
          <p:cNvSpPr/>
          <p:nvPr/>
        </p:nvSpPr>
        <p:spPr>
          <a:xfrm>
            <a:off x="566928" y="1828800"/>
            <a:ext cx="10515600" cy="36576"/>
          </a:xfrm>
          <a:prstGeom prst="rect">
            <a:avLst/>
          </a:prstGeom>
          <a:solidFill>
            <a:srgbClr val="2E6DA4"/>
          </a:solidFill>
          <a:ln w="12700">
            <a:solidFill>
              <a:srgbClr val="2E6DA4"/>
            </a:solidFill>
            <a:prstDash val="solid"/>
          </a:ln>
        </p:spPr>
        <p:txBody>
          <a:bodyPr/>
          <a:lstStyle/>
          <a:p>
            <a:endParaRPr lang="en-US"/>
          </a:p>
        </p:txBody>
      </p:sp>
      <p:sp>
        <p:nvSpPr>
          <p:cNvPr id="7" name="Shape 4"/>
          <p:cNvSpPr/>
          <p:nvPr/>
        </p:nvSpPr>
        <p:spPr>
          <a:xfrm>
            <a:off x="566928" y="1993392"/>
            <a:ext cx="3703320" cy="1234440"/>
          </a:xfrm>
          <a:prstGeom prst="rect">
            <a:avLst/>
          </a:prstGeom>
          <a:solidFill>
            <a:srgbClr val="152E4A"/>
          </a:solidFill>
          <a:ln w="12700">
            <a:solidFill>
              <a:srgbClr val="2E6DA4"/>
            </a:solidFill>
            <a:prstDash val="solid"/>
          </a:ln>
        </p:spPr>
        <p:txBody>
          <a:bodyPr/>
          <a:lstStyle/>
          <a:p>
            <a:endParaRPr lang="en-US"/>
          </a:p>
        </p:txBody>
      </p:sp>
      <p:sp>
        <p:nvSpPr>
          <p:cNvPr id="8" name="Text 5"/>
          <p:cNvSpPr/>
          <p:nvPr/>
        </p:nvSpPr>
        <p:spPr>
          <a:xfrm>
            <a:off x="731520" y="2084832"/>
            <a:ext cx="3383280" cy="292608"/>
          </a:xfrm>
          <a:prstGeom prst="rect">
            <a:avLst/>
          </a:prstGeom>
          <a:noFill/>
          <a:ln/>
        </p:spPr>
        <p:txBody>
          <a:bodyPr wrap="square" lIns="0" tIns="0" rIns="0" bIns="0" rtlCol="0" anchor="ctr"/>
          <a:lstStyle/>
          <a:p>
            <a:pPr marL="0" indent="0">
              <a:buNone/>
            </a:pPr>
            <a:r>
              <a:rPr lang="en-US" sz="1400" b="1" dirty="0">
                <a:solidFill>
                  <a:srgbClr val="C8922A"/>
                </a:solidFill>
                <a:latin typeface="Calibri" pitchFamily="34" charset="0"/>
                <a:ea typeface="Calibri" pitchFamily="34" charset="-122"/>
                <a:cs typeface="Calibri" pitchFamily="34" charset="-120"/>
              </a:rPr>
              <a:t>WHAT</a:t>
            </a:r>
            <a:endParaRPr lang="en-US" sz="1400" dirty="0"/>
          </a:p>
        </p:txBody>
      </p:sp>
      <p:sp>
        <p:nvSpPr>
          <p:cNvPr id="9" name="Text 6"/>
          <p:cNvSpPr/>
          <p:nvPr/>
        </p:nvSpPr>
        <p:spPr>
          <a:xfrm>
            <a:off x="731520" y="2395728"/>
            <a:ext cx="3383280" cy="749808"/>
          </a:xfrm>
          <a:prstGeom prst="rect">
            <a:avLst/>
          </a:prstGeom>
          <a:noFill/>
          <a:ln/>
        </p:spPr>
        <p:txBody>
          <a:bodyPr wrap="square" lIns="0" tIns="0" rIns="0" bIns="0" rtlCol="0" anchor="t"/>
          <a:lstStyle/>
          <a:p>
            <a:pPr marL="0" indent="0">
              <a:buNone/>
            </a:pPr>
            <a:r>
              <a:rPr lang="en-US" sz="950" dirty="0">
                <a:solidFill>
                  <a:srgbClr val="D0DAE4"/>
                </a:solidFill>
                <a:latin typeface="Calibri" pitchFamily="34" charset="0"/>
                <a:ea typeface="Calibri" pitchFamily="34" charset="-122"/>
                <a:cs typeface="Calibri" pitchFamily="34" charset="-120"/>
              </a:rPr>
              <a:t>Build or operate a next generation AI data center that is competitive in 2027 to 2030, not 2024. The infrastructure decisions made today are a 15 to 20 year commitment.</a:t>
            </a:r>
            <a:endParaRPr lang="en-US" sz="950" dirty="0"/>
          </a:p>
        </p:txBody>
      </p:sp>
      <p:sp>
        <p:nvSpPr>
          <p:cNvPr id="10" name="Shape 7"/>
          <p:cNvSpPr/>
          <p:nvPr/>
        </p:nvSpPr>
        <p:spPr>
          <a:xfrm>
            <a:off x="4453128" y="1993392"/>
            <a:ext cx="3703320" cy="1234440"/>
          </a:xfrm>
          <a:prstGeom prst="rect">
            <a:avLst/>
          </a:prstGeom>
          <a:solidFill>
            <a:srgbClr val="152E4A"/>
          </a:solidFill>
          <a:ln w="12700">
            <a:solidFill>
              <a:srgbClr val="2E6DA4"/>
            </a:solidFill>
            <a:prstDash val="solid"/>
          </a:ln>
        </p:spPr>
        <p:txBody>
          <a:bodyPr/>
          <a:lstStyle/>
          <a:p>
            <a:endParaRPr lang="en-US"/>
          </a:p>
        </p:txBody>
      </p:sp>
      <p:sp>
        <p:nvSpPr>
          <p:cNvPr id="11" name="Text 8"/>
          <p:cNvSpPr/>
          <p:nvPr/>
        </p:nvSpPr>
        <p:spPr>
          <a:xfrm>
            <a:off x="4617720" y="2084832"/>
            <a:ext cx="3383280" cy="292608"/>
          </a:xfrm>
          <a:prstGeom prst="rect">
            <a:avLst/>
          </a:prstGeom>
          <a:noFill/>
          <a:ln/>
        </p:spPr>
        <p:txBody>
          <a:bodyPr wrap="square" lIns="0" tIns="0" rIns="0" bIns="0" rtlCol="0" anchor="ctr"/>
          <a:lstStyle/>
          <a:p>
            <a:pPr marL="0" indent="0">
              <a:buNone/>
            </a:pPr>
            <a:r>
              <a:rPr lang="en-US" sz="1400" b="1" dirty="0">
                <a:solidFill>
                  <a:srgbClr val="C8922A"/>
                </a:solidFill>
                <a:latin typeface="Calibri" pitchFamily="34" charset="0"/>
                <a:ea typeface="Calibri" pitchFamily="34" charset="-122"/>
                <a:cs typeface="Calibri" pitchFamily="34" charset="-120"/>
              </a:rPr>
              <a:t>WHEN</a:t>
            </a:r>
            <a:endParaRPr lang="en-US" sz="1400" dirty="0"/>
          </a:p>
        </p:txBody>
      </p:sp>
      <p:sp>
        <p:nvSpPr>
          <p:cNvPr id="12" name="Text 9"/>
          <p:cNvSpPr/>
          <p:nvPr/>
        </p:nvSpPr>
        <p:spPr>
          <a:xfrm>
            <a:off x="4617720" y="2395728"/>
            <a:ext cx="3383280" cy="749808"/>
          </a:xfrm>
          <a:prstGeom prst="rect">
            <a:avLst/>
          </a:prstGeom>
          <a:noFill/>
          <a:ln/>
        </p:spPr>
        <p:txBody>
          <a:bodyPr wrap="square" lIns="0" tIns="0" rIns="0" bIns="0" rtlCol="0" anchor="t"/>
          <a:lstStyle/>
          <a:p>
            <a:pPr marL="0" indent="0">
              <a:buNone/>
            </a:pPr>
            <a:r>
              <a:rPr lang="en-US" sz="950" dirty="0">
                <a:solidFill>
                  <a:srgbClr val="D0DAE4"/>
                </a:solidFill>
                <a:latin typeface="Calibri" pitchFamily="34" charset="0"/>
                <a:ea typeface="Calibri" pitchFamily="34" charset="-122"/>
                <a:cs typeface="Calibri" pitchFamily="34" charset="-120"/>
              </a:rPr>
              <a:t>The window is 2026. Not 2027. The architecture choices made in the next 12 months lock in your economics for two hardware generations. Waiting costs compounding margin.</a:t>
            </a:r>
            <a:endParaRPr lang="en-US" sz="950" dirty="0"/>
          </a:p>
        </p:txBody>
      </p:sp>
      <p:sp>
        <p:nvSpPr>
          <p:cNvPr id="13" name="Shape 10"/>
          <p:cNvSpPr/>
          <p:nvPr/>
        </p:nvSpPr>
        <p:spPr>
          <a:xfrm>
            <a:off x="8339328" y="1993392"/>
            <a:ext cx="3703320" cy="1234440"/>
          </a:xfrm>
          <a:prstGeom prst="rect">
            <a:avLst/>
          </a:prstGeom>
          <a:solidFill>
            <a:srgbClr val="152E4A"/>
          </a:solidFill>
          <a:ln w="12700">
            <a:solidFill>
              <a:srgbClr val="2E6DA4"/>
            </a:solidFill>
            <a:prstDash val="solid"/>
          </a:ln>
        </p:spPr>
        <p:txBody>
          <a:bodyPr/>
          <a:lstStyle/>
          <a:p>
            <a:endParaRPr lang="en-US"/>
          </a:p>
        </p:txBody>
      </p:sp>
      <p:sp>
        <p:nvSpPr>
          <p:cNvPr id="14" name="Text 11"/>
          <p:cNvSpPr/>
          <p:nvPr/>
        </p:nvSpPr>
        <p:spPr>
          <a:xfrm>
            <a:off x="8503920" y="2084832"/>
            <a:ext cx="3383280" cy="292608"/>
          </a:xfrm>
          <a:prstGeom prst="rect">
            <a:avLst/>
          </a:prstGeom>
          <a:noFill/>
          <a:ln/>
        </p:spPr>
        <p:txBody>
          <a:bodyPr wrap="square" lIns="0" tIns="0" rIns="0" bIns="0" rtlCol="0" anchor="ctr"/>
          <a:lstStyle/>
          <a:p>
            <a:pPr marL="0" indent="0">
              <a:buNone/>
            </a:pPr>
            <a:r>
              <a:rPr lang="en-US" sz="1400" b="1" dirty="0">
                <a:solidFill>
                  <a:srgbClr val="C8922A"/>
                </a:solidFill>
                <a:latin typeface="Calibri" pitchFamily="34" charset="0"/>
                <a:ea typeface="Calibri" pitchFamily="34" charset="-122"/>
                <a:cs typeface="Calibri" pitchFamily="34" charset="-120"/>
              </a:rPr>
              <a:t>WHY</a:t>
            </a:r>
            <a:endParaRPr lang="en-US" sz="1400" dirty="0"/>
          </a:p>
        </p:txBody>
      </p:sp>
      <p:sp>
        <p:nvSpPr>
          <p:cNvPr id="15" name="Text 12"/>
          <p:cNvSpPr/>
          <p:nvPr/>
        </p:nvSpPr>
        <p:spPr>
          <a:xfrm>
            <a:off x="8503920" y="2395728"/>
            <a:ext cx="3383280" cy="749808"/>
          </a:xfrm>
          <a:prstGeom prst="rect">
            <a:avLst/>
          </a:prstGeom>
          <a:noFill/>
          <a:ln/>
        </p:spPr>
        <p:txBody>
          <a:bodyPr wrap="square" lIns="0" tIns="0" rIns="0" bIns="0" rtlCol="0" anchor="t"/>
          <a:lstStyle/>
          <a:p>
            <a:pPr marL="0" indent="0">
              <a:buNone/>
            </a:pPr>
            <a:r>
              <a:rPr lang="en-US" sz="950" dirty="0">
                <a:solidFill>
                  <a:srgbClr val="D0DAE4"/>
                </a:solidFill>
                <a:latin typeface="Calibri" pitchFamily="34" charset="0"/>
                <a:ea typeface="Calibri" pitchFamily="34" charset="-122"/>
                <a:cs typeface="Calibri" pitchFamily="34" charset="-120"/>
              </a:rPr>
              <a:t>$650B is committed but blocked. 49GW is missing. Copper is running out. Software tools are obsolete. Interconnects are failing at current speeds. The CEO who solves these five constraints in sequence will operate at half the cost of the CEO who waits.</a:t>
            </a:r>
            <a:endParaRPr lang="en-US" sz="950" dirty="0"/>
          </a:p>
        </p:txBody>
      </p:sp>
      <p:sp>
        <p:nvSpPr>
          <p:cNvPr id="16" name="Text 13"/>
          <p:cNvSpPr/>
          <p:nvPr/>
        </p:nvSpPr>
        <p:spPr>
          <a:xfrm>
            <a:off x="566928" y="3383280"/>
            <a:ext cx="2743200" cy="292608"/>
          </a:xfrm>
          <a:prstGeom prst="rect">
            <a:avLst/>
          </a:prstGeom>
          <a:noFill/>
          <a:ln/>
        </p:spPr>
        <p:txBody>
          <a:bodyPr wrap="square" lIns="0" tIns="0" rIns="0" bIns="0" rtlCol="0" anchor="ctr"/>
          <a:lstStyle/>
          <a:p>
            <a:pPr marL="0" indent="0">
              <a:buNone/>
            </a:pPr>
            <a:r>
              <a:rPr lang="en-US" sz="1400" b="1" dirty="0">
                <a:solidFill>
                  <a:srgbClr val="C8922A"/>
                </a:solidFill>
                <a:latin typeface="Calibri" pitchFamily="34" charset="0"/>
                <a:ea typeface="Calibri" pitchFamily="34" charset="-122"/>
                <a:cs typeface="Calibri" pitchFamily="34" charset="-120"/>
              </a:rPr>
              <a:t>WHICH</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3675888"/>
          <a:ext cx="11247120" cy="1883664"/>
        </p:xfrm>
        <a:graphic>
          <a:graphicData uri="http://schemas.openxmlformats.org/drawingml/2006/table">
            <a:tbl>
              <a:tblPr/>
              <a:tblGrid>
                <a:gridCol w="1005840">
                  <a:extLst>
                    <a:ext uri="{9D8B030D-6E8A-4147-A177-3AD203B41FA5}">
                      <a16:colId xmlns:a16="http://schemas.microsoft.com/office/drawing/2014/main" val="20000"/>
                    </a:ext>
                  </a:extLst>
                </a:gridCol>
                <a:gridCol w="3410712">
                  <a:extLst>
                    <a:ext uri="{9D8B030D-6E8A-4147-A177-3AD203B41FA5}">
                      <a16:colId xmlns:a16="http://schemas.microsoft.com/office/drawing/2014/main" val="20001"/>
                    </a:ext>
                  </a:extLst>
                </a:gridCol>
                <a:gridCol w="3410712">
                  <a:extLst>
                    <a:ext uri="{9D8B030D-6E8A-4147-A177-3AD203B41FA5}">
                      <a16:colId xmlns:a16="http://schemas.microsoft.com/office/drawing/2014/main" val="20002"/>
                    </a:ext>
                  </a:extLst>
                </a:gridCol>
                <a:gridCol w="3419856">
                  <a:extLst>
                    <a:ext uri="{9D8B030D-6E8A-4147-A177-3AD203B41FA5}">
                      <a16:colId xmlns:a16="http://schemas.microsoft.com/office/drawing/2014/main" val="20003"/>
                    </a:ext>
                  </a:extLst>
                </a:gridCol>
              </a:tblGrid>
              <a:tr h="347472">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Layer</a:t>
                      </a:r>
                      <a:endParaRPr lang="en-US" sz="100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A2E4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Act Now</a:t>
                      </a:r>
                      <a:endParaRPr lang="en-US" sz="100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F7A5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Watch and Prepare</a:t>
                      </a:r>
                      <a:endParaRPr lang="en-US" sz="100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2E6DA4"/>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Wait for Evidence</a:t>
                      </a:r>
                      <a:endParaRPr lang="en-US" sz="100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6B7A8A"/>
                    </a:solidFill>
                  </a:tcPr>
                </a:tc>
                <a:extLst>
                  <a:ext uri="{0D108BD9-81ED-4DB2-BD59-A6C34878D82A}">
                    <a16:rowId xmlns:a16="http://schemas.microsoft.com/office/drawing/2014/main" val="10000"/>
                  </a:ext>
                </a:extLst>
              </a:tr>
              <a:tr h="38404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Power</a:t>
                      </a:r>
                      <a:endParaRPr lang="en-US" sz="100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A2E45"/>
                    </a:solidFill>
                  </a:tcPr>
                </a:tc>
                <a:tc>
                  <a:txBody>
                    <a:bodyPr/>
                    <a:lstStyle/>
                    <a:p>
                      <a:pPr marL="0" indent="0">
                        <a:buNone/>
                      </a:pPr>
                      <a:r>
                        <a:rPr lang="en-US" sz="950" dirty="0">
                          <a:solidFill>
                            <a:srgbClr val="F2F6FA"/>
                          </a:solidFill>
                          <a:latin typeface="Calibri" pitchFamily="34" charset="0"/>
                          <a:ea typeface="Calibri" pitchFamily="34" charset="-122"/>
                          <a:cs typeface="Calibri" pitchFamily="34" charset="-120"/>
                        </a:rPr>
                        <a:t>GaN PSUs in all new builds immediately</a:t>
                      </a:r>
                      <a:endParaRPr lang="en-US" sz="95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73D2C"/>
                    </a:solidFill>
                  </a:tcPr>
                </a:tc>
                <a:tc>
                  <a:txBody>
                    <a:bodyPr/>
                    <a:lstStyle/>
                    <a:p>
                      <a:pPr marL="0" indent="0">
                        <a:buNone/>
                      </a:pPr>
                      <a:r>
                        <a:rPr lang="en-US" sz="950" dirty="0">
                          <a:solidFill>
                            <a:srgbClr val="F2F6FA"/>
                          </a:solidFill>
                          <a:latin typeface="Calibri" pitchFamily="34" charset="0"/>
                          <a:ea typeface="Calibri" pitchFamily="34" charset="-122"/>
                          <a:cs typeface="Calibri" pitchFamily="34" charset="-120"/>
                        </a:rPr>
                        <a:t>HTS campus pilots through VEIR</a:t>
                      </a:r>
                      <a:endParaRPr lang="en-US" sz="95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62840"/>
                    </a:solidFill>
                  </a:tcPr>
                </a:tc>
                <a:tc>
                  <a:txBody>
                    <a:bodyPr/>
                    <a:lstStyle/>
                    <a:p>
                      <a:pPr marL="0" indent="0">
                        <a:buNone/>
                      </a:pPr>
                      <a:r>
                        <a:rPr lang="en-US" sz="950" dirty="0">
                          <a:solidFill>
                            <a:srgbClr val="D0DAE4"/>
                          </a:solidFill>
                          <a:latin typeface="Calibri" pitchFamily="34" charset="0"/>
                          <a:ea typeface="Calibri" pitchFamily="34" charset="-122"/>
                          <a:cs typeface="Calibri" pitchFamily="34" charset="-120"/>
                        </a:rPr>
                        <a:t>Full HTS buildout until 2028 pilot data confirms</a:t>
                      </a:r>
                      <a:endParaRPr lang="en-US" sz="95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A2535"/>
                    </a:solidFill>
                  </a:tcPr>
                </a:tc>
                <a:extLst>
                  <a:ext uri="{0D108BD9-81ED-4DB2-BD59-A6C34878D82A}">
                    <a16:rowId xmlns:a16="http://schemas.microsoft.com/office/drawing/2014/main" val="10001"/>
                  </a:ext>
                </a:extLst>
              </a:tr>
              <a:tr h="38404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Software</a:t>
                      </a:r>
                      <a:endParaRPr lang="en-US" sz="100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A2E45"/>
                    </a:solidFill>
                  </a:tcPr>
                </a:tc>
                <a:tc>
                  <a:txBody>
                    <a:bodyPr/>
                    <a:lstStyle/>
                    <a:p>
                      <a:pPr marL="0" indent="0">
                        <a:buNone/>
                      </a:pPr>
                      <a:r>
                        <a:rPr lang="en-US" sz="950" dirty="0">
                          <a:solidFill>
                            <a:srgbClr val="F2F6FA"/>
                          </a:solidFill>
                          <a:latin typeface="Calibri" pitchFamily="34" charset="0"/>
                          <a:ea typeface="Calibri" pitchFamily="34" charset="-122"/>
                          <a:cs typeface="Calibri" pitchFamily="34" charset="-120"/>
                        </a:rPr>
                        <a:t>AI native DCIM across all facilities</a:t>
                      </a:r>
                      <a:endParaRPr lang="en-US" sz="95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73D2C"/>
                    </a:solidFill>
                  </a:tcPr>
                </a:tc>
                <a:tc>
                  <a:txBody>
                    <a:bodyPr/>
                    <a:lstStyle/>
                    <a:p>
                      <a:pPr marL="0" indent="0">
                        <a:buNone/>
                      </a:pPr>
                      <a:r>
                        <a:rPr lang="en-US" sz="950" dirty="0">
                          <a:solidFill>
                            <a:srgbClr val="F2F6FA"/>
                          </a:solidFill>
                          <a:latin typeface="Calibri" pitchFamily="34" charset="0"/>
                          <a:ea typeface="Calibri" pitchFamily="34" charset="-122"/>
                          <a:cs typeface="Calibri" pitchFamily="34" charset="-120"/>
                        </a:rPr>
                        <a:t>Inference optimization tooling now</a:t>
                      </a:r>
                      <a:endParaRPr lang="en-US" sz="95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62840"/>
                    </a:solidFill>
                  </a:tcPr>
                </a:tc>
                <a:tc>
                  <a:txBody>
                    <a:bodyPr/>
                    <a:lstStyle/>
                    <a:p>
                      <a:pPr marL="0" indent="0">
                        <a:buNone/>
                      </a:pPr>
                      <a:r>
                        <a:rPr lang="en-US" sz="950" dirty="0">
                          <a:solidFill>
                            <a:srgbClr val="D0DAE4"/>
                          </a:solidFill>
                          <a:latin typeface="Calibri" pitchFamily="34" charset="0"/>
                          <a:ea typeface="Calibri" pitchFamily="34" charset="-122"/>
                          <a:cs typeface="Calibri" pitchFamily="34" charset="-120"/>
                        </a:rPr>
                        <a:t>Full AI compliance suite until regulation matures</a:t>
                      </a:r>
                      <a:endParaRPr lang="en-US" sz="95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A2535"/>
                    </a:solidFill>
                  </a:tcPr>
                </a:tc>
                <a:extLst>
                  <a:ext uri="{0D108BD9-81ED-4DB2-BD59-A6C34878D82A}">
                    <a16:rowId xmlns:a16="http://schemas.microsoft.com/office/drawing/2014/main" val="10002"/>
                  </a:ext>
                </a:extLst>
              </a:tr>
              <a:tr h="38404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Photonics</a:t>
                      </a:r>
                      <a:endParaRPr lang="en-US" sz="100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A2E45"/>
                    </a:solidFill>
                  </a:tcPr>
                </a:tc>
                <a:tc>
                  <a:txBody>
                    <a:bodyPr/>
                    <a:lstStyle/>
                    <a:p>
                      <a:pPr marL="0" indent="0">
                        <a:buNone/>
                      </a:pPr>
                      <a:r>
                        <a:rPr lang="en-US" sz="950" dirty="0">
                          <a:solidFill>
                            <a:srgbClr val="F2F6FA"/>
                          </a:solidFill>
                          <a:latin typeface="Calibri" pitchFamily="34" charset="0"/>
                          <a:ea typeface="Calibri" pitchFamily="34" charset="-122"/>
                          <a:cs typeface="Calibri" pitchFamily="34" charset="-120"/>
                        </a:rPr>
                        <a:t>Secure InP laser supply allocation</a:t>
                      </a:r>
                      <a:endParaRPr lang="en-US" sz="95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73D2C"/>
                    </a:solidFill>
                  </a:tcPr>
                </a:tc>
                <a:tc>
                  <a:txBody>
                    <a:bodyPr/>
                    <a:lstStyle/>
                    <a:p>
                      <a:pPr marL="0" indent="0">
                        <a:buNone/>
                      </a:pPr>
                      <a:r>
                        <a:rPr lang="en-US" sz="950" dirty="0">
                          <a:solidFill>
                            <a:srgbClr val="F2F6FA"/>
                          </a:solidFill>
                          <a:latin typeface="Calibri" pitchFamily="34" charset="0"/>
                          <a:ea typeface="Calibri" pitchFamily="34" charset="-122"/>
                          <a:cs typeface="Calibri" pitchFamily="34" charset="-120"/>
                        </a:rPr>
                        <a:t>Lead silicon photonics Series B</a:t>
                      </a:r>
                      <a:endParaRPr lang="en-US" sz="95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62840"/>
                    </a:solidFill>
                  </a:tcPr>
                </a:tc>
                <a:tc>
                  <a:txBody>
                    <a:bodyPr/>
                    <a:lstStyle/>
                    <a:p>
                      <a:pPr marL="0" indent="0">
                        <a:buNone/>
                      </a:pPr>
                      <a:r>
                        <a:rPr lang="en-US" sz="950" dirty="0">
                          <a:solidFill>
                            <a:srgbClr val="D0DAE4"/>
                          </a:solidFill>
                          <a:latin typeface="Calibri" pitchFamily="34" charset="0"/>
                          <a:ea typeface="Calibri" pitchFamily="34" charset="-122"/>
                          <a:cs typeface="Calibri" pitchFamily="34" charset="-120"/>
                        </a:rPr>
                        <a:t>On chip chiplets until 2028 yield evidence</a:t>
                      </a:r>
                      <a:endParaRPr lang="en-US" sz="95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A2535"/>
                    </a:solidFill>
                  </a:tcPr>
                </a:tc>
                <a:extLst>
                  <a:ext uri="{0D108BD9-81ED-4DB2-BD59-A6C34878D82A}">
                    <a16:rowId xmlns:a16="http://schemas.microsoft.com/office/drawing/2014/main" val="10003"/>
                  </a:ext>
                </a:extLst>
              </a:tr>
              <a:tr h="38404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Cooling</a:t>
                      </a:r>
                      <a:endParaRPr lang="en-US" sz="100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A2E45"/>
                    </a:solidFill>
                  </a:tcPr>
                </a:tc>
                <a:tc>
                  <a:txBody>
                    <a:bodyPr/>
                    <a:lstStyle/>
                    <a:p>
                      <a:pPr marL="0" indent="0">
                        <a:buNone/>
                      </a:pPr>
                      <a:r>
                        <a:rPr lang="en-US" sz="950" dirty="0">
                          <a:solidFill>
                            <a:srgbClr val="F2F6FA"/>
                          </a:solidFill>
                          <a:latin typeface="Calibri" pitchFamily="34" charset="0"/>
                          <a:ea typeface="Calibri" pitchFamily="34" charset="-122"/>
                          <a:cs typeface="Calibri" pitchFamily="34" charset="-120"/>
                        </a:rPr>
                        <a:t>Waste heat recovery in EU facilities</a:t>
                      </a:r>
                      <a:endParaRPr lang="en-US" sz="95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73D2C"/>
                    </a:solidFill>
                  </a:tcPr>
                </a:tc>
                <a:tc>
                  <a:txBody>
                    <a:bodyPr/>
                    <a:lstStyle/>
                    <a:p>
                      <a:pPr marL="0" indent="0">
                        <a:buNone/>
                      </a:pPr>
                      <a:r>
                        <a:rPr lang="en-US" sz="950" dirty="0">
                          <a:solidFill>
                            <a:srgbClr val="F2F6FA"/>
                          </a:solidFill>
                          <a:latin typeface="Calibri" pitchFamily="34" charset="0"/>
                          <a:ea typeface="Calibri" pitchFamily="34" charset="-122"/>
                          <a:cs typeface="Calibri" pitchFamily="34" charset="-120"/>
                        </a:rPr>
                        <a:t>Chip level thermal materials investments</a:t>
                      </a:r>
                      <a:endParaRPr lang="en-US" sz="95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62840"/>
                    </a:solidFill>
                  </a:tcPr>
                </a:tc>
                <a:tc>
                  <a:txBody>
                    <a:bodyPr/>
                    <a:lstStyle/>
                    <a:p>
                      <a:pPr marL="0" indent="0">
                        <a:buNone/>
                      </a:pPr>
                      <a:r>
                        <a:rPr lang="en-US" sz="950" dirty="0">
                          <a:solidFill>
                            <a:srgbClr val="D0DAE4"/>
                          </a:solidFill>
                          <a:latin typeface="Calibri" pitchFamily="34" charset="0"/>
                          <a:ea typeface="Calibri" pitchFamily="34" charset="-122"/>
                          <a:cs typeface="Calibri" pitchFamily="34" charset="-120"/>
                        </a:rPr>
                        <a:t>Thermal storage until 2028 to 2030</a:t>
                      </a:r>
                      <a:endParaRPr lang="en-US" sz="950" dirty="0">
                        <a:latin typeface="Calibri" charset="0"/>
                        <a:ea typeface="Calibri" charset="0"/>
                        <a:cs typeface="Calibri" charset="0"/>
                      </a:endParaRPr>
                    </a:p>
                  </a:txBody>
                  <a:tcPr anchor="ctr">
                    <a:lnL w="6350" cap="flat" cmpd="sng" algn="ctr">
                      <a:solidFill>
                        <a:srgbClr val="2A4A68"/>
                      </a:solidFill>
                      <a:prstDash val="solid"/>
                      <a:round/>
                      <a:headEnd type="none" w="med" len="med"/>
                      <a:tailEnd type="none" w="med" len="med"/>
                    </a:lnL>
                    <a:lnR w="6350" cap="flat" cmpd="sng" algn="ctr">
                      <a:solidFill>
                        <a:srgbClr val="2A4A68"/>
                      </a:solidFill>
                      <a:prstDash val="solid"/>
                      <a:round/>
                      <a:headEnd type="none" w="med" len="med"/>
                      <a:tailEnd type="none" w="med" len="med"/>
                    </a:lnR>
                    <a:lnT w="6350" cap="flat" cmpd="sng" algn="ctr">
                      <a:solidFill>
                        <a:srgbClr val="2A4A68"/>
                      </a:solidFill>
                      <a:prstDash val="solid"/>
                      <a:round/>
                      <a:headEnd type="none" w="med" len="med"/>
                      <a:tailEnd type="none" w="med" len="med"/>
                    </a:lnT>
                    <a:lnB w="6350" cap="flat" cmpd="sng" algn="ctr">
                      <a:solidFill>
                        <a:srgbClr val="2A4A68"/>
                      </a:solidFill>
                      <a:prstDash val="solid"/>
                      <a:round/>
                      <a:headEnd type="none" w="med" len="med"/>
                      <a:tailEnd type="none" w="med" len="med"/>
                    </a:lnB>
                    <a:solidFill>
                      <a:srgbClr val="1A2535"/>
                    </a:solidFill>
                  </a:tcPr>
                </a:tc>
                <a:extLst>
                  <a:ext uri="{0D108BD9-81ED-4DB2-BD59-A6C34878D82A}">
                    <a16:rowId xmlns:a16="http://schemas.microsoft.com/office/drawing/2014/main" val="10004"/>
                  </a:ext>
                </a:extLst>
              </a:tr>
            </a:tbl>
          </a:graphicData>
        </a:graphic>
      </p:graphicFrame>
      <p:sp>
        <p:nvSpPr>
          <p:cNvPr id="18" name="Shape 14"/>
          <p:cNvSpPr/>
          <p:nvPr/>
        </p:nvSpPr>
        <p:spPr>
          <a:xfrm>
            <a:off x="566928" y="5943600"/>
            <a:ext cx="2148840" cy="685800"/>
          </a:xfrm>
          <a:prstGeom prst="rect">
            <a:avLst/>
          </a:prstGeom>
          <a:solidFill>
            <a:srgbClr val="0F1E30"/>
          </a:solidFill>
          <a:ln w="12700">
            <a:solidFill>
              <a:srgbClr val="1B3A5C"/>
            </a:solidFill>
            <a:prstDash val="solid"/>
          </a:ln>
        </p:spPr>
        <p:txBody>
          <a:bodyPr/>
          <a:lstStyle/>
          <a:p>
            <a:endParaRPr lang="en-US"/>
          </a:p>
        </p:txBody>
      </p:sp>
      <p:sp>
        <p:nvSpPr>
          <p:cNvPr id="19" name="Text 15"/>
          <p:cNvSpPr/>
          <p:nvPr/>
        </p:nvSpPr>
        <p:spPr>
          <a:xfrm>
            <a:off x="676656" y="5998464"/>
            <a:ext cx="1938528" cy="201168"/>
          </a:xfrm>
          <a:prstGeom prst="rect">
            <a:avLst/>
          </a:prstGeom>
          <a:noFill/>
          <a:ln/>
        </p:spPr>
        <p:txBody>
          <a:bodyPr wrap="square" lIns="0" tIns="0" rIns="0" bIns="0" rtlCol="0" anchor="ctr"/>
          <a:lstStyle/>
          <a:p>
            <a:pPr marL="0" indent="0">
              <a:buNone/>
            </a:pPr>
            <a:r>
              <a:rPr lang="en-US" sz="950" b="1" dirty="0">
                <a:solidFill>
                  <a:srgbClr val="1B3A5C"/>
                </a:solidFill>
                <a:latin typeface="Calibri" pitchFamily="34" charset="0"/>
                <a:ea typeface="Calibri" pitchFamily="34" charset="-122"/>
                <a:cs typeface="Calibri" pitchFamily="34" charset="-120"/>
              </a:rPr>
              <a:t>Vince</a:t>
            </a:r>
            <a:endParaRPr lang="en-US" sz="950" dirty="0"/>
          </a:p>
        </p:txBody>
      </p:sp>
      <p:sp>
        <p:nvSpPr>
          <p:cNvPr id="20" name="Text 16"/>
          <p:cNvSpPr/>
          <p:nvPr/>
        </p:nvSpPr>
        <p:spPr>
          <a:xfrm>
            <a:off x="676656" y="6199632"/>
            <a:ext cx="1938528" cy="347472"/>
          </a:xfrm>
          <a:prstGeom prst="rect">
            <a:avLst/>
          </a:prstGeom>
          <a:noFill/>
          <a:ln/>
        </p:spPr>
        <p:txBody>
          <a:bodyPr wrap="square" lIns="0" tIns="0" rIns="0" bIns="0" rtlCol="0" anchor="ctr"/>
          <a:lstStyle/>
          <a:p>
            <a:pPr marL="0" indent="0">
              <a:buNone/>
            </a:pPr>
            <a:r>
              <a:rPr lang="en-US" sz="850" dirty="0">
                <a:solidFill>
                  <a:srgbClr val="D0DAE4"/>
                </a:solidFill>
                <a:latin typeface="Calibri" pitchFamily="34" charset="0"/>
                <a:ea typeface="Calibri" pitchFamily="34" charset="-122"/>
                <a:cs typeface="Calibri" pitchFamily="34" charset="-120"/>
              </a:rPr>
              <a:t>GaN is not optional, spec it in now. HTS is the 2027 bet that unlocks megawatt scale campus delivery.</a:t>
            </a:r>
            <a:endParaRPr lang="en-US" sz="850" dirty="0"/>
          </a:p>
        </p:txBody>
      </p:sp>
      <p:sp>
        <p:nvSpPr>
          <p:cNvPr id="21" name="Shape 17"/>
          <p:cNvSpPr/>
          <p:nvPr/>
        </p:nvSpPr>
        <p:spPr>
          <a:xfrm>
            <a:off x="2825496" y="5943600"/>
            <a:ext cx="2148840" cy="685800"/>
          </a:xfrm>
          <a:prstGeom prst="rect">
            <a:avLst/>
          </a:prstGeom>
          <a:solidFill>
            <a:srgbClr val="0F1E30"/>
          </a:solidFill>
          <a:ln w="12700">
            <a:solidFill>
              <a:srgbClr val="2E6DA4"/>
            </a:solidFill>
            <a:prstDash val="solid"/>
          </a:ln>
        </p:spPr>
        <p:txBody>
          <a:bodyPr/>
          <a:lstStyle/>
          <a:p>
            <a:endParaRPr lang="en-US"/>
          </a:p>
        </p:txBody>
      </p:sp>
      <p:sp>
        <p:nvSpPr>
          <p:cNvPr id="22" name="Text 18"/>
          <p:cNvSpPr/>
          <p:nvPr/>
        </p:nvSpPr>
        <p:spPr>
          <a:xfrm>
            <a:off x="2935224" y="5998464"/>
            <a:ext cx="1938528" cy="201168"/>
          </a:xfrm>
          <a:prstGeom prst="rect">
            <a:avLst/>
          </a:prstGeom>
          <a:noFill/>
          <a:ln/>
        </p:spPr>
        <p:txBody>
          <a:bodyPr wrap="square" lIns="0" tIns="0" rIns="0" bIns="0" rtlCol="0" anchor="ctr"/>
          <a:lstStyle/>
          <a:p>
            <a:pPr marL="0" indent="0">
              <a:buNone/>
            </a:pPr>
            <a:r>
              <a:rPr lang="en-US" sz="950" b="1" dirty="0">
                <a:solidFill>
                  <a:srgbClr val="2E6DA4"/>
                </a:solidFill>
                <a:latin typeface="Calibri" pitchFamily="34" charset="0"/>
                <a:ea typeface="Calibri" pitchFamily="34" charset="-122"/>
                <a:cs typeface="Calibri" pitchFamily="34" charset="-120"/>
              </a:rPr>
              <a:t>Johanes</a:t>
            </a:r>
            <a:endParaRPr lang="en-US" sz="950" dirty="0"/>
          </a:p>
        </p:txBody>
      </p:sp>
      <p:sp>
        <p:nvSpPr>
          <p:cNvPr id="23" name="Text 19"/>
          <p:cNvSpPr/>
          <p:nvPr/>
        </p:nvSpPr>
        <p:spPr>
          <a:xfrm>
            <a:off x="2935224" y="6199632"/>
            <a:ext cx="1938528" cy="347472"/>
          </a:xfrm>
          <a:prstGeom prst="rect">
            <a:avLst/>
          </a:prstGeom>
          <a:noFill/>
          <a:ln/>
        </p:spPr>
        <p:txBody>
          <a:bodyPr wrap="square" lIns="0" tIns="0" rIns="0" bIns="0" rtlCol="0" anchor="ctr"/>
          <a:lstStyle/>
          <a:p>
            <a:pPr marL="0" indent="0">
              <a:buNone/>
            </a:pPr>
            <a:r>
              <a:rPr lang="en-US" sz="850" dirty="0">
                <a:solidFill>
                  <a:srgbClr val="D0DAE4"/>
                </a:solidFill>
                <a:latin typeface="Calibri" pitchFamily="34" charset="0"/>
                <a:ea typeface="Calibri" pitchFamily="34" charset="-122"/>
                <a:cs typeface="Calibri" pitchFamily="34" charset="-120"/>
              </a:rPr>
              <a:t>The software stack needs a rebuild. AI native DCIM is the highest ROI software investment available today.</a:t>
            </a:r>
            <a:endParaRPr lang="en-US" sz="850" dirty="0"/>
          </a:p>
        </p:txBody>
      </p:sp>
      <p:sp>
        <p:nvSpPr>
          <p:cNvPr id="24" name="Shape 20"/>
          <p:cNvSpPr/>
          <p:nvPr/>
        </p:nvSpPr>
        <p:spPr>
          <a:xfrm>
            <a:off x="5084064" y="5943600"/>
            <a:ext cx="2148840" cy="685800"/>
          </a:xfrm>
          <a:prstGeom prst="rect">
            <a:avLst/>
          </a:prstGeom>
          <a:solidFill>
            <a:srgbClr val="0F1E30"/>
          </a:solidFill>
          <a:ln w="12700">
            <a:solidFill>
              <a:srgbClr val="5096CC"/>
            </a:solidFill>
            <a:prstDash val="solid"/>
          </a:ln>
        </p:spPr>
        <p:txBody>
          <a:bodyPr/>
          <a:lstStyle/>
          <a:p>
            <a:endParaRPr lang="en-US"/>
          </a:p>
        </p:txBody>
      </p:sp>
      <p:sp>
        <p:nvSpPr>
          <p:cNvPr id="25" name="Text 21"/>
          <p:cNvSpPr/>
          <p:nvPr/>
        </p:nvSpPr>
        <p:spPr>
          <a:xfrm>
            <a:off x="5193792" y="5998464"/>
            <a:ext cx="1938528" cy="201168"/>
          </a:xfrm>
          <a:prstGeom prst="rect">
            <a:avLst/>
          </a:prstGeom>
          <a:noFill/>
          <a:ln/>
        </p:spPr>
        <p:txBody>
          <a:bodyPr wrap="square" lIns="0" tIns="0" rIns="0" bIns="0" rtlCol="0" anchor="ctr"/>
          <a:lstStyle/>
          <a:p>
            <a:pPr marL="0" indent="0">
              <a:buNone/>
            </a:pPr>
            <a:r>
              <a:rPr lang="en-US" sz="950" b="1" dirty="0">
                <a:solidFill>
                  <a:srgbClr val="5096CC"/>
                </a:solidFill>
                <a:latin typeface="Calibri" pitchFamily="34" charset="0"/>
                <a:ea typeface="Calibri" pitchFamily="34" charset="-122"/>
                <a:cs typeface="Calibri" pitchFamily="34" charset="-120"/>
              </a:rPr>
              <a:t>Yabes</a:t>
            </a:r>
            <a:endParaRPr lang="en-US" sz="950" dirty="0"/>
          </a:p>
        </p:txBody>
      </p:sp>
      <p:sp>
        <p:nvSpPr>
          <p:cNvPr id="26" name="Text 22"/>
          <p:cNvSpPr/>
          <p:nvPr/>
        </p:nvSpPr>
        <p:spPr>
          <a:xfrm>
            <a:off x="5193792" y="6199632"/>
            <a:ext cx="1938528" cy="347472"/>
          </a:xfrm>
          <a:prstGeom prst="rect">
            <a:avLst/>
          </a:prstGeom>
          <a:noFill/>
          <a:ln/>
        </p:spPr>
        <p:txBody>
          <a:bodyPr wrap="square" lIns="0" tIns="0" rIns="0" bIns="0" rtlCol="0" anchor="ctr"/>
          <a:lstStyle/>
          <a:p>
            <a:pPr marL="0" indent="0">
              <a:buNone/>
            </a:pPr>
            <a:r>
              <a:rPr lang="en-US" sz="850" dirty="0">
                <a:solidFill>
                  <a:srgbClr val="D0DAE4"/>
                </a:solidFill>
                <a:latin typeface="Calibri" pitchFamily="34" charset="0"/>
                <a:ea typeface="Calibri" pitchFamily="34" charset="-122"/>
                <a:cs typeface="Calibri" pitchFamily="34" charset="-120"/>
              </a:rPr>
              <a:t>The interconnect layer is where the alpha hides. Lead the silicon photonics round before the market catches up.</a:t>
            </a:r>
            <a:endParaRPr lang="en-US" sz="850" dirty="0"/>
          </a:p>
        </p:txBody>
      </p:sp>
      <p:sp>
        <p:nvSpPr>
          <p:cNvPr id="27" name="Shape 23"/>
          <p:cNvSpPr/>
          <p:nvPr/>
        </p:nvSpPr>
        <p:spPr>
          <a:xfrm>
            <a:off x="7342632" y="5943600"/>
            <a:ext cx="2148840" cy="685800"/>
          </a:xfrm>
          <a:prstGeom prst="rect">
            <a:avLst/>
          </a:prstGeom>
          <a:solidFill>
            <a:srgbClr val="0F1E30"/>
          </a:solidFill>
          <a:ln w="12700">
            <a:solidFill>
              <a:srgbClr val="1F7A5C"/>
            </a:solidFill>
            <a:prstDash val="solid"/>
          </a:ln>
        </p:spPr>
        <p:txBody>
          <a:bodyPr/>
          <a:lstStyle/>
          <a:p>
            <a:endParaRPr lang="en-US"/>
          </a:p>
        </p:txBody>
      </p:sp>
      <p:sp>
        <p:nvSpPr>
          <p:cNvPr id="28" name="Text 24"/>
          <p:cNvSpPr/>
          <p:nvPr/>
        </p:nvSpPr>
        <p:spPr>
          <a:xfrm>
            <a:off x="7452360" y="5998464"/>
            <a:ext cx="1938528" cy="201168"/>
          </a:xfrm>
          <a:prstGeom prst="rect">
            <a:avLst/>
          </a:prstGeom>
          <a:noFill/>
          <a:ln/>
        </p:spPr>
        <p:txBody>
          <a:bodyPr wrap="square" lIns="0" tIns="0" rIns="0" bIns="0" rtlCol="0" anchor="ctr"/>
          <a:lstStyle/>
          <a:p>
            <a:pPr marL="0" indent="0">
              <a:buNone/>
            </a:pPr>
            <a:r>
              <a:rPr lang="en-US" sz="950" b="1" dirty="0">
                <a:solidFill>
                  <a:srgbClr val="1F7A5C"/>
                </a:solidFill>
                <a:latin typeface="Calibri" pitchFamily="34" charset="0"/>
                <a:ea typeface="Calibri" pitchFamily="34" charset="-122"/>
                <a:cs typeface="Calibri" pitchFamily="34" charset="-120"/>
              </a:rPr>
              <a:t>Blessing</a:t>
            </a:r>
            <a:endParaRPr lang="en-US" sz="950" dirty="0"/>
          </a:p>
        </p:txBody>
      </p:sp>
      <p:sp>
        <p:nvSpPr>
          <p:cNvPr id="29" name="Text 25"/>
          <p:cNvSpPr/>
          <p:nvPr/>
        </p:nvSpPr>
        <p:spPr>
          <a:xfrm>
            <a:off x="7452360" y="6199632"/>
            <a:ext cx="1938528" cy="347472"/>
          </a:xfrm>
          <a:prstGeom prst="rect">
            <a:avLst/>
          </a:prstGeom>
          <a:noFill/>
          <a:ln/>
        </p:spPr>
        <p:txBody>
          <a:bodyPr wrap="square" lIns="0" tIns="0" rIns="0" bIns="0" rtlCol="0" anchor="ctr"/>
          <a:lstStyle/>
          <a:p>
            <a:pPr marL="0" indent="0">
              <a:buNone/>
            </a:pPr>
            <a:r>
              <a:rPr lang="en-US" sz="850" dirty="0">
                <a:solidFill>
                  <a:srgbClr val="D0DAE4"/>
                </a:solidFill>
                <a:latin typeface="Calibri" pitchFamily="34" charset="0"/>
                <a:ea typeface="Calibri" pitchFamily="34" charset="-122"/>
                <a:cs typeface="Calibri" pitchFamily="34" charset="-120"/>
              </a:rPr>
              <a:t>Copper is over. The $3.25B Celestial AI exit proved the thesis. The next one is being built right now.</a:t>
            </a:r>
            <a:endParaRPr lang="en-US" sz="850" dirty="0"/>
          </a:p>
        </p:txBody>
      </p:sp>
      <p:sp>
        <p:nvSpPr>
          <p:cNvPr id="30" name="Shape 26"/>
          <p:cNvSpPr/>
          <p:nvPr/>
        </p:nvSpPr>
        <p:spPr>
          <a:xfrm>
            <a:off x="9601200" y="5943600"/>
            <a:ext cx="2148840" cy="685800"/>
          </a:xfrm>
          <a:prstGeom prst="rect">
            <a:avLst/>
          </a:prstGeom>
          <a:solidFill>
            <a:srgbClr val="0F1E30"/>
          </a:solidFill>
          <a:ln w="12700">
            <a:solidFill>
              <a:srgbClr val="C8922A"/>
            </a:solidFill>
            <a:prstDash val="solid"/>
          </a:ln>
        </p:spPr>
        <p:txBody>
          <a:bodyPr/>
          <a:lstStyle/>
          <a:p>
            <a:endParaRPr lang="en-US"/>
          </a:p>
        </p:txBody>
      </p:sp>
      <p:sp>
        <p:nvSpPr>
          <p:cNvPr id="31" name="Text 27"/>
          <p:cNvSpPr/>
          <p:nvPr/>
        </p:nvSpPr>
        <p:spPr>
          <a:xfrm>
            <a:off x="9710928" y="5998464"/>
            <a:ext cx="1938528" cy="201168"/>
          </a:xfrm>
          <a:prstGeom prst="rect">
            <a:avLst/>
          </a:prstGeom>
          <a:noFill/>
          <a:ln/>
        </p:spPr>
        <p:txBody>
          <a:bodyPr wrap="square" lIns="0" tIns="0" rIns="0" bIns="0" rtlCol="0" anchor="ctr"/>
          <a:lstStyle/>
          <a:p>
            <a:pPr marL="0" indent="0">
              <a:buNone/>
            </a:pPr>
            <a:r>
              <a:rPr lang="en-US" sz="950" b="1" dirty="0">
                <a:solidFill>
                  <a:srgbClr val="C8922A"/>
                </a:solidFill>
                <a:latin typeface="Calibri" pitchFamily="34" charset="0"/>
                <a:ea typeface="Calibri" pitchFamily="34" charset="-122"/>
                <a:cs typeface="Calibri" pitchFamily="34" charset="-120"/>
              </a:rPr>
              <a:t>Ireen</a:t>
            </a:r>
            <a:endParaRPr lang="en-US" sz="950" dirty="0"/>
          </a:p>
        </p:txBody>
      </p:sp>
      <p:sp>
        <p:nvSpPr>
          <p:cNvPr id="32" name="Text 28"/>
          <p:cNvSpPr/>
          <p:nvPr/>
        </p:nvSpPr>
        <p:spPr>
          <a:xfrm>
            <a:off x="9710928" y="6199632"/>
            <a:ext cx="1938528" cy="347472"/>
          </a:xfrm>
          <a:prstGeom prst="rect">
            <a:avLst/>
          </a:prstGeom>
          <a:noFill/>
          <a:ln/>
        </p:spPr>
        <p:txBody>
          <a:bodyPr wrap="square" lIns="0" tIns="0" rIns="0" bIns="0" rtlCol="0" anchor="ctr"/>
          <a:lstStyle/>
          <a:p>
            <a:pPr marL="0" indent="0">
              <a:buNone/>
            </a:pPr>
            <a:r>
              <a:rPr lang="en-US" sz="850" dirty="0">
                <a:solidFill>
                  <a:srgbClr val="D0DAE4"/>
                </a:solidFill>
                <a:latin typeface="Calibri" pitchFamily="34" charset="0"/>
                <a:ea typeface="Calibri" pitchFamily="34" charset="-122"/>
                <a:cs typeface="Calibri" pitchFamily="34" charset="-120"/>
              </a:rPr>
              <a:t>Thermal is not a cost center, it is a value creator. Waste heat recovery pays back in 12 to 18 months.</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347472" cy="6858000"/>
          </a:xfrm>
          <a:prstGeom prst="rect">
            <a:avLst/>
          </a:prstGeom>
          <a:solidFill>
            <a:srgbClr val="2E6DA4"/>
          </a:solidFill>
          <a:ln w="12700">
            <a:solidFill>
              <a:srgbClr val="2E6DA4"/>
            </a:solidFill>
            <a:prstDash val="solid"/>
          </a:ln>
        </p:spPr>
        <p:txBody>
          <a:bodyPr/>
          <a:lstStyle/>
          <a:p>
            <a:endParaRPr lang="en-US"/>
          </a:p>
        </p:txBody>
      </p:sp>
      <p:sp>
        <p:nvSpPr>
          <p:cNvPr id="3" name="Shape 1"/>
          <p:cNvSpPr/>
          <p:nvPr/>
        </p:nvSpPr>
        <p:spPr>
          <a:xfrm>
            <a:off x="0" y="4846320"/>
            <a:ext cx="12188952" cy="2011680"/>
          </a:xfrm>
          <a:prstGeom prst="rect">
            <a:avLst/>
          </a:prstGeom>
          <a:solidFill>
            <a:srgbClr val="0F1E30"/>
          </a:solidFill>
          <a:ln w="12700">
            <a:solidFill>
              <a:srgbClr val="0F1E30"/>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4114800" y="457200"/>
            <a:ext cx="3931920" cy="932688"/>
          </a:xfrm>
          <a:prstGeom prst="rect">
            <a:avLst/>
          </a:prstGeom>
        </p:spPr>
      </p:pic>
      <p:sp>
        <p:nvSpPr>
          <p:cNvPr id="5" name="Shape 2"/>
          <p:cNvSpPr/>
          <p:nvPr/>
        </p:nvSpPr>
        <p:spPr>
          <a:xfrm>
            <a:off x="1371600" y="1572768"/>
            <a:ext cx="9445752" cy="36576"/>
          </a:xfrm>
          <a:prstGeom prst="rect">
            <a:avLst/>
          </a:prstGeom>
          <a:solidFill>
            <a:srgbClr val="2E6DA4"/>
          </a:solidFill>
          <a:ln w="12700">
            <a:solidFill>
              <a:srgbClr val="2E6DA4"/>
            </a:solidFill>
            <a:prstDash val="solid"/>
          </a:ln>
        </p:spPr>
        <p:txBody>
          <a:bodyPr/>
          <a:lstStyle/>
          <a:p>
            <a:endParaRPr lang="en-US"/>
          </a:p>
        </p:txBody>
      </p:sp>
      <p:sp>
        <p:nvSpPr>
          <p:cNvPr id="6" name="Text 3"/>
          <p:cNvSpPr/>
          <p:nvPr/>
        </p:nvSpPr>
        <p:spPr>
          <a:xfrm>
            <a:off x="1371600" y="1737360"/>
            <a:ext cx="9445752" cy="896112"/>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7" name="Text 4"/>
          <p:cNvSpPr/>
          <p:nvPr/>
        </p:nvSpPr>
        <p:spPr>
          <a:xfrm>
            <a:off x="1371600" y="2633472"/>
            <a:ext cx="9445752" cy="384048"/>
          </a:xfrm>
          <a:prstGeom prst="rect">
            <a:avLst/>
          </a:prstGeom>
          <a:noFill/>
          <a:ln/>
        </p:spPr>
        <p:txBody>
          <a:bodyPr wrap="square" rtlCol="0" anchor="ctr"/>
          <a:lstStyle/>
          <a:p>
            <a:pPr marL="0" indent="0" algn="ctr">
              <a:buNone/>
            </a:pPr>
            <a:r>
              <a:rPr lang="en-US" sz="1300" dirty="0">
                <a:solidFill>
                  <a:srgbClr val="7B90A6"/>
                </a:solidFill>
                <a:latin typeface="Calibri" pitchFamily="34" charset="0"/>
                <a:ea typeface="Calibri" pitchFamily="34" charset="-122"/>
                <a:cs typeface="Calibri" pitchFamily="34" charset="-120"/>
              </a:rPr>
              <a:t>ClearVision Ventures  ·  Infrastructure Research Series  ·  April 2026</a:t>
            </a:r>
            <a:endParaRPr lang="en-US" sz="1300" dirty="0"/>
          </a:p>
        </p:txBody>
      </p:sp>
      <p:sp>
        <p:nvSpPr>
          <p:cNvPr id="8" name="Shape 5"/>
          <p:cNvSpPr/>
          <p:nvPr/>
        </p:nvSpPr>
        <p:spPr>
          <a:xfrm>
            <a:off x="1371600" y="3127248"/>
            <a:ext cx="9445752" cy="36576"/>
          </a:xfrm>
          <a:prstGeom prst="rect">
            <a:avLst/>
          </a:prstGeom>
          <a:solidFill>
            <a:srgbClr val="2E6DA4"/>
          </a:solidFill>
          <a:ln w="12700">
            <a:solidFill>
              <a:srgbClr val="2E6DA4"/>
            </a:solidFill>
            <a:prstDash val="solid"/>
          </a:ln>
        </p:spPr>
        <p:txBody>
          <a:bodyPr/>
          <a:lstStyle/>
          <a:p>
            <a:endParaRPr lang="en-US"/>
          </a:p>
        </p:txBody>
      </p:sp>
      <p:sp>
        <p:nvSpPr>
          <p:cNvPr id="9" name="Text 6"/>
          <p:cNvSpPr/>
          <p:nvPr/>
        </p:nvSpPr>
        <p:spPr>
          <a:xfrm>
            <a:off x="1371600" y="3310128"/>
            <a:ext cx="9445752" cy="411480"/>
          </a:xfrm>
          <a:prstGeom prst="rect">
            <a:avLst/>
          </a:prstGeom>
          <a:noFill/>
          <a:ln/>
        </p:spPr>
        <p:txBody>
          <a:bodyPr wrap="square" rtlCol="0" anchor="ctr"/>
          <a:lstStyle/>
          <a:p>
            <a:pPr marL="0" indent="0" algn="ctr">
              <a:buNone/>
            </a:pPr>
            <a:r>
              <a:rPr lang="en-US" sz="1500" kern="0" spc="100" dirty="0">
                <a:solidFill>
                  <a:srgbClr val="D0DAE4"/>
                </a:solidFill>
                <a:latin typeface="Calibri" pitchFamily="34" charset="0"/>
                <a:ea typeface="Calibri" pitchFamily="34" charset="-122"/>
                <a:cs typeface="Calibri" pitchFamily="34" charset="-120"/>
              </a:rPr>
              <a:t>Vince  ·  Johanes  ·  Yabes  ·  Ireen  ·  Blessing</a:t>
            </a:r>
            <a:endParaRPr lang="en-US" sz="1500" dirty="0"/>
          </a:p>
        </p:txBody>
      </p:sp>
      <p:sp>
        <p:nvSpPr>
          <p:cNvPr id="10" name="Text 7"/>
          <p:cNvSpPr/>
          <p:nvPr/>
        </p:nvSpPr>
        <p:spPr>
          <a:xfrm>
            <a:off x="1371600" y="3886200"/>
            <a:ext cx="9445752" cy="777240"/>
          </a:xfrm>
          <a:prstGeom prst="rect">
            <a:avLst/>
          </a:prstGeom>
          <a:noFill/>
          <a:ln/>
        </p:spPr>
        <p:txBody>
          <a:bodyPr wrap="square" rtlCol="0" anchor="ctr"/>
          <a:lstStyle/>
          <a:p>
            <a:pPr marL="0" indent="0" algn="ctr">
              <a:buNone/>
            </a:pPr>
            <a:r>
              <a:rPr lang="en-US" sz="1900" i="1" dirty="0">
                <a:solidFill>
                  <a:srgbClr val="C8922A"/>
                </a:solidFill>
                <a:latin typeface="Calibri" pitchFamily="34" charset="0"/>
                <a:ea typeface="Calibri" pitchFamily="34" charset="-122"/>
                <a:cs typeface="Calibri" pitchFamily="34" charset="-120"/>
              </a:rPr>
              <a:t>“The constraint is not capital.</a:t>
            </a:r>
            <a:endParaRPr lang="en-US" sz="1900" dirty="0"/>
          </a:p>
          <a:p>
            <a:pPr marL="0" indent="0" algn="ctr">
              <a:buNone/>
            </a:pPr>
            <a:r>
              <a:rPr lang="en-US" sz="1900" i="1" dirty="0">
                <a:solidFill>
                  <a:srgbClr val="C8922A"/>
                </a:solidFill>
                <a:latin typeface="Calibri" pitchFamily="34" charset="0"/>
                <a:ea typeface="Calibri" pitchFamily="34" charset="-122"/>
                <a:cs typeface="Calibri" pitchFamily="34" charset="-120"/>
              </a:rPr>
              <a:t>It is knowing where to deploy it.”</a:t>
            </a:r>
            <a:endParaRPr lang="en-US" sz="1900" dirty="0"/>
          </a:p>
        </p:txBody>
      </p:sp>
      <p:sp>
        <p:nvSpPr>
          <p:cNvPr id="11" name="Text 8"/>
          <p:cNvSpPr/>
          <p:nvPr/>
        </p:nvSpPr>
        <p:spPr>
          <a:xfrm>
            <a:off x="1097280" y="5230368"/>
            <a:ext cx="1828800" cy="256032"/>
          </a:xfrm>
          <a:prstGeom prst="rect">
            <a:avLst/>
          </a:prstGeom>
          <a:noFill/>
          <a:ln/>
        </p:spPr>
        <p:txBody>
          <a:bodyPr wrap="square" lIns="0" tIns="0" rIns="0" bIns="0" rtlCol="0" anchor="ctr"/>
          <a:lstStyle/>
          <a:p>
            <a:pPr marL="0" indent="0" algn="ctr">
              <a:buNone/>
            </a:pPr>
            <a:r>
              <a:rPr lang="en-US" sz="1200" b="1" dirty="0">
                <a:solidFill>
                  <a:srgbClr val="1B3A5C"/>
                </a:solidFill>
                <a:latin typeface="Calibri" pitchFamily="34" charset="0"/>
                <a:ea typeface="Calibri" pitchFamily="34" charset="-122"/>
                <a:cs typeface="Calibri" pitchFamily="34" charset="-120"/>
              </a:rPr>
              <a:t>Vince</a:t>
            </a:r>
            <a:endParaRPr lang="en-US" sz="1200" dirty="0"/>
          </a:p>
        </p:txBody>
      </p:sp>
      <p:sp>
        <p:nvSpPr>
          <p:cNvPr id="12" name="Text 9"/>
          <p:cNvSpPr/>
          <p:nvPr/>
        </p:nvSpPr>
        <p:spPr>
          <a:xfrm>
            <a:off x="1097280" y="5468112"/>
            <a:ext cx="1828800" cy="219456"/>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Power and Infrastructure</a:t>
            </a:r>
            <a:endParaRPr lang="en-US" sz="900" dirty="0"/>
          </a:p>
        </p:txBody>
      </p:sp>
      <p:sp>
        <p:nvSpPr>
          <p:cNvPr id="13" name="Text 10"/>
          <p:cNvSpPr/>
          <p:nvPr/>
        </p:nvSpPr>
        <p:spPr>
          <a:xfrm>
            <a:off x="3108960" y="5230368"/>
            <a:ext cx="1828800" cy="256032"/>
          </a:xfrm>
          <a:prstGeom prst="rect">
            <a:avLst/>
          </a:prstGeom>
          <a:noFill/>
          <a:ln/>
        </p:spPr>
        <p:txBody>
          <a:bodyPr wrap="square" lIns="0" tIns="0" rIns="0" bIns="0" rtlCol="0" anchor="ctr"/>
          <a:lstStyle/>
          <a:p>
            <a:pPr marL="0" indent="0" algn="ctr">
              <a:buNone/>
            </a:pPr>
            <a:r>
              <a:rPr lang="en-US" sz="1200" b="1" dirty="0">
                <a:solidFill>
                  <a:srgbClr val="2E6DA4"/>
                </a:solidFill>
                <a:latin typeface="Calibri" pitchFamily="34" charset="0"/>
                <a:ea typeface="Calibri" pitchFamily="34" charset="-122"/>
                <a:cs typeface="Calibri" pitchFamily="34" charset="-120"/>
              </a:rPr>
              <a:t>Johanes</a:t>
            </a:r>
            <a:endParaRPr lang="en-US" sz="1200" dirty="0"/>
          </a:p>
        </p:txBody>
      </p:sp>
      <p:sp>
        <p:nvSpPr>
          <p:cNvPr id="14" name="Text 11"/>
          <p:cNvSpPr/>
          <p:nvPr/>
        </p:nvSpPr>
        <p:spPr>
          <a:xfrm>
            <a:off x="3108960" y="5468112"/>
            <a:ext cx="1828800" cy="219456"/>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Software and Orchestration</a:t>
            </a:r>
            <a:endParaRPr lang="en-US" sz="900" dirty="0"/>
          </a:p>
        </p:txBody>
      </p:sp>
      <p:sp>
        <p:nvSpPr>
          <p:cNvPr id="15" name="Text 12"/>
          <p:cNvSpPr/>
          <p:nvPr/>
        </p:nvSpPr>
        <p:spPr>
          <a:xfrm>
            <a:off x="5120640" y="5230368"/>
            <a:ext cx="1828800" cy="256032"/>
          </a:xfrm>
          <a:prstGeom prst="rect">
            <a:avLst/>
          </a:prstGeom>
          <a:noFill/>
          <a:ln/>
        </p:spPr>
        <p:txBody>
          <a:bodyPr wrap="square" lIns="0" tIns="0" rIns="0" bIns="0" rtlCol="0" anchor="ctr"/>
          <a:lstStyle/>
          <a:p>
            <a:pPr marL="0" indent="0" algn="ctr">
              <a:buNone/>
            </a:pPr>
            <a:r>
              <a:rPr lang="en-US" sz="1200" b="1" dirty="0">
                <a:solidFill>
                  <a:srgbClr val="5096CC"/>
                </a:solidFill>
                <a:latin typeface="Calibri" pitchFamily="34" charset="0"/>
                <a:ea typeface="Calibri" pitchFamily="34" charset="-122"/>
                <a:cs typeface="Calibri" pitchFamily="34" charset="-120"/>
              </a:rPr>
              <a:t>Yabes</a:t>
            </a:r>
            <a:endParaRPr lang="en-US" sz="1200" dirty="0"/>
          </a:p>
        </p:txBody>
      </p:sp>
      <p:sp>
        <p:nvSpPr>
          <p:cNvPr id="16" name="Text 13"/>
          <p:cNvSpPr/>
          <p:nvPr/>
        </p:nvSpPr>
        <p:spPr>
          <a:xfrm>
            <a:off x="5120640" y="5468112"/>
            <a:ext cx="1828800" cy="219456"/>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Silicon and Accelerators</a:t>
            </a:r>
            <a:endParaRPr lang="en-US" sz="900" dirty="0"/>
          </a:p>
        </p:txBody>
      </p:sp>
      <p:sp>
        <p:nvSpPr>
          <p:cNvPr id="17" name="Text 14"/>
          <p:cNvSpPr/>
          <p:nvPr/>
        </p:nvSpPr>
        <p:spPr>
          <a:xfrm>
            <a:off x="7132320" y="5230368"/>
            <a:ext cx="1828800" cy="256032"/>
          </a:xfrm>
          <a:prstGeom prst="rect">
            <a:avLst/>
          </a:prstGeom>
          <a:noFill/>
          <a:ln/>
        </p:spPr>
        <p:txBody>
          <a:bodyPr wrap="square" lIns="0" tIns="0" rIns="0" bIns="0" rtlCol="0" anchor="ctr"/>
          <a:lstStyle/>
          <a:p>
            <a:pPr marL="0" indent="0" algn="ctr">
              <a:buNone/>
            </a:pPr>
            <a:r>
              <a:rPr lang="en-US" sz="1200" b="1" dirty="0">
                <a:solidFill>
                  <a:srgbClr val="C8922A"/>
                </a:solidFill>
                <a:latin typeface="Calibri" pitchFamily="34" charset="0"/>
                <a:ea typeface="Calibri" pitchFamily="34" charset="-122"/>
                <a:cs typeface="Calibri" pitchFamily="34" charset="-120"/>
              </a:rPr>
              <a:t>Ireen</a:t>
            </a:r>
            <a:endParaRPr lang="en-US" sz="1200" dirty="0"/>
          </a:p>
        </p:txBody>
      </p:sp>
      <p:sp>
        <p:nvSpPr>
          <p:cNvPr id="18" name="Text 15"/>
          <p:cNvSpPr/>
          <p:nvPr/>
        </p:nvSpPr>
        <p:spPr>
          <a:xfrm>
            <a:off x="7132320" y="5468112"/>
            <a:ext cx="1828800" cy="219456"/>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Cooling and Thermal</a:t>
            </a:r>
            <a:endParaRPr lang="en-US" sz="900" dirty="0"/>
          </a:p>
        </p:txBody>
      </p:sp>
      <p:sp>
        <p:nvSpPr>
          <p:cNvPr id="19" name="Text 16"/>
          <p:cNvSpPr/>
          <p:nvPr/>
        </p:nvSpPr>
        <p:spPr>
          <a:xfrm>
            <a:off x="9144000" y="5230368"/>
            <a:ext cx="1828800" cy="256032"/>
          </a:xfrm>
          <a:prstGeom prst="rect">
            <a:avLst/>
          </a:prstGeom>
          <a:noFill/>
          <a:ln/>
        </p:spPr>
        <p:txBody>
          <a:bodyPr wrap="square" lIns="0" tIns="0" rIns="0" bIns="0" rtlCol="0" anchor="ctr"/>
          <a:lstStyle/>
          <a:p>
            <a:pPr marL="0" indent="0" algn="ctr">
              <a:buNone/>
            </a:pPr>
            <a:r>
              <a:rPr lang="en-US" sz="1200" b="1" dirty="0">
                <a:solidFill>
                  <a:srgbClr val="1F7A5C"/>
                </a:solidFill>
                <a:latin typeface="Calibri" pitchFamily="34" charset="0"/>
                <a:ea typeface="Calibri" pitchFamily="34" charset="-122"/>
                <a:cs typeface="Calibri" pitchFamily="34" charset="-120"/>
              </a:rPr>
              <a:t>Blessing</a:t>
            </a:r>
            <a:endParaRPr lang="en-US" sz="1200" dirty="0"/>
          </a:p>
        </p:txBody>
      </p:sp>
      <p:sp>
        <p:nvSpPr>
          <p:cNvPr id="20" name="Text 17"/>
          <p:cNvSpPr/>
          <p:nvPr/>
        </p:nvSpPr>
        <p:spPr>
          <a:xfrm>
            <a:off x="9144000" y="5468112"/>
            <a:ext cx="1828800" cy="219456"/>
          </a:xfrm>
          <a:prstGeom prst="rect">
            <a:avLst/>
          </a:prstGeom>
          <a:noFill/>
          <a:ln/>
        </p:spPr>
        <p:txBody>
          <a:bodyPr wrap="square" lIns="0" tIns="0" rIns="0" bIns="0" rtlCol="0" anchor="ctr"/>
          <a:lstStyle/>
          <a:p>
            <a:pPr marL="0" indent="0" algn="ctr">
              <a:buNone/>
            </a:pPr>
            <a:r>
              <a:rPr lang="en-US" sz="900" dirty="0">
                <a:solidFill>
                  <a:srgbClr val="7B90A6"/>
                </a:solidFill>
                <a:latin typeface="Calibri" pitchFamily="34" charset="0"/>
                <a:ea typeface="Calibri" pitchFamily="34" charset="-122"/>
                <a:cs typeface="Calibri" pitchFamily="34" charset="-120"/>
              </a:rPr>
              <a:t>Photonic Interconnects</a:t>
            </a:r>
            <a:endParaRPr lang="en-US" sz="900" dirty="0"/>
          </a:p>
        </p:txBody>
      </p:sp>
      <p:sp>
        <p:nvSpPr>
          <p:cNvPr id="21" name="Text 18"/>
          <p:cNvSpPr/>
          <p:nvPr/>
        </p:nvSpPr>
        <p:spPr>
          <a:xfrm>
            <a:off x="10972800" y="6446520"/>
            <a:ext cx="1005840" cy="274320"/>
          </a:xfrm>
          <a:prstGeom prst="rect">
            <a:avLst/>
          </a:prstGeom>
          <a:noFill/>
          <a:ln/>
        </p:spPr>
        <p:txBody>
          <a:bodyPr wrap="square" lIns="0" tIns="0" rIns="0" bIns="0" rtlCol="0" anchor="ctr"/>
          <a:lstStyle/>
          <a:p>
            <a:pPr marL="0" indent="0" algn="r">
              <a:buNone/>
            </a:pPr>
            <a:r>
              <a:rPr lang="en-US" sz="850" dirty="0">
                <a:solidFill>
                  <a:srgbClr val="7B90A6"/>
                </a:solidFill>
                <a:latin typeface="Calibri" pitchFamily="34" charset="0"/>
                <a:ea typeface="Calibri" pitchFamily="34" charset="-122"/>
                <a:cs typeface="Calibri" pitchFamily="34" charset="-120"/>
              </a:rPr>
              <a:t>17 / 17</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5021</Words>
  <Application>Microsoft Macintosh PowerPoint</Application>
  <PresentationFormat>Widescreen</PresentationFormat>
  <Paragraphs>560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Vivi Yonesu</cp:lastModifiedBy>
  <cp:revision>2</cp:revision>
  <dcterms:created xsi:type="dcterms:W3CDTF">2026-04-22T04:22:40Z</dcterms:created>
  <dcterms:modified xsi:type="dcterms:W3CDTF">2026-04-22T05:25:21Z</dcterms:modified>
</cp:coreProperties>
</file>